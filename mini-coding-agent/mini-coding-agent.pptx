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57" r:id="rId4"/>
    <p:sldId id="259" r:id="rId5"/>
    <p:sldId id="269" r:id="rId6"/>
    <p:sldId id="256" r:id="rId7"/>
    <p:sldId id="270" r:id="rId8"/>
    <p:sldId id="271" r:id="rId9"/>
    <p:sldId id="272" r:id="rId10"/>
    <p:sldId id="273" r:id="rId11"/>
    <p:sldId id="274" r:id="rId12"/>
    <p:sldId id="258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E3880-9BF7-4DCB-8783-7745FBE16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D7BB19-DA85-4CB4-BFFE-F9B4F740C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FE00F4-836B-4E3E-8A8A-B5D6291B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5278AC-FCEE-4875-A0F3-2F4DDE3F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2FBEB9-5767-4CEF-BE41-303CD5EA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98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EFBD5-6021-465E-A0C1-D8C4B2F4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848A2-A028-4DC6-BF4F-51D59ED3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D9438F-E233-403F-B841-E6E8B1DB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C0949D-AFE3-454E-B7B1-59F67F7C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3DE79-5245-40F6-A8E9-97793AD2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31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B10A5-AB5A-42D3-BDE5-CBBBC8D3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210-F71C-4AFC-8F95-A4176BAD5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578B8-B3F2-4BCB-B39D-7049D5C2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3D53EE-55A6-4383-9AAB-B895D907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6C54A1-BBC4-49DA-A559-307B94E6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95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035F0-56BE-4B30-BE6B-C3BE16A2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F2E39-47F7-424A-BEC2-BDB3CACC6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9986B2-B57F-4490-A3AC-DCD6216C1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7CC8A8-FA81-429F-A6E6-7437B9A5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758A1F-C8F0-4795-B818-78950874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F2D7C2-DFCE-4847-B2D4-1251E415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93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730869-1219-4B64-85ED-1FF7042A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7F8DED-F57A-4E8B-B329-9D13A3A8C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92F16A-8A95-4ABB-B6E1-BC9550264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FCAF0E-741D-45DD-8C36-75D3B4BA4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7F2336-E9D3-4014-AD86-19AFE05A26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0A0490-AECF-4DB9-B854-E2095992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E12F76-A76A-428F-A2E8-0976C8A0F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B82912-B2CD-44E8-AC85-670FAADA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06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507A-16DD-428B-A7C7-A2D5BE60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DE89FD-6478-4DCF-9335-94EA2DE3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E066F9-F80B-451C-858A-AA9692C8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8BA3C3-EF95-4592-8F3B-F0E333A7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1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DE7EB9-2D22-46FE-9CE8-72C37725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30D9B4-C18B-4C41-A0EC-B69D4BE71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A8F2C-611E-407E-B1FA-7768E643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3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E3831-7793-4022-895A-0D24FABD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B8EAB-EEC9-4D07-B990-8D5E30092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9B1D1D-315B-4A79-B82C-E7AA5158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C93463-6462-4D1C-B1F1-DEED35238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C1FC05-BAA1-4FEC-8783-8308E771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17F65E-126F-4428-9C6C-A12B2928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091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54554-460F-4D6C-97FD-70E1F57B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019A37-FECE-4993-931B-B96D4DBB0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2C6ACB-3A6A-4C3D-98C9-4229BF856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4F7BDB-5ADC-492F-A83D-53BD817D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27AC2E-4486-4A73-AFE8-AFEE6C5A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13CB21-9BBA-4357-B1AF-A27195CA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9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5C621-66CA-4E99-9C03-09C19B88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05DB6E-05B9-4675-A1F2-F640C4583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CB853-A1DC-48BF-8B47-FF386C9B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0310EF-45D0-4858-A795-B047EFB1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35D01-CC0A-41A7-90EB-CD4A43AE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265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D48EEC-FCE2-4B4A-B9FC-0982BE052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1AF041-EAE0-430E-A8E6-1CE5EF73D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36CDA9-CA8E-4C84-B733-02FCF3BA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2D265-00A2-46F5-8E51-1F446930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2E345-7A8C-40C9-A8AA-3893BB25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C6D5EB-75B3-46C9-9CC1-78FFD31E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BE0819-20A0-46A9-BFF5-2F1B665E4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854CD1-8635-460C-B1BA-37FA881A9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635BA-FA9E-421A-AF66-3B54B1D1F2DB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B195BC-2BFF-4747-998F-C9BC8745A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4091C1-3DB5-4F48-A367-7CE14BB31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860ED-E811-4AAE-BABC-15BEF5532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03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96892-031B-478F-990F-0710BE46BA7D}"/>
              </a:ext>
            </a:extLst>
          </p:cNvPr>
          <p:cNvSpPr txBox="1"/>
          <p:nvPr/>
        </p:nvSpPr>
        <p:spPr>
          <a:xfrm>
            <a:off x="436485" y="239697"/>
            <a:ext cx="11319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agent is the model-driven decision-making loop, </a:t>
            </a:r>
          </a:p>
          <a:p>
            <a:r>
              <a:rPr lang="en-US" altLang="ko-KR" dirty="0"/>
              <a:t>while the harness is the surrounding software scaffold that provides context, tools, and execution support.</a:t>
            </a:r>
          </a:p>
          <a:p>
            <a:r>
              <a:rPr lang="en-US" altLang="ko-KR" b="1" i="1" dirty="0"/>
              <a:t>Agent = LLM + Harness (loop + Runtime)+ UI</a:t>
            </a:r>
            <a:endParaRPr lang="ko-KR" altLang="en-US" b="1" i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C22F09B-E63D-47BE-BF51-51225E57C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3987"/>
            <a:ext cx="12192000" cy="543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05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426BBA-1DE5-468A-A5AD-FACFD649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7139"/>
            <a:ext cx="10515600" cy="1432480"/>
          </a:xfrm>
        </p:spPr>
        <p:txBody>
          <a:bodyPr/>
          <a:lstStyle/>
          <a:p>
            <a:r>
              <a:rPr lang="en-US" altLang="ko-KR" b="1" i="1" dirty="0"/>
              <a:t>A mental model of how coding harnesses work</a:t>
            </a:r>
            <a:r>
              <a:rPr lang="en-US" altLang="ko-KR" dirty="0"/>
              <a:t>, and why they can make the LLM more useful compared to simple multi-turn chats.</a:t>
            </a:r>
            <a:endParaRPr lang="ko-KR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7FBC7A6-7A0F-4D4B-8F0B-291222827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4" y="2326705"/>
            <a:ext cx="12192000" cy="348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1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ni-Coding-Agent: AI 코딩 에이전트의 6가지 핵심 구성 요소를 설명하는 최소 구현체 (feat. Sebastian Raschka)">
            <a:extLst>
              <a:ext uri="{FF2B5EF4-FFF2-40B4-BE49-F238E27FC236}">
                <a16:creationId xmlns:a16="http://schemas.microsoft.com/office/drawing/2014/main" id="{4D66DA18-8FAB-48A4-85EA-2A2910C9A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130100"/>
            <a:ext cx="9791700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1AE20-6483-4218-8BA7-9CAA90ACBFB5}"/>
              </a:ext>
            </a:extLst>
          </p:cNvPr>
          <p:cNvSpPr txBox="1"/>
          <p:nvPr/>
        </p:nvSpPr>
        <p:spPr>
          <a:xfrm>
            <a:off x="2574524" y="384375"/>
            <a:ext cx="7519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six main components of coding agents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8775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EE0D7-D55F-4BC0-B646-8D9E041A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03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기본 구성</a:t>
            </a:r>
            <a:r>
              <a:rPr lang="en-US" altLang="ko-KR" dirty="0"/>
              <a:t>/</a:t>
            </a:r>
            <a:r>
              <a:rPr lang="ko-KR" altLang="en-US" dirty="0"/>
              <a:t>기능 </a:t>
            </a:r>
            <a:r>
              <a:rPr lang="en-US" altLang="ko-KR" dirty="0"/>
              <a:t>(Features)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993F2F-C3BE-4B22-8927-BA362507B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8485"/>
            <a:ext cx="10515600" cy="497847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Local LLM – </a:t>
            </a:r>
            <a:r>
              <a:rPr lang="en-US" altLang="ko-KR" dirty="0" err="1"/>
              <a:t>ollama</a:t>
            </a:r>
            <a:r>
              <a:rPr lang="ko-KR" altLang="en-US" dirty="0"/>
              <a:t> </a:t>
            </a:r>
            <a:r>
              <a:rPr lang="en-US" altLang="ko-KR" dirty="0"/>
              <a:t>qwen3.5:4b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ko-KR" altLang="en-US" b="1" dirty="0"/>
              <a:t>라이브 저장소 컨텍스트</a:t>
            </a:r>
            <a:r>
              <a:rPr lang="en-US" altLang="ko-KR" b="1" dirty="0"/>
              <a:t>(Live Repo Context): </a:t>
            </a:r>
            <a:r>
              <a:rPr lang="ko-KR" altLang="en-US" dirty="0"/>
              <a:t>에이전트 시작 시 작업 공간의 전체 레이아웃</a:t>
            </a:r>
            <a:r>
              <a:rPr lang="en-US" altLang="ko-KR" dirty="0"/>
              <a:t>, git </a:t>
            </a:r>
            <a:r>
              <a:rPr lang="ko-KR" altLang="en-US" dirty="0"/>
              <a:t>상태</a:t>
            </a:r>
            <a:r>
              <a:rPr lang="en-US" altLang="ko-KR" dirty="0"/>
              <a:t>, </a:t>
            </a:r>
            <a:r>
              <a:rPr lang="ko-KR" altLang="en-US" dirty="0"/>
              <a:t>설정 파일 등을 미리 수집하여 모델에게 현재 프로젝트의 사실</a:t>
            </a:r>
            <a:r>
              <a:rPr lang="en-US" altLang="ko-KR" dirty="0"/>
              <a:t>(fact)</a:t>
            </a:r>
            <a:r>
              <a:rPr lang="ko-KR" altLang="en-US" dirty="0"/>
              <a:t>을 제공합니다</a:t>
            </a:r>
            <a:r>
              <a:rPr lang="en-US" altLang="ko-KR" dirty="0"/>
              <a:t>. </a:t>
            </a:r>
            <a:r>
              <a:rPr lang="ko-KR" altLang="en-US" dirty="0"/>
              <a:t>사람이 새 프로젝트를 받으면 먼저 폴더 구조를 파악하듯</a:t>
            </a:r>
            <a:r>
              <a:rPr lang="en-US" altLang="ko-KR" dirty="0"/>
              <a:t>, </a:t>
            </a:r>
            <a:r>
              <a:rPr lang="ko-KR" altLang="en-US" dirty="0"/>
              <a:t>에이전트도 작업 전에 환경을 스캔합니다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ko-KR" altLang="en-US" b="1" dirty="0"/>
              <a:t>프롬프트 형태와 캐시 재사용</a:t>
            </a:r>
            <a:r>
              <a:rPr lang="en-US" altLang="ko-KR" b="1" dirty="0"/>
              <a:t>(Prompt Shape and Cache Reuse): </a:t>
            </a:r>
            <a:r>
              <a:rPr lang="ko-KR" altLang="en-US" dirty="0"/>
              <a:t>안정적인 시스템 프롬프트 </a:t>
            </a:r>
            <a:r>
              <a:rPr lang="ko-KR" altLang="en-US" dirty="0" err="1"/>
              <a:t>프리픽스와</a:t>
            </a:r>
            <a:r>
              <a:rPr lang="ko-KR" altLang="en-US" dirty="0"/>
              <a:t> 변화하는 요청</a:t>
            </a:r>
            <a:r>
              <a:rPr lang="en-US" altLang="ko-KR" dirty="0"/>
              <a:t>/</a:t>
            </a:r>
            <a:r>
              <a:rPr lang="ko-KR" altLang="en-US" dirty="0"/>
              <a:t>대화록 부분을 분리합니다</a:t>
            </a:r>
            <a:r>
              <a:rPr lang="en-US" altLang="ko-KR" dirty="0"/>
              <a:t>. </a:t>
            </a:r>
            <a:r>
              <a:rPr lang="ko-KR" altLang="en-US" dirty="0"/>
              <a:t>이를 통해 </a:t>
            </a:r>
            <a:r>
              <a:rPr lang="en-US" altLang="ko-KR" dirty="0"/>
              <a:t>LLM</a:t>
            </a:r>
            <a:r>
              <a:rPr lang="ko-KR" altLang="en-US" dirty="0"/>
              <a:t>의 </a:t>
            </a:r>
            <a:r>
              <a:rPr lang="en-US" altLang="ko-KR" dirty="0"/>
              <a:t>KV </a:t>
            </a:r>
            <a:r>
              <a:rPr lang="ko-KR" altLang="en-US" dirty="0"/>
              <a:t>캐시를 효율적으로 재사용하여 추론 비용과 시간을 절감할 수 있습니다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ko-KR" altLang="en-US" b="1" dirty="0"/>
              <a:t>입력 검증이 있는 구조화된 도구</a:t>
            </a:r>
            <a:r>
              <a:rPr lang="en-US" altLang="ko-KR" b="1" dirty="0"/>
              <a:t>(Structured Tools with Validation): </a:t>
            </a:r>
            <a:r>
              <a:rPr lang="ko-KR" altLang="en-US" dirty="0"/>
              <a:t>자유 형식의 액션 대신</a:t>
            </a:r>
            <a:r>
              <a:rPr lang="en-US" altLang="ko-KR" dirty="0"/>
              <a:t>, </a:t>
            </a:r>
            <a:r>
              <a:rPr lang="ko-KR" altLang="en-US" dirty="0"/>
              <a:t>이름이 지정된 도구</a:t>
            </a:r>
            <a:r>
              <a:rPr lang="en-US" altLang="ko-KR" dirty="0"/>
              <a:t>(named tool)</a:t>
            </a:r>
            <a:r>
              <a:rPr lang="ko-KR" altLang="en-US" dirty="0"/>
              <a:t>에 대한 스키마 검증과 권한 게이트</a:t>
            </a:r>
            <a:r>
              <a:rPr lang="en-US" altLang="ko-KR" dirty="0"/>
              <a:t>(approval gate)</a:t>
            </a:r>
            <a:r>
              <a:rPr lang="ko-KR" altLang="en-US" dirty="0"/>
              <a:t>를 구현합니다</a:t>
            </a:r>
            <a:r>
              <a:rPr lang="en-US" altLang="ko-KR" dirty="0"/>
              <a:t>. </a:t>
            </a:r>
            <a:r>
              <a:rPr lang="ko-KR" altLang="en-US" dirty="0"/>
              <a:t>모델은 </a:t>
            </a:r>
            <a:r>
              <a:rPr lang="en-US" altLang="ko-KR" dirty="0"/>
              <a:t>&lt;tool&gt;</a:t>
            </a:r>
            <a:r>
              <a:rPr lang="ko-KR" altLang="en-US" dirty="0"/>
              <a:t>읽기</a:t>
            </a:r>
            <a:r>
              <a:rPr lang="en-US" altLang="ko-KR" dirty="0"/>
              <a:t>_</a:t>
            </a:r>
            <a:r>
              <a:rPr lang="ko-KR" altLang="en-US" dirty="0"/>
              <a:t>파일</a:t>
            </a:r>
            <a:r>
              <a:rPr lang="en-US" altLang="ko-KR" dirty="0"/>
              <a:t>(</a:t>
            </a:r>
            <a:r>
              <a:rPr lang="ko-KR" altLang="en-US" dirty="0"/>
              <a:t>경로</a:t>
            </a:r>
            <a:r>
              <a:rPr lang="en-US" altLang="ko-KR" dirty="0"/>
              <a:t>)&lt;/tool&gt; </a:t>
            </a:r>
            <a:r>
              <a:rPr lang="ko-KR" altLang="en-US" dirty="0"/>
              <a:t>형식으로 도구를 호출하고</a:t>
            </a:r>
            <a:r>
              <a:rPr lang="en-US" altLang="ko-KR" dirty="0"/>
              <a:t>, </a:t>
            </a:r>
            <a:r>
              <a:rPr lang="ko-KR" altLang="en-US" dirty="0"/>
              <a:t>에이전트는 이를 </a:t>
            </a:r>
            <a:r>
              <a:rPr lang="ko-KR" altLang="en-US" dirty="0" err="1"/>
              <a:t>파싱하여</a:t>
            </a:r>
            <a:r>
              <a:rPr lang="ko-KR" altLang="en-US" dirty="0"/>
              <a:t> 실행합니다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ko-KR" altLang="en-US" b="1" dirty="0"/>
              <a:t>컨텍스트 축소</a:t>
            </a:r>
            <a:r>
              <a:rPr lang="en-US" altLang="ko-KR" b="1" dirty="0"/>
              <a:t>(Context Reduction): </a:t>
            </a:r>
            <a:r>
              <a:rPr lang="ko-KR" altLang="en-US" dirty="0"/>
              <a:t>긴 도구 출력을 잘라내고</a:t>
            </a:r>
            <a:r>
              <a:rPr lang="en-US" altLang="ko-KR" dirty="0"/>
              <a:t>, </a:t>
            </a:r>
            <a:r>
              <a:rPr lang="ko-KR" altLang="en-US" dirty="0"/>
              <a:t>반복적인 파일 읽기를 중복 제거하며</a:t>
            </a:r>
            <a:r>
              <a:rPr lang="en-US" altLang="ko-KR" dirty="0"/>
              <a:t>, </a:t>
            </a:r>
            <a:r>
              <a:rPr lang="ko-KR" altLang="en-US" dirty="0"/>
              <a:t>오래된 대화록 항목을 압축합니다</a:t>
            </a:r>
            <a:r>
              <a:rPr lang="en-US" altLang="ko-KR" dirty="0"/>
              <a:t>. </a:t>
            </a:r>
            <a:r>
              <a:rPr lang="ko-KR" altLang="en-US" dirty="0"/>
              <a:t>컨텍스트 창</a:t>
            </a:r>
            <a:r>
              <a:rPr lang="en-US" altLang="ko-KR" dirty="0"/>
              <a:t>(context window)</a:t>
            </a:r>
            <a:r>
              <a:rPr lang="ko-KR" altLang="en-US" dirty="0"/>
              <a:t>이 아무리 커도 불필요한 정보로 채워지면 에이전트 성능이 저하되기 때문에</a:t>
            </a:r>
            <a:r>
              <a:rPr lang="en-US" altLang="ko-KR" dirty="0"/>
              <a:t>, </a:t>
            </a:r>
            <a:r>
              <a:rPr lang="ko-KR" altLang="en-US" dirty="0"/>
              <a:t>관련성 높은 정보를 유지하는 것이 중요합니다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ko-KR" altLang="en-US" b="1" dirty="0"/>
              <a:t>대화록과 메모리 지속성</a:t>
            </a:r>
            <a:r>
              <a:rPr lang="en-US" altLang="ko-KR" b="1" dirty="0"/>
              <a:t>(Transcripts and Memory Persistence): </a:t>
            </a:r>
            <a:r>
              <a:rPr lang="ko-KR" altLang="en-US" dirty="0"/>
              <a:t>전체 대화 이력을 담은 영구 대화록과 세션 재개를 위한 압축 작업 메모리를 함께 유지합니다</a:t>
            </a:r>
            <a:r>
              <a:rPr lang="en-US" altLang="ko-KR" dirty="0"/>
              <a:t>. </a:t>
            </a:r>
            <a:r>
              <a:rPr lang="ko-KR" altLang="en-US" dirty="0"/>
              <a:t>세션이 종료되어도 </a:t>
            </a:r>
            <a:r>
              <a:rPr lang="en-US" altLang="ko-KR" dirty="0"/>
              <a:t>--resume latest </a:t>
            </a:r>
            <a:r>
              <a:rPr lang="ko-KR" altLang="en-US" dirty="0"/>
              <a:t>옵션으로 이전 작업 맥락을 그대로 이어받을 수 있습니다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ko-KR" altLang="en-US" b="1" dirty="0"/>
              <a:t>경계가 있는 위임</a:t>
            </a:r>
            <a:r>
              <a:rPr lang="en-US" altLang="ko-KR" b="1" dirty="0"/>
              <a:t>(Bounded Delegation): </a:t>
            </a:r>
            <a:r>
              <a:rPr lang="ko-KR" altLang="en-US" dirty="0" err="1"/>
              <a:t>스코프가</a:t>
            </a:r>
            <a:r>
              <a:rPr lang="ko-KR" altLang="en-US" dirty="0"/>
              <a:t> 제한된 </a:t>
            </a:r>
            <a:r>
              <a:rPr lang="ko-KR" altLang="en-US" dirty="0" err="1"/>
              <a:t>서브태스크를</a:t>
            </a:r>
            <a:r>
              <a:rPr lang="ko-KR" altLang="en-US" dirty="0"/>
              <a:t> </a:t>
            </a:r>
            <a:r>
              <a:rPr lang="ko-KR" altLang="en-US" dirty="0" err="1"/>
              <a:t>헬퍼</a:t>
            </a:r>
            <a:r>
              <a:rPr lang="ko-KR" altLang="en-US" dirty="0"/>
              <a:t> 에이전트에게 위임합니다</a:t>
            </a:r>
            <a:r>
              <a:rPr lang="en-US" altLang="ko-KR" dirty="0"/>
              <a:t>. </a:t>
            </a:r>
            <a:r>
              <a:rPr lang="ko-KR" altLang="en-US" dirty="0"/>
              <a:t>이때 부모 에이전트의 컨텍스트 제한이 상속되어</a:t>
            </a:r>
            <a:r>
              <a:rPr lang="en-US" altLang="ko-KR" dirty="0"/>
              <a:t>, </a:t>
            </a:r>
            <a:r>
              <a:rPr lang="ko-KR" altLang="en-US" dirty="0" err="1"/>
              <a:t>헬퍼</a:t>
            </a:r>
            <a:r>
              <a:rPr lang="ko-KR" altLang="en-US" dirty="0"/>
              <a:t> 에이전트가 과도한 자원을 사용하지 않도록 제어합니다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B6D3E0-78DE-41FA-8FD3-03FB28E538B7}"/>
              </a:ext>
            </a:extLst>
          </p:cNvPr>
          <p:cNvSpPr txBox="1"/>
          <p:nvPr/>
        </p:nvSpPr>
        <p:spPr>
          <a:xfrm>
            <a:off x="763480" y="426128"/>
            <a:ext cx="983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https://magazine.sebastianraschka.com/p/components-of-a-coding-agent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883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824E379-B720-4CB2-872C-30FFD563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20" y="228523"/>
            <a:ext cx="9144000" cy="472813"/>
          </a:xfrm>
        </p:spPr>
        <p:txBody>
          <a:bodyPr/>
          <a:lstStyle/>
          <a:p>
            <a:pPr algn="l"/>
            <a:r>
              <a:rPr lang="en-US" altLang="ko-KR" b="1" i="0" dirty="0">
                <a:solidFill>
                  <a:srgbClr val="363737"/>
                </a:solidFill>
                <a:effectLst/>
                <a:latin typeface="SF Pro Display"/>
              </a:rPr>
              <a:t>1. Live Repo Context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AD13F48-2C3F-407A-8173-997D85F7F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583" y="866290"/>
            <a:ext cx="8750392" cy="599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28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824E379-B720-4CB2-872C-30FFD563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20" y="228523"/>
            <a:ext cx="9144000" cy="472813"/>
          </a:xfrm>
        </p:spPr>
        <p:txBody>
          <a:bodyPr/>
          <a:lstStyle/>
          <a:p>
            <a:pPr algn="l"/>
            <a:r>
              <a:rPr lang="en-US" altLang="ko-KR" b="1" i="0" dirty="0">
                <a:solidFill>
                  <a:srgbClr val="363737"/>
                </a:solidFill>
                <a:effectLst/>
                <a:latin typeface="SF Pro Display"/>
              </a:rPr>
              <a:t>2. Prompt Shape And Cache Reuse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186AD0DA-6E54-4628-9C23-F05823587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320" y="626616"/>
            <a:ext cx="11126680" cy="619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741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824E379-B720-4CB2-872C-30FFD563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20" y="228523"/>
            <a:ext cx="9144000" cy="472813"/>
          </a:xfrm>
        </p:spPr>
        <p:txBody>
          <a:bodyPr/>
          <a:lstStyle/>
          <a:p>
            <a:pPr algn="l"/>
            <a:r>
              <a:rPr lang="en-US" altLang="ko-KR" b="1" i="0" dirty="0">
                <a:solidFill>
                  <a:srgbClr val="363737"/>
                </a:solidFill>
                <a:effectLst/>
                <a:latin typeface="SF Pro Display"/>
              </a:rPr>
              <a:t>3. Tool Access and Use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DC618B1-8E2C-460C-BCC3-DC3E6CA4B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8675"/>
            <a:ext cx="121920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93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824E379-B720-4CB2-872C-30FFD563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20" y="228523"/>
            <a:ext cx="9144000" cy="472813"/>
          </a:xfrm>
        </p:spPr>
        <p:txBody>
          <a:bodyPr/>
          <a:lstStyle/>
          <a:p>
            <a:pPr algn="l"/>
            <a:r>
              <a:rPr lang="en-US" altLang="ko-KR" b="1" i="0" dirty="0">
                <a:solidFill>
                  <a:srgbClr val="363737"/>
                </a:solidFill>
                <a:effectLst/>
                <a:latin typeface="SF Pro Display"/>
              </a:rPr>
              <a:t>4. Minimizing Context Bloat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4A77C84-11C3-495B-A7B1-035498E03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852" y="1033455"/>
            <a:ext cx="11020148" cy="535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41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824E379-B720-4CB2-872C-30FFD563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20" y="228523"/>
            <a:ext cx="9144000" cy="472813"/>
          </a:xfrm>
        </p:spPr>
        <p:txBody>
          <a:bodyPr/>
          <a:lstStyle/>
          <a:p>
            <a:pPr algn="l"/>
            <a:r>
              <a:rPr lang="en-US" altLang="ko-KR" b="1" i="0" dirty="0">
                <a:solidFill>
                  <a:srgbClr val="363737"/>
                </a:solidFill>
                <a:effectLst/>
                <a:latin typeface="SF Pro Display"/>
              </a:rPr>
              <a:t>5. Structured Session Memory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A3FDB2E-DE8D-4F13-9C20-5D60E05AE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816" y="870804"/>
            <a:ext cx="10727184" cy="592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81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824E379-B720-4CB2-872C-30FFD563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20" y="228523"/>
            <a:ext cx="9144000" cy="472813"/>
          </a:xfrm>
        </p:spPr>
        <p:txBody>
          <a:bodyPr/>
          <a:lstStyle/>
          <a:p>
            <a:pPr algn="l"/>
            <a:r>
              <a:rPr lang="en-US" altLang="ko-KR" b="1" i="0" dirty="0">
                <a:solidFill>
                  <a:srgbClr val="363737"/>
                </a:solidFill>
                <a:effectLst/>
                <a:latin typeface="SF Pro Display"/>
              </a:rPr>
              <a:t>6. Delegation With (Bounded) Subagents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C55163A-CE0D-4011-975A-25A1A9764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4088"/>
            <a:ext cx="12192000" cy="494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267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AC4A866-76BC-4A2E-A9B8-30B04692A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083683"/>
              </p:ext>
            </p:extLst>
          </p:nvPr>
        </p:nvGraphicFramePr>
        <p:xfrm>
          <a:off x="1041647" y="956030"/>
          <a:ext cx="9887565" cy="4388309"/>
        </p:xfrm>
        <a:graphic>
          <a:graphicData uri="http://schemas.openxmlformats.org/drawingml/2006/table">
            <a:tbl>
              <a:tblPr/>
              <a:tblGrid>
                <a:gridCol w="1365003">
                  <a:extLst>
                    <a:ext uri="{9D8B030D-6E8A-4147-A177-3AD203B41FA5}">
                      <a16:colId xmlns:a16="http://schemas.microsoft.com/office/drawing/2014/main" val="1421229400"/>
                    </a:ext>
                  </a:extLst>
                </a:gridCol>
                <a:gridCol w="1642368">
                  <a:extLst>
                    <a:ext uri="{9D8B030D-6E8A-4147-A177-3AD203B41FA5}">
                      <a16:colId xmlns:a16="http://schemas.microsoft.com/office/drawing/2014/main" val="3619602022"/>
                    </a:ext>
                  </a:extLst>
                </a:gridCol>
                <a:gridCol w="6880194">
                  <a:extLst>
                    <a:ext uri="{9D8B030D-6E8A-4147-A177-3AD203B41FA5}">
                      <a16:colId xmlns:a16="http://schemas.microsoft.com/office/drawing/2014/main" val="886162825"/>
                    </a:ext>
                  </a:extLst>
                </a:gridCol>
              </a:tblGrid>
              <a:tr h="3362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폴더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파일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주요 책임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94566"/>
                  </a:ext>
                </a:extLst>
              </a:tr>
              <a:tr h="5735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model/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client.py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>
                          <a:effectLst/>
                        </a:rPr>
                        <a:t>Ollama / Fake </a:t>
                      </a:r>
                      <a:r>
                        <a:rPr lang="ko-KR" altLang="en-US" sz="1800">
                          <a:effectLst/>
                        </a:rPr>
                        <a:t>모델 </a:t>
                      </a:r>
                      <a:r>
                        <a:rPr lang="en-US" altLang="ko-KR" sz="1800">
                          <a:effectLst/>
                        </a:rPr>
                        <a:t>API </a:t>
                      </a:r>
                      <a:r>
                        <a:rPr lang="ko-KR" altLang="en-US" sz="1800">
                          <a:effectLst/>
                        </a:rPr>
                        <a:t>호출 및 응답 처리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019685"/>
                  </a:ext>
                </a:extLst>
              </a:tr>
              <a:tr h="573585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tui/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console.py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>
                          <a:effectLst/>
                        </a:rPr>
                        <a:t>명령줄 인터페이스</a:t>
                      </a:r>
                      <a:r>
                        <a:rPr lang="en-US" altLang="ko-KR" sz="1800">
                          <a:effectLst/>
                        </a:rPr>
                        <a:t>(CLI)</a:t>
                      </a:r>
                      <a:r>
                        <a:rPr lang="ko-KR" altLang="en-US" sz="1800">
                          <a:effectLst/>
                        </a:rPr>
                        <a:t>와 사용자 입력</a:t>
                      </a:r>
                      <a:r>
                        <a:rPr lang="en-US" altLang="ko-KR" sz="1800">
                          <a:effectLst/>
                        </a:rPr>
                        <a:t>/</a:t>
                      </a:r>
                      <a:r>
                        <a:rPr lang="ko-KR" altLang="en-US" sz="1800">
                          <a:effectLst/>
                        </a:rPr>
                        <a:t>출력 처리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940150"/>
                  </a:ext>
                </a:extLst>
              </a:tr>
              <a:tr h="573585">
                <a:tc rowSpan="5"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harness/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context.py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작업 디렉터리</a:t>
                      </a:r>
                      <a:r>
                        <a:rPr lang="en-US" altLang="ko-KR" sz="1800" dirty="0">
                          <a:effectLst/>
                        </a:rPr>
                        <a:t>, Git </a:t>
                      </a:r>
                      <a:r>
                        <a:rPr lang="ko-KR" altLang="en-US" sz="1800" dirty="0">
                          <a:effectLst/>
                        </a:rPr>
                        <a:t>상태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프로젝트 문서 등 실행 환경 정보 제공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14533"/>
                  </a:ext>
                </a:extLst>
              </a:tr>
              <a:tr h="573585">
                <a:tc vMerge="1">
                  <a:txBody>
                    <a:bodyPr/>
                    <a:lstStyle/>
                    <a:p>
                      <a:pPr algn="l"/>
                      <a:endParaRPr lang="ko-KR" altLang="en-US" sz="1600" dirty="0">
                        <a:effectLst/>
                      </a:endParaRP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session.py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대화 기록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메모리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세션 저장</a:t>
                      </a:r>
                      <a:r>
                        <a:rPr lang="en-US" altLang="ko-KR" sz="1800" dirty="0">
                          <a:effectLst/>
                        </a:rPr>
                        <a:t>/</a:t>
                      </a:r>
                      <a:r>
                        <a:rPr lang="ko-KR" altLang="en-US" sz="1800" dirty="0">
                          <a:effectLst/>
                        </a:rPr>
                        <a:t>불러오기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620431"/>
                  </a:ext>
                </a:extLst>
              </a:tr>
              <a:tr h="573585">
                <a:tc vMerge="1">
                  <a:txBody>
                    <a:bodyPr/>
                    <a:lstStyle/>
                    <a:p>
                      <a:pPr algn="l"/>
                      <a:endParaRPr lang="ko-KR" altLang="en-US" sz="1600" dirty="0">
                        <a:effectLst/>
                      </a:endParaRP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tools.py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파일 읽기</a:t>
                      </a:r>
                      <a:r>
                        <a:rPr lang="en-US" altLang="ko-KR" sz="1800" dirty="0">
                          <a:effectLst/>
                        </a:rPr>
                        <a:t>/</a:t>
                      </a:r>
                      <a:r>
                        <a:rPr lang="ko-KR" altLang="en-US" sz="1800" dirty="0">
                          <a:effectLst/>
                        </a:rPr>
                        <a:t>쓰기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검색</a:t>
                      </a:r>
                      <a:r>
                        <a:rPr lang="en-US" altLang="ko-KR" sz="1800" dirty="0">
                          <a:effectLst/>
                        </a:rPr>
                        <a:t>, </a:t>
                      </a:r>
                      <a:r>
                        <a:rPr lang="ko-KR" altLang="en-US" sz="1800" dirty="0">
                          <a:effectLst/>
                        </a:rPr>
                        <a:t>셸 실행 등 실제 도구 구현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67226"/>
                  </a:ext>
                </a:extLst>
              </a:tr>
              <a:tr h="573585">
                <a:tc vMerge="1">
                  <a:txBody>
                    <a:bodyPr/>
                    <a:lstStyle/>
                    <a:p>
                      <a:pPr algn="l"/>
                      <a:endParaRPr lang="ko-KR" altLang="en-US" sz="1600" dirty="0">
                        <a:effectLst/>
                      </a:endParaRP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agent.py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도구와 모델을 조합해 사용자 요청을 처리하는 핵심 에이전트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459671"/>
                  </a:ext>
                </a:extLst>
              </a:tr>
              <a:tr h="573585">
                <a:tc vMerge="1">
                  <a:txBody>
                    <a:bodyPr/>
                    <a:lstStyle/>
                    <a:p>
                      <a:pPr algn="l"/>
                      <a:endParaRPr lang="ko-KR" altLang="en-US" sz="1600" dirty="0">
                        <a:effectLst/>
                      </a:endParaRP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utils.py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문자열 자르기</a:t>
                      </a:r>
                      <a:r>
                        <a:rPr lang="en-US" altLang="ko-KR" sz="1800" dirty="0">
                          <a:effectLst/>
                        </a:rPr>
                        <a:t>(clip), XML </a:t>
                      </a:r>
                      <a:r>
                        <a:rPr lang="ko-KR" altLang="en-US" sz="1800" dirty="0">
                          <a:effectLst/>
                        </a:rPr>
                        <a:t>파싱 등 공통 유틸리티</a:t>
                      </a:r>
                    </a:p>
                  </a:txBody>
                  <a:tcPr marL="107135" marR="107135" marT="49447" marB="494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41928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C61ED7-8EE6-44BD-B7C6-159223B343D0}"/>
              </a:ext>
            </a:extLst>
          </p:cNvPr>
          <p:cNvSpPr txBox="1"/>
          <p:nvPr/>
        </p:nvSpPr>
        <p:spPr>
          <a:xfrm>
            <a:off x="1544715" y="5681709"/>
            <a:ext cx="9126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i="1" dirty="0">
                <a:solidFill>
                  <a:srgbClr val="333333"/>
                </a:solidFill>
                <a:effectLst/>
                <a:latin typeface="JetBrains Mono NL"/>
              </a:rPr>
              <a:t>"UI → Agent → Model → Tool → Memory"</a:t>
            </a:r>
            <a:endParaRPr lang="ko-KR" alt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3154732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5D2E0-0258-4ACB-9541-90D39C2E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installation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317C3-C6BB-454D-945A-421DA731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저장소 클론</a:t>
            </a:r>
          </a:p>
          <a:p>
            <a:r>
              <a:rPr lang="en-US" altLang="ko-KR" dirty="0"/>
              <a:t>git clone https://github.com/rasbt/mini-coding-agent.git</a:t>
            </a:r>
          </a:p>
          <a:p>
            <a:r>
              <a:rPr lang="en-US" altLang="ko-KR" dirty="0"/>
              <a:t>cd mini-coding-agent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en-US" altLang="ko-KR" dirty="0" err="1"/>
              <a:t>Ollama</a:t>
            </a:r>
            <a:r>
              <a:rPr lang="en-US" altLang="ko-KR" dirty="0"/>
              <a:t> </a:t>
            </a:r>
            <a:r>
              <a:rPr lang="ko-KR" altLang="en-US" dirty="0"/>
              <a:t>서버 시작 </a:t>
            </a:r>
            <a:r>
              <a:rPr lang="en-US" altLang="ko-KR" dirty="0"/>
              <a:t>(</a:t>
            </a:r>
            <a:r>
              <a:rPr lang="ko-KR" altLang="en-US" dirty="0"/>
              <a:t>별도 터미널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ollama</a:t>
            </a:r>
            <a:r>
              <a:rPr lang="en-US" altLang="ko-KR" dirty="0"/>
              <a:t> serve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기본 모델 다운로드</a:t>
            </a:r>
          </a:p>
          <a:p>
            <a:r>
              <a:rPr lang="en-US" altLang="ko-KR" dirty="0" err="1"/>
              <a:t>ollama</a:t>
            </a:r>
            <a:r>
              <a:rPr lang="en-US" altLang="ko-KR" dirty="0"/>
              <a:t> pull qwen3.5:4b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에이전트 실행</a:t>
            </a:r>
          </a:p>
          <a:p>
            <a:r>
              <a:rPr lang="en-US" altLang="ko-KR" dirty="0" err="1"/>
              <a:t>uv</a:t>
            </a:r>
            <a:r>
              <a:rPr lang="en-US" altLang="ko-KR" dirty="0"/>
              <a:t> run mini-coding-agent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또는</a:t>
            </a:r>
            <a:r>
              <a:rPr lang="en-US" altLang="ko-KR" dirty="0"/>
              <a:t>: python mini_coding_agent.py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9213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5D2E0-0258-4ACB-9541-90D39C2E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Approval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317C3-C6BB-454D-945A-421DA731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/>
              <a:t>위험한 작업 전 확인 요청</a:t>
            </a:r>
          </a:p>
          <a:p>
            <a:r>
              <a:rPr lang="en-US" altLang="ko-KR" dirty="0" err="1"/>
              <a:t>uv</a:t>
            </a:r>
            <a:r>
              <a:rPr lang="en-US" altLang="ko-KR" dirty="0"/>
              <a:t> run mini-coding-agent --approval ask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자동 승인 </a:t>
            </a:r>
            <a:r>
              <a:rPr lang="en-US" altLang="ko-KR" dirty="0"/>
              <a:t>(</a:t>
            </a:r>
            <a:r>
              <a:rPr lang="ko-KR" altLang="en-US" dirty="0"/>
              <a:t>신뢰할 수 있는 저장소에서만 사용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uv</a:t>
            </a:r>
            <a:r>
              <a:rPr lang="en-US" altLang="ko-KR" dirty="0"/>
              <a:t> run mini-coding-agent --approval auto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위험한 작업 자동 거부</a:t>
            </a:r>
          </a:p>
          <a:p>
            <a:r>
              <a:rPr lang="en-US" altLang="ko-KR" dirty="0" err="1"/>
              <a:t>uv</a:t>
            </a:r>
            <a:r>
              <a:rPr lang="en-US" altLang="ko-KR" dirty="0"/>
              <a:t> run mini-coding-agent --approval never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366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5D2E0-0258-4ACB-9541-90D39C2E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Session management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317C3-C6BB-454D-945A-421DA7315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최근 세션 재개</a:t>
            </a:r>
          </a:p>
          <a:p>
            <a:r>
              <a:rPr lang="en-US" altLang="ko-KR" dirty="0" err="1"/>
              <a:t>uv</a:t>
            </a:r>
            <a:r>
              <a:rPr lang="en-US" altLang="ko-KR" dirty="0"/>
              <a:t> run mini-coding-agent --resume latest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특정 세션 재개</a:t>
            </a:r>
          </a:p>
          <a:p>
            <a:r>
              <a:rPr lang="en-US" altLang="ko-KR" dirty="0" err="1"/>
              <a:t>uv</a:t>
            </a:r>
            <a:r>
              <a:rPr lang="en-US" altLang="ko-KR" dirty="0"/>
              <a:t> run mini-coding-agent --resume 20260401-144025-2dd0aa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988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E9ABE-BF4E-4706-9087-FA52A44D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4CC3F7-1E63-4996-B1FE-3A294694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08" y="1946803"/>
            <a:ext cx="8593520" cy="39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09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9017-0345-444F-98E9-83F63B82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Tool calling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82DF8E-C7DC-4E1E-93EE-5C8640CF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&lt;!-- </a:t>
            </a:r>
            <a:r>
              <a:rPr lang="ko-KR" altLang="en-US" dirty="0"/>
              <a:t>도구 호출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&lt;tool&gt;</a:t>
            </a:r>
            <a:r>
              <a:rPr lang="en-US" altLang="ko-KR" dirty="0" err="1"/>
              <a:t>read_file</a:t>
            </a:r>
            <a:r>
              <a:rPr lang="en-US" altLang="ko-KR" dirty="0"/>
              <a:t>(path="</a:t>
            </a:r>
            <a:r>
              <a:rPr lang="en-US" altLang="ko-KR" dirty="0" err="1"/>
              <a:t>src</a:t>
            </a:r>
            <a:r>
              <a:rPr lang="en-US" altLang="ko-KR" dirty="0"/>
              <a:t>/main.py")&lt;/tool&gt;</a:t>
            </a:r>
          </a:p>
          <a:p>
            <a:endParaRPr lang="en-US" altLang="ko-KR" dirty="0"/>
          </a:p>
          <a:p>
            <a:r>
              <a:rPr lang="en-US" altLang="ko-KR" dirty="0"/>
              <a:t>&lt;!-- </a:t>
            </a:r>
            <a:r>
              <a:rPr lang="ko-KR" altLang="en-US" dirty="0"/>
              <a:t>최종 응답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&lt;final&gt;</a:t>
            </a:r>
            <a:r>
              <a:rPr lang="ko-KR" altLang="en-US" dirty="0"/>
              <a:t>작업이 완료되었습니다</a:t>
            </a:r>
            <a:r>
              <a:rPr lang="en-US" altLang="ko-KR" dirty="0"/>
              <a:t>. main.py</a:t>
            </a:r>
            <a:r>
              <a:rPr lang="ko-KR" altLang="en-US" dirty="0"/>
              <a:t>의 버그를 수정했습니다</a:t>
            </a:r>
            <a:r>
              <a:rPr lang="en-US" altLang="ko-KR" dirty="0"/>
              <a:t>.&lt;/final&gt;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3299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8072E-6784-48DC-A3CA-0C6D5FDFE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208"/>
            <a:ext cx="10515600" cy="649845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b="1" i="1" dirty="0">
                <a:solidFill>
                  <a:srgbClr val="FF0000"/>
                </a:solidFill>
              </a:rPr>
              <a:t>How Does This Compare To </a:t>
            </a:r>
            <a:r>
              <a:rPr lang="en-US" altLang="ko-KR" b="1" i="1" dirty="0" err="1">
                <a:solidFill>
                  <a:srgbClr val="FF0000"/>
                </a:solidFill>
              </a:rPr>
              <a:t>OpenClaw</a:t>
            </a:r>
            <a:r>
              <a:rPr lang="en-US" altLang="ko-KR" b="1" i="1" dirty="0">
                <a:solidFill>
                  <a:srgbClr val="FF0000"/>
                </a:solidFill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ko-KR" dirty="0" err="1"/>
              <a:t>OpenClaw</a:t>
            </a:r>
            <a:r>
              <a:rPr lang="en-US" altLang="ko-KR" dirty="0"/>
              <a:t> is more like a local, general agent platform that can also code, rather than being a specialized (terminal) coding assistant.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There are still several overlaps with a coding harness: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it uses prompt and instruction files in the workspace, such as AGENTS.md, SOUL.md, and TOOLS.md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it keeps JSONL session files and includes transcript compaction and session management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it can spawn helper sessions and subagents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etc.</a:t>
            </a:r>
          </a:p>
          <a:p>
            <a:pPr>
              <a:lnSpc>
                <a:spcPct val="120000"/>
              </a:lnSpc>
            </a:pPr>
            <a:r>
              <a:rPr lang="en-US" altLang="ko-KR" b="1" dirty="0"/>
              <a:t>Coding agents </a:t>
            </a:r>
            <a:r>
              <a:rPr lang="en-US" altLang="ko-KR" dirty="0"/>
              <a:t>are optimized for a person working in a repository and asking a coding assistant to inspect files, edit code, and run local tools efficiently. </a:t>
            </a:r>
          </a:p>
          <a:p>
            <a:pPr>
              <a:lnSpc>
                <a:spcPct val="120000"/>
              </a:lnSpc>
            </a:pPr>
            <a:r>
              <a:rPr lang="en-US" altLang="ko-KR" b="1" dirty="0" err="1"/>
              <a:t>OpenClaw</a:t>
            </a:r>
            <a:r>
              <a:rPr lang="en-US" altLang="ko-KR" dirty="0"/>
              <a:t> is more optimized for running many long-lived local agents across chats, channels, and workspaces, with coding as one important workload among several others.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533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804</Words>
  <Application>Microsoft Office PowerPoint</Application>
  <PresentationFormat>와이드스크린</PresentationFormat>
  <Paragraphs>85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JetBrains Mono NL</vt:lpstr>
      <vt:lpstr>SF Pro Display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기본 구성/기능 (Features)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installation</vt:lpstr>
      <vt:lpstr>Approval mode</vt:lpstr>
      <vt:lpstr>Session management</vt:lpstr>
      <vt:lpstr>PowerPoint 프레젠테이션</vt:lpstr>
      <vt:lpstr>Tool calling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Taewony Kim</dc:creator>
  <cp:lastModifiedBy>Taewony Kim</cp:lastModifiedBy>
  <cp:revision>15</cp:revision>
  <dcterms:created xsi:type="dcterms:W3CDTF">2026-07-15T10:20:53Z</dcterms:created>
  <dcterms:modified xsi:type="dcterms:W3CDTF">2026-07-15T22:51:46Z</dcterms:modified>
</cp:coreProperties>
</file>