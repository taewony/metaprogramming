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345" r:id="rId3"/>
    <p:sldId id="349" r:id="rId4"/>
    <p:sldId id="357" r:id="rId5"/>
    <p:sldId id="348" r:id="rId6"/>
    <p:sldId id="346" r:id="rId7"/>
    <p:sldId id="347" r:id="rId8"/>
    <p:sldId id="350" r:id="rId9"/>
    <p:sldId id="353" r:id="rId10"/>
    <p:sldId id="354" r:id="rId11"/>
    <p:sldId id="258" r:id="rId12"/>
    <p:sldId id="259" r:id="rId13"/>
    <p:sldId id="352" r:id="rId14"/>
    <p:sldId id="260" r:id="rId15"/>
    <p:sldId id="261" r:id="rId16"/>
    <p:sldId id="262" r:id="rId17"/>
    <p:sldId id="263" r:id="rId18"/>
    <p:sldId id="264" r:id="rId19"/>
    <p:sldId id="257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76" r:id="rId28"/>
    <p:sldId id="356" r:id="rId29"/>
    <p:sldId id="358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  <p:sldId id="374" r:id="rId39"/>
    <p:sldId id="375" r:id="rId40"/>
  </p:sldIdLst>
  <p:sldSz cx="17475200" cy="9753600"/>
  <p:notesSz cx="17475200" cy="97536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25" autoAdjust="0"/>
    <p:restoredTop sz="94660"/>
  </p:normalViewPr>
  <p:slideViewPr>
    <p:cSldViewPr>
      <p:cViewPr varScale="1">
        <p:scale>
          <a:sx n="80" d="100"/>
          <a:sy n="80" d="100"/>
        </p:scale>
        <p:origin x="24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ACBC8B5-FFCC-4E0A-96E6-0BA814548EB5}"/>
              </a:ext>
            </a:extLst>
          </p:cNvPr>
          <p:cNvCxnSpPr>
            <a:cxnSpLocks/>
          </p:cNvCxnSpPr>
          <p:nvPr userDrawn="1"/>
        </p:nvCxnSpPr>
        <p:spPr>
          <a:xfrm>
            <a:off x="0" y="1183076"/>
            <a:ext cx="17475200" cy="0"/>
          </a:xfrm>
          <a:prstGeom prst="line">
            <a:avLst/>
          </a:prstGeom>
          <a:ln w="762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9355" y="222647"/>
            <a:ext cx="14449605" cy="615553"/>
          </a:xfrm>
        </p:spPr>
        <p:txBody>
          <a:bodyPr/>
          <a:lstStyle>
            <a:lvl1pPr algn="l">
              <a:defRPr sz="40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565632" y="1437549"/>
            <a:ext cx="16515163" cy="2061655"/>
          </a:xfrm>
        </p:spPr>
        <p:txBody>
          <a:bodyPr/>
          <a:lstStyle>
            <a:lvl1pPr marL="379301" indent="-37930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n"/>
              <a:defRPr sz="2844" b="1">
                <a:latin typeface="+mn-ea"/>
                <a:ea typeface="+mn-ea"/>
              </a:defRPr>
            </a:lvl1pPr>
            <a:lvl2pPr marL="636683" indent="-257383">
              <a:lnSpc>
                <a:spcPct val="100000"/>
              </a:lnSpc>
              <a:spcAft>
                <a:spcPts val="569"/>
              </a:spcAft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2560"/>
            </a:lvl2pPr>
            <a:lvl3pPr marL="894066" indent="-257383">
              <a:lnSpc>
                <a:spcPct val="100000"/>
              </a:lnSpc>
              <a:spcAft>
                <a:spcPts val="427"/>
              </a:spcAft>
              <a:buClr>
                <a:schemeClr val="tx1"/>
              </a:buClr>
              <a:defRPr sz="2276"/>
            </a:lvl3pPr>
            <a:lvl4pPr marL="1151449" indent="-257383">
              <a:lnSpc>
                <a:spcPct val="100000"/>
              </a:lnSpc>
              <a:spcAft>
                <a:spcPts val="427"/>
              </a:spcAft>
              <a:buSzPct val="96000"/>
              <a:defRPr sz="1564"/>
            </a:lvl4pPr>
            <a:lvl5pPr marL="1408831" indent="-257383">
              <a:lnSpc>
                <a:spcPct val="100000"/>
              </a:lnSpc>
              <a:defRPr sz="1564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슬라이드 번호 개체 틀 9">
            <a:extLst>
              <a:ext uri="{FF2B5EF4-FFF2-40B4-BE49-F238E27FC236}">
                <a16:creationId xmlns:a16="http://schemas.microsoft.com/office/drawing/2014/main" id="{3B2CCA7F-BB30-4BCC-BE75-23DA8A823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5481936" y="9250116"/>
            <a:ext cx="1598858" cy="27699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810BBB14-576D-4EAB-98F4-91238698AF4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49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npark@starcell.co.kr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6058B-0011-45CA-8F80-95A8AFB1D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1769715"/>
          </a:xfrm>
        </p:spPr>
        <p:txBody>
          <a:bodyPr/>
          <a:lstStyle/>
          <a:p>
            <a:pPr algn="ctr"/>
            <a:r>
              <a:rPr lang="ko-KR" altLang="en-US" sz="11500" dirty="0"/>
              <a:t>컴퓨터 시스템 빌드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022B51-2D46-4135-B811-4AB80225993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1015663"/>
          </a:xfrm>
        </p:spPr>
        <p:txBody>
          <a:bodyPr/>
          <a:lstStyle/>
          <a:p>
            <a:pPr algn="ctr"/>
            <a:r>
              <a:rPr lang="ko-KR" altLang="en-US" sz="6600" dirty="0" err="1"/>
              <a:t>캡스톤디자인</a:t>
            </a:r>
            <a:r>
              <a:rPr lang="ko-KR" altLang="en-US" sz="6600" dirty="0"/>
              <a:t> 프로젝트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3BB09-2035-45CF-8AE8-E208B4E95D83}"/>
              </a:ext>
            </a:extLst>
          </p:cNvPr>
          <p:cNvSpPr txBox="1"/>
          <p:nvPr/>
        </p:nvSpPr>
        <p:spPr>
          <a:xfrm>
            <a:off x="8585200" y="7467600"/>
            <a:ext cx="8153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김태원 교수 </a:t>
            </a:r>
            <a:r>
              <a:rPr lang="en-US" altLang="ko-KR" sz="4800" dirty="0"/>
              <a:t>(W17 505</a:t>
            </a:r>
            <a:r>
              <a:rPr lang="ko-KR" altLang="en-US" sz="4800" dirty="0"/>
              <a:t>호</a:t>
            </a:r>
            <a:r>
              <a:rPr lang="en-US" altLang="ko-KR" sz="4800" dirty="0"/>
              <a:t>)</a:t>
            </a:r>
          </a:p>
          <a:p>
            <a:r>
              <a:rPr lang="en-US" altLang="ko-KR" sz="4800" dirty="0"/>
              <a:t>taewony@wsu.ac.kr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919908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37E9BFF7-5BD7-46DE-A145-76BB849D63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6600" y="309314"/>
            <a:ext cx="10753796" cy="525208"/>
          </a:xfrm>
        </p:spPr>
        <p:txBody>
          <a:bodyPr/>
          <a:lstStyle/>
          <a:p>
            <a:pPr eaLnBrk="1" hangingPunct="1"/>
            <a:r>
              <a:rPr lang="ko-KR" altLang="en-US" dirty="0"/>
              <a:t>집중 프로젝트 수업 개요</a:t>
            </a:r>
          </a:p>
        </p:txBody>
      </p:sp>
      <p:sp>
        <p:nvSpPr>
          <p:cNvPr id="13315" name="내용 개체 틀 1">
            <a:extLst>
              <a:ext uri="{FF2B5EF4-FFF2-40B4-BE49-F238E27FC236}">
                <a16:creationId xmlns:a16="http://schemas.microsoft.com/office/drawing/2014/main" id="{F49188AE-5081-41D7-BF3F-6ADF86C6F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9000" y="1438205"/>
            <a:ext cx="11582400" cy="7781995"/>
          </a:xfrm>
        </p:spPr>
        <p:txBody>
          <a:bodyPr rtlCol="0">
            <a:normAutofit lnSpcReduction="10000"/>
          </a:bodyPr>
          <a:lstStyle/>
          <a:p>
            <a:pPr eaLnBrk="1" hangingPunct="1">
              <a:defRPr/>
            </a:pPr>
            <a:r>
              <a:rPr lang="ko-KR" altLang="en-US" sz="3600" dirty="0"/>
              <a:t>참여 기업</a:t>
            </a:r>
            <a:endParaRPr lang="en-US" altLang="ko-KR" sz="3600" dirty="0"/>
          </a:p>
          <a:p>
            <a:pPr lvl="1">
              <a:defRPr/>
            </a:pPr>
            <a:r>
              <a:rPr lang="ko-KR" altLang="en-US" sz="3200" b="1" dirty="0" err="1">
                <a:solidFill>
                  <a:srgbClr val="0000FF"/>
                </a:solidFill>
              </a:rPr>
              <a:t>스타셀</a:t>
            </a:r>
            <a:r>
              <a:rPr lang="ko-KR" altLang="en-US" sz="3200" dirty="0"/>
              <a:t> </a:t>
            </a:r>
            <a:r>
              <a:rPr lang="en-US" altLang="ko-KR" sz="3200" dirty="0"/>
              <a:t>(</a:t>
            </a:r>
            <a:r>
              <a:rPr lang="ko-KR" altLang="en-US" sz="3200" dirty="0" err="1">
                <a:solidFill>
                  <a:schemeClr val="tx1"/>
                </a:solidFill>
              </a:rPr>
              <a:t>박노헌</a:t>
            </a:r>
            <a:r>
              <a:rPr lang="ko-KR" altLang="en-US" sz="3200" dirty="0">
                <a:solidFill>
                  <a:schemeClr val="tx1"/>
                </a:solidFill>
              </a:rPr>
              <a:t> 대표</a:t>
            </a:r>
            <a:r>
              <a:rPr lang="en-US" altLang="ko-KR" sz="3200" dirty="0">
                <a:solidFill>
                  <a:schemeClr val="tx1"/>
                </a:solidFill>
              </a:rPr>
              <a:t>, </a:t>
            </a:r>
            <a:r>
              <a:rPr lang="en-US" altLang="ko-KR" sz="32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npark@starcell.co.kr</a:t>
            </a:r>
            <a:r>
              <a:rPr lang="en-US" altLang="ko-KR" sz="3200" dirty="0">
                <a:solidFill>
                  <a:schemeClr val="tx1"/>
                </a:solidFill>
              </a:rPr>
              <a:t>)</a:t>
            </a:r>
          </a:p>
          <a:p>
            <a:pPr lvl="1">
              <a:defRPr/>
            </a:pPr>
            <a:r>
              <a:rPr lang="ko-KR" altLang="en-US" sz="3200" dirty="0">
                <a:solidFill>
                  <a:schemeClr val="tx1"/>
                </a:solidFill>
              </a:rPr>
              <a:t>멘토링 일정 </a:t>
            </a:r>
            <a:r>
              <a:rPr lang="en-US" altLang="ko-KR" sz="3200" dirty="0">
                <a:solidFill>
                  <a:schemeClr val="tx1"/>
                </a:solidFill>
              </a:rPr>
              <a:t>(6/4, 6/11, 6/18 </a:t>
            </a:r>
            <a:r>
              <a:rPr lang="ko-KR" altLang="en-US" sz="3200" dirty="0">
                <a:solidFill>
                  <a:schemeClr val="tx1"/>
                </a:solidFill>
              </a:rPr>
              <a:t>목</a:t>
            </a:r>
            <a:r>
              <a:rPr lang="en-US" altLang="ko-KR" sz="3200" dirty="0">
                <a:solidFill>
                  <a:schemeClr val="tx1"/>
                </a:solidFill>
              </a:rPr>
              <a:t>)</a:t>
            </a:r>
          </a:p>
          <a:p>
            <a:pPr>
              <a:defRPr/>
            </a:pPr>
            <a:r>
              <a:rPr lang="ko-KR" altLang="en-US" sz="3884" b="1" dirty="0"/>
              <a:t>특강</a:t>
            </a:r>
            <a:endParaRPr lang="en-US" altLang="ko-KR" sz="3884" dirty="0"/>
          </a:p>
          <a:p>
            <a:pPr lvl="1">
              <a:defRPr/>
            </a:pPr>
            <a:r>
              <a:rPr lang="ko-KR" altLang="en-US" sz="3200" dirty="0"/>
              <a:t>플랜아이 이정환 부사장 </a:t>
            </a:r>
            <a:r>
              <a:rPr lang="en-US" altLang="ko-KR" sz="3200" dirty="0"/>
              <a:t>(6/16</a:t>
            </a:r>
            <a:r>
              <a:rPr lang="ko-KR" altLang="en-US" sz="3200" dirty="0"/>
              <a:t>일 화</a:t>
            </a:r>
            <a:r>
              <a:rPr lang="en-US" altLang="ko-KR" sz="3200" dirty="0"/>
              <a:t>, 2</a:t>
            </a:r>
            <a:r>
              <a:rPr lang="ko-KR" altLang="en-US" sz="3200" dirty="0"/>
              <a:t>시간</a:t>
            </a:r>
            <a:r>
              <a:rPr lang="en-US" altLang="ko-KR" sz="3200" dirty="0"/>
              <a:t>)</a:t>
            </a:r>
          </a:p>
          <a:p>
            <a:pPr eaLnBrk="1" hangingPunct="1">
              <a:defRPr/>
            </a:pPr>
            <a:r>
              <a:rPr lang="ko-KR" altLang="en-US" sz="3600" dirty="0"/>
              <a:t>필수 </a:t>
            </a:r>
            <a:r>
              <a:rPr lang="ko-KR" altLang="en-US" sz="3600" dirty="0" err="1"/>
              <a:t>캡스톤</a:t>
            </a:r>
            <a:r>
              <a:rPr lang="ko-KR" altLang="en-US" sz="3600" dirty="0"/>
              <a:t> 문서</a:t>
            </a:r>
            <a:endParaRPr lang="en-US" altLang="ko-KR" sz="3600" dirty="0"/>
          </a:p>
          <a:p>
            <a:pPr lvl="1">
              <a:defRPr/>
            </a:pPr>
            <a:r>
              <a:rPr lang="ko-KR" altLang="en-US" sz="3200" dirty="0"/>
              <a:t>프로젝트 신청서</a:t>
            </a:r>
            <a:r>
              <a:rPr lang="en-US" altLang="ko-KR" sz="3200" dirty="0"/>
              <a:t> (~5/29)</a:t>
            </a:r>
          </a:p>
          <a:p>
            <a:pPr lvl="1">
              <a:defRPr/>
            </a:pPr>
            <a:r>
              <a:rPr lang="ko-KR" altLang="en-US" sz="3200" dirty="0" err="1"/>
              <a:t>캡스톤디자인</a:t>
            </a:r>
            <a:r>
              <a:rPr lang="ko-KR" altLang="en-US" sz="3200" dirty="0"/>
              <a:t> 결과보고서 </a:t>
            </a:r>
            <a:r>
              <a:rPr lang="en-US" altLang="ko-KR" sz="3200" dirty="0"/>
              <a:t>(~6/18)</a:t>
            </a:r>
          </a:p>
          <a:p>
            <a:pPr lvl="1">
              <a:defRPr/>
            </a:pPr>
            <a:r>
              <a:rPr lang="ko-KR" altLang="en-US" sz="3200" dirty="0"/>
              <a:t>제출 </a:t>
            </a:r>
            <a:r>
              <a:rPr lang="en-US" altLang="ko-KR" sz="3200" dirty="0"/>
              <a:t>Email: rudtn3876@wsu.ac.kr </a:t>
            </a:r>
          </a:p>
          <a:p>
            <a:pPr eaLnBrk="1" hangingPunct="1">
              <a:defRPr/>
            </a:pPr>
            <a:r>
              <a:rPr lang="ko-KR" altLang="en-US" sz="3600" dirty="0"/>
              <a:t>창의융합경진대회 참가</a:t>
            </a:r>
            <a:endParaRPr lang="en-US" altLang="ko-KR" sz="3600" dirty="0"/>
          </a:p>
          <a:p>
            <a:pPr lvl="1">
              <a:defRPr/>
            </a:pPr>
            <a:r>
              <a:rPr lang="ko-KR" altLang="en-US" sz="3200" dirty="0"/>
              <a:t>예선작품 접수 </a:t>
            </a:r>
            <a:r>
              <a:rPr lang="en-US" altLang="ko-KR" sz="3200" dirty="0"/>
              <a:t>: 06.01(</a:t>
            </a:r>
            <a:r>
              <a:rPr lang="ko-KR" altLang="en-US" sz="3200" dirty="0"/>
              <a:t>월</a:t>
            </a:r>
            <a:r>
              <a:rPr lang="en-US" altLang="ko-KR" sz="3200" dirty="0"/>
              <a:t>)~06.11(</a:t>
            </a:r>
            <a:r>
              <a:rPr lang="ko-KR" altLang="en-US" sz="3200" dirty="0"/>
              <a:t>목</a:t>
            </a:r>
            <a:r>
              <a:rPr lang="en-US" altLang="ko-KR" sz="3200" dirty="0"/>
              <a:t>)</a:t>
            </a:r>
          </a:p>
          <a:p>
            <a:pPr lvl="1">
              <a:defRPr/>
            </a:pPr>
            <a:r>
              <a:rPr lang="ko-KR" altLang="en-US" sz="3200" dirty="0"/>
              <a:t>본선 </a:t>
            </a:r>
            <a:r>
              <a:rPr lang="en-US" altLang="ko-KR" sz="3200" dirty="0"/>
              <a:t>: 06.19(</a:t>
            </a:r>
            <a:r>
              <a:rPr lang="ko-KR" altLang="en-US" sz="3200" dirty="0"/>
              <a:t>금</a:t>
            </a:r>
            <a:r>
              <a:rPr lang="en-US" altLang="ko-KR" sz="3200" dirty="0"/>
              <a:t>) 14:00 W17 B111</a:t>
            </a:r>
            <a:r>
              <a:rPr lang="ko-KR" altLang="en-US" sz="3200" dirty="0"/>
              <a:t>호 시청각실</a:t>
            </a:r>
            <a:endParaRPr lang="en-US" altLang="ko-KR" sz="3200" dirty="0"/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8B0123CB-0717-45C4-8FAE-4E62CE58C046}"/>
              </a:ext>
            </a:extLst>
          </p:cNvPr>
          <p:cNvSpPr txBox="1">
            <a:spLocks noChangeArrowheads="1"/>
          </p:cNvSpPr>
          <p:nvPr/>
        </p:nvSpPr>
        <p:spPr>
          <a:xfrm>
            <a:off x="10337800" y="4876800"/>
            <a:ext cx="6705600" cy="4343400"/>
          </a:xfrm>
          <a:prstGeom prst="rect">
            <a:avLst/>
          </a:prstGeom>
        </p:spPr>
        <p:txBody>
          <a:bodyPr wrap="square" lIns="0" tIns="0" rIns="0" bIns="0" rtlCol="0">
            <a:normAutofit lnSpcReduction="10000"/>
          </a:bodyPr>
          <a:lstStyle>
            <a:lvl1pPr marL="379301" indent="-37930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n"/>
              <a:defRPr sz="2844" b="1">
                <a:latin typeface="+mn-ea"/>
                <a:ea typeface="+mn-ea"/>
                <a:cs typeface="+mn-cs"/>
              </a:defRPr>
            </a:lvl1pPr>
            <a:lvl2pPr marL="636683" indent="-257383">
              <a:lnSpc>
                <a:spcPct val="100000"/>
              </a:lnSpc>
              <a:spcAft>
                <a:spcPts val="569"/>
              </a:spcAft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2560">
                <a:latin typeface="+mn-lt"/>
                <a:ea typeface="+mn-ea"/>
                <a:cs typeface="+mn-cs"/>
              </a:defRPr>
            </a:lvl2pPr>
            <a:lvl3pPr marL="894066" indent="-257383">
              <a:lnSpc>
                <a:spcPct val="100000"/>
              </a:lnSpc>
              <a:spcAft>
                <a:spcPts val="427"/>
              </a:spcAft>
              <a:buClr>
                <a:schemeClr val="tx1"/>
              </a:buClr>
              <a:defRPr sz="2276">
                <a:latin typeface="+mn-lt"/>
                <a:ea typeface="+mn-ea"/>
                <a:cs typeface="+mn-cs"/>
              </a:defRPr>
            </a:lvl3pPr>
            <a:lvl4pPr marL="1151449" indent="-257383">
              <a:lnSpc>
                <a:spcPct val="100000"/>
              </a:lnSpc>
              <a:spcAft>
                <a:spcPts val="427"/>
              </a:spcAft>
              <a:buSzPct val="96000"/>
              <a:defRPr sz="1564">
                <a:latin typeface="+mn-lt"/>
                <a:ea typeface="+mn-ea"/>
                <a:cs typeface="+mn-cs"/>
              </a:defRPr>
            </a:lvl4pPr>
            <a:lvl5pPr marL="1408831" indent="-257383">
              <a:lnSpc>
                <a:spcPct val="100000"/>
              </a:lnSpc>
              <a:defRPr sz="1564"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latinLnBrk="0">
              <a:defRPr/>
            </a:pPr>
            <a:r>
              <a:rPr lang="ko-KR" altLang="en-US" sz="3600" kern="0" dirty="0">
                <a:solidFill>
                  <a:sysClr val="windowText" lastClr="000000"/>
                </a:solidFill>
              </a:rPr>
              <a:t>수업 기간</a:t>
            </a:r>
            <a:endParaRPr lang="en-US" altLang="ko-KR" sz="3600" kern="0" dirty="0">
              <a:solidFill>
                <a:sysClr val="windowText" lastClr="000000"/>
              </a:solidFill>
            </a:endParaRPr>
          </a:p>
          <a:p>
            <a:pPr lvl="1" latinLnBrk="0">
              <a:lnSpc>
                <a:spcPct val="110000"/>
              </a:lnSpc>
              <a:defRPr/>
            </a:pPr>
            <a:r>
              <a:rPr lang="en-US" altLang="ko-KR" sz="3200" dirty="0"/>
              <a:t>4</a:t>
            </a:r>
            <a:r>
              <a:rPr lang="ko-KR" altLang="en-US" sz="3200" dirty="0"/>
              <a:t>주 </a:t>
            </a:r>
            <a:r>
              <a:rPr lang="en-US" altLang="ko-KR" sz="3200" dirty="0"/>
              <a:t>(5/28 ~ 6/19, </a:t>
            </a:r>
            <a:r>
              <a:rPr lang="ko-KR" altLang="en-US" sz="3200" dirty="0"/>
              <a:t>화 목 금</a:t>
            </a:r>
            <a:r>
              <a:rPr lang="en-US" altLang="ko-KR" sz="3200" dirty="0"/>
              <a:t>)</a:t>
            </a:r>
          </a:p>
          <a:p>
            <a:pPr eaLnBrk="1" hangingPunct="1">
              <a:defRPr/>
            </a:pPr>
            <a:r>
              <a:rPr lang="ko-KR" altLang="en-US" sz="3600" dirty="0"/>
              <a:t>수업 평가 </a:t>
            </a:r>
            <a:endParaRPr lang="en-US" altLang="ko-KR" sz="3600" dirty="0"/>
          </a:p>
          <a:p>
            <a:pPr lvl="1">
              <a:lnSpc>
                <a:spcPct val="110000"/>
              </a:lnSpc>
              <a:defRPr/>
            </a:pPr>
            <a:r>
              <a:rPr lang="ko-KR" altLang="en-US" sz="3200" dirty="0"/>
              <a:t>출석 </a:t>
            </a:r>
            <a:r>
              <a:rPr lang="en-US" altLang="ko-KR" sz="3200" dirty="0"/>
              <a:t>20, </a:t>
            </a:r>
            <a:r>
              <a:rPr lang="ko-KR" altLang="en-US" sz="3200" dirty="0"/>
              <a:t>개인별 세미나 발표 </a:t>
            </a:r>
            <a:r>
              <a:rPr lang="en-US" altLang="ko-KR" sz="3200" dirty="0"/>
              <a:t>20</a:t>
            </a:r>
          </a:p>
          <a:p>
            <a:pPr lvl="1">
              <a:lnSpc>
                <a:spcPct val="110000"/>
              </a:lnSpc>
              <a:defRPr/>
            </a:pPr>
            <a:r>
              <a:rPr lang="ko-KR" altLang="en-US" sz="3200" dirty="0"/>
              <a:t>팀별 과제 발표 </a:t>
            </a:r>
            <a:r>
              <a:rPr lang="en-US" altLang="ko-KR" sz="3200" dirty="0"/>
              <a:t>60 (</a:t>
            </a:r>
            <a:r>
              <a:rPr lang="ko-KR" altLang="en-US" sz="3200" dirty="0"/>
              <a:t>과제 평가 </a:t>
            </a:r>
            <a:r>
              <a:rPr lang="en-US" altLang="ko-KR" sz="3200" dirty="0"/>
              <a:t>40, </a:t>
            </a:r>
            <a:r>
              <a:rPr lang="ko-KR" altLang="en-US" sz="3200" dirty="0"/>
              <a:t>발표 평가 </a:t>
            </a:r>
            <a:r>
              <a:rPr lang="en-US" altLang="ko-KR" sz="3200" dirty="0"/>
              <a:t>20)</a:t>
            </a:r>
          </a:p>
          <a:p>
            <a:pPr lvl="1">
              <a:lnSpc>
                <a:spcPct val="110000"/>
              </a:lnSpc>
              <a:defRPr/>
            </a:pPr>
            <a:r>
              <a:rPr lang="ko-KR" altLang="en-US" sz="3200" dirty="0"/>
              <a:t>경진대회 참가 필수</a:t>
            </a:r>
            <a:r>
              <a:rPr lang="en-US" altLang="ko-KR" sz="3200" dirty="0"/>
              <a:t>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37E9BFF7-5BD7-46DE-A145-76BB849D63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6600" y="309314"/>
            <a:ext cx="10753796" cy="525208"/>
          </a:xfrm>
        </p:spPr>
        <p:txBody>
          <a:bodyPr/>
          <a:lstStyle/>
          <a:p>
            <a:pPr eaLnBrk="1" hangingPunct="1"/>
            <a:r>
              <a:rPr lang="ko-KR" altLang="en-US" dirty="0" err="1"/>
              <a:t>라떼는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3315" name="내용 개체 틀 1">
            <a:extLst>
              <a:ext uri="{FF2B5EF4-FFF2-40B4-BE49-F238E27FC236}">
                <a16:creationId xmlns:a16="http://schemas.microsoft.com/office/drawing/2014/main" id="{F49188AE-5081-41D7-BF3F-6ADF86C6F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9000" y="1438205"/>
            <a:ext cx="16078200" cy="7781995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en-US" altLang="ko-KR" sz="3600" dirty="0"/>
              <a:t>82</a:t>
            </a:r>
            <a:r>
              <a:rPr lang="ko-KR" altLang="en-US" sz="3600" dirty="0"/>
              <a:t>학번 </a:t>
            </a:r>
            <a:r>
              <a:rPr lang="en-US" altLang="ko-KR" sz="3600" dirty="0"/>
              <a:t>(</a:t>
            </a:r>
            <a:r>
              <a:rPr lang="ko-KR" altLang="en-US" sz="3600" dirty="0"/>
              <a:t>전자공학</a:t>
            </a:r>
            <a:r>
              <a:rPr lang="en-US" altLang="ko-KR" sz="3600" dirty="0"/>
              <a:t>)</a:t>
            </a:r>
          </a:p>
          <a:p>
            <a:pPr eaLnBrk="1" hangingPunct="1">
              <a:defRPr/>
            </a:pPr>
            <a:r>
              <a:rPr lang="en-US" altLang="ko-KR" sz="3600" dirty="0"/>
              <a:t>Apple-II PC (8bits machine)</a:t>
            </a:r>
          </a:p>
          <a:p>
            <a:pPr lvl="1">
              <a:defRPr/>
            </a:pPr>
            <a:r>
              <a:rPr lang="ko-KR" altLang="en-US" sz="3316" dirty="0"/>
              <a:t>플로피</a:t>
            </a:r>
            <a:r>
              <a:rPr lang="en-US" altLang="ko-KR" sz="3316" dirty="0"/>
              <a:t> </a:t>
            </a:r>
            <a:r>
              <a:rPr lang="ko-KR" altLang="en-US" sz="3316" dirty="0"/>
              <a:t>디스크로 </a:t>
            </a:r>
            <a:r>
              <a:rPr lang="en-US" altLang="ko-KR" sz="3316" dirty="0"/>
              <a:t>booting, </a:t>
            </a:r>
            <a:r>
              <a:rPr lang="ko-KR" altLang="en-US" sz="3316" dirty="0"/>
              <a:t>커서가 깜빡이면 살아 있다는</a:t>
            </a:r>
            <a:r>
              <a:rPr lang="en-US" altLang="ko-KR" sz="3316" dirty="0"/>
              <a:t>…</a:t>
            </a:r>
          </a:p>
          <a:p>
            <a:pPr lvl="1">
              <a:defRPr/>
            </a:pPr>
            <a:r>
              <a:rPr lang="en-US" altLang="ko-KR" sz="3316" dirty="0"/>
              <a:t>6502 CPU Assembly Coding, MS BASIC programming</a:t>
            </a:r>
          </a:p>
          <a:p>
            <a:pPr eaLnBrk="1" hangingPunct="1">
              <a:defRPr/>
            </a:pPr>
            <a:r>
              <a:rPr lang="en-US" altLang="ko-KR" sz="3600" dirty="0"/>
              <a:t>IBM PC 286(?) – C</a:t>
            </a:r>
            <a:r>
              <a:rPr lang="ko-KR" altLang="en-US" sz="3600" dirty="0"/>
              <a:t>언어 프로그래밍 </a:t>
            </a:r>
            <a:r>
              <a:rPr lang="en-US" altLang="ko-KR" sz="3600" dirty="0"/>
              <a:t>(2</a:t>
            </a:r>
            <a:r>
              <a:rPr lang="ko-KR" altLang="en-US" sz="3600" dirty="0"/>
              <a:t>주 독학 투자로</a:t>
            </a:r>
            <a:r>
              <a:rPr lang="en-US" altLang="ko-KR" sz="3600" dirty="0"/>
              <a:t>, 20</a:t>
            </a:r>
            <a:r>
              <a:rPr lang="ko-KR" altLang="en-US" sz="3600" dirty="0"/>
              <a:t>년 간 </a:t>
            </a:r>
            <a:r>
              <a:rPr lang="ko-KR" altLang="en-US" sz="3600" dirty="0" err="1"/>
              <a:t>밥벌어</a:t>
            </a:r>
            <a:r>
              <a:rPr lang="ko-KR" altLang="en-US" sz="3600" dirty="0"/>
              <a:t> 먹음</a:t>
            </a:r>
            <a:r>
              <a:rPr lang="en-US" altLang="ko-KR" sz="3600" dirty="0"/>
              <a:t>)</a:t>
            </a:r>
          </a:p>
          <a:p>
            <a:pPr eaLnBrk="1" hangingPunct="1">
              <a:defRPr/>
            </a:pPr>
            <a:r>
              <a:rPr lang="en-US" altLang="ko-KR" sz="3600" dirty="0"/>
              <a:t>System SW – RTOS + CDMA</a:t>
            </a:r>
            <a:r>
              <a:rPr lang="ko-KR" altLang="en-US" sz="3600" dirty="0"/>
              <a:t> 이동통신 시스템 개발 </a:t>
            </a:r>
            <a:r>
              <a:rPr lang="en-US" altLang="ko-KR" sz="3600" dirty="0"/>
              <a:t>(2G ~ 5G)</a:t>
            </a:r>
          </a:p>
          <a:p>
            <a:pPr eaLnBrk="1" hangingPunct="1">
              <a:defRPr/>
            </a:pPr>
            <a:r>
              <a:rPr lang="en-US" altLang="ko-KR" sz="3600" dirty="0"/>
              <a:t>Scala,  Go Programming</a:t>
            </a:r>
          </a:p>
          <a:p>
            <a:pPr eaLnBrk="1" hangingPunct="1">
              <a:defRPr/>
            </a:pPr>
            <a:r>
              <a:rPr lang="en-US" altLang="ko-KR" sz="3600" dirty="0"/>
              <a:t>2025</a:t>
            </a:r>
            <a:r>
              <a:rPr lang="ko-KR" altLang="en-US" sz="3600" dirty="0"/>
              <a:t>년 </a:t>
            </a:r>
            <a:r>
              <a:rPr lang="ko-KR" altLang="en-US" sz="3600" dirty="0" err="1"/>
              <a:t>우송대</a:t>
            </a:r>
            <a:r>
              <a:rPr lang="ko-KR" altLang="en-US" sz="3600" dirty="0"/>
              <a:t> 생활 시작 </a:t>
            </a:r>
            <a:r>
              <a:rPr lang="en-US" altLang="ko-KR" sz="3600" dirty="0">
                <a:sym typeface="Wingdings" panose="05000000000000000000" pitchFamily="2" charset="2"/>
              </a:rPr>
              <a:t> AI study started!</a:t>
            </a:r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49459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3BCE7-5BB0-4AA4-B4A9-7DBC189FD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팀 소개</a:t>
            </a:r>
            <a:r>
              <a:rPr lang="en-US" altLang="ko-KR"/>
              <a:t>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ED88CC-0213-400C-AFD4-347D4E752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32" y="1437549"/>
            <a:ext cx="16515163" cy="6959213"/>
          </a:xfrm>
        </p:spPr>
        <p:txBody>
          <a:bodyPr/>
          <a:lstStyle/>
          <a:p>
            <a:r>
              <a:rPr lang="ko-KR" altLang="en-US" dirty="0"/>
              <a:t>팀별 작업 토의 및 세미나</a:t>
            </a:r>
            <a:r>
              <a:rPr lang="en-US" altLang="ko-KR" dirty="0"/>
              <a:t>…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함께 배워가는 수업이 될 수 있도록 부탁드립니다</a:t>
            </a:r>
            <a:r>
              <a:rPr lang="en-US" altLang="ko-KR" dirty="0"/>
              <a:t>~~</a:t>
            </a:r>
          </a:p>
          <a:p>
            <a:pPr marL="0" indent="0">
              <a:buNone/>
            </a:pPr>
            <a:endParaRPr lang="en-US" altLang="ko-KR" dirty="0"/>
          </a:p>
          <a:p>
            <a:pPr lvl="1"/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D97050B-E18F-4128-9A41-723BD7C0D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108991"/>
              </p:ext>
            </p:extLst>
          </p:nvPr>
        </p:nvGraphicFramePr>
        <p:xfrm>
          <a:off x="1041400" y="2488029"/>
          <a:ext cx="14610914" cy="2936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385">
                  <a:extLst>
                    <a:ext uri="{9D8B030D-6E8A-4147-A177-3AD203B41FA5}">
                      <a16:colId xmlns:a16="http://schemas.microsoft.com/office/drawing/2014/main" val="3349199874"/>
                    </a:ext>
                  </a:extLst>
                </a:gridCol>
                <a:gridCol w="1807841">
                  <a:extLst>
                    <a:ext uri="{9D8B030D-6E8A-4147-A177-3AD203B41FA5}">
                      <a16:colId xmlns:a16="http://schemas.microsoft.com/office/drawing/2014/main" val="809526661"/>
                    </a:ext>
                  </a:extLst>
                </a:gridCol>
                <a:gridCol w="1810928">
                  <a:extLst>
                    <a:ext uri="{9D8B030D-6E8A-4147-A177-3AD203B41FA5}">
                      <a16:colId xmlns:a16="http://schemas.microsoft.com/office/drawing/2014/main" val="4124567528"/>
                    </a:ext>
                  </a:extLst>
                </a:gridCol>
                <a:gridCol w="9391760">
                  <a:extLst>
                    <a:ext uri="{9D8B030D-6E8A-4147-A177-3AD203B41FA5}">
                      <a16:colId xmlns:a16="http://schemas.microsoft.com/office/drawing/2014/main" val="2138575229"/>
                    </a:ext>
                  </a:extLst>
                </a:gridCol>
              </a:tblGrid>
              <a:tr h="58729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3200" u="none" strike="noStrike">
                          <a:effectLst/>
                        </a:rPr>
                        <a:t>김민수</a:t>
                      </a:r>
                      <a:endParaRPr lang="ko-KR" altLang="en-US" sz="3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u="none" strike="noStrike">
                          <a:effectLst/>
                        </a:rPr>
                        <a:t>Hire Me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3200" u="none" strike="noStrike" dirty="0">
                          <a:effectLst/>
                        </a:rPr>
                        <a:t>5</a:t>
                      </a:r>
                      <a:r>
                        <a:rPr lang="ko-KR" altLang="en-US" sz="3200" u="none" strike="noStrike" dirty="0">
                          <a:effectLst/>
                        </a:rPr>
                        <a:t>명</a:t>
                      </a:r>
                      <a:endParaRPr lang="ko-KR" alt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34" marR="25534" marT="25534" marB="0" anchor="b"/>
                </a:tc>
                <a:extLst>
                  <a:ext uri="{0D108BD9-81ED-4DB2-BD59-A6C34878D82A}">
                    <a16:rowId xmlns:a16="http://schemas.microsoft.com/office/drawing/2014/main" val="778399008"/>
                  </a:ext>
                </a:extLst>
              </a:tr>
              <a:tr h="58729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3200" u="none" strike="noStrike">
                          <a:effectLst/>
                        </a:rPr>
                        <a:t>김아영</a:t>
                      </a:r>
                      <a:endParaRPr lang="ko-KR" altLang="en-US" sz="3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3200" u="none" strike="noStrike">
                          <a:effectLst/>
                        </a:rPr>
                        <a:t>코드렌즈</a:t>
                      </a:r>
                      <a:endParaRPr lang="ko-KR" altLang="en-US" sz="3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3200" u="none" strike="noStrike" dirty="0">
                          <a:effectLst/>
                        </a:rPr>
                        <a:t>5</a:t>
                      </a:r>
                      <a:r>
                        <a:rPr lang="ko-KR" altLang="en-US" sz="3200" u="none" strike="noStrike" dirty="0">
                          <a:effectLst/>
                        </a:rPr>
                        <a:t>명</a:t>
                      </a:r>
                      <a:endParaRPr lang="ko-KR" alt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34" marR="25534" marT="25534" marB="0" anchor="b"/>
                </a:tc>
                <a:extLst>
                  <a:ext uri="{0D108BD9-81ED-4DB2-BD59-A6C34878D82A}">
                    <a16:rowId xmlns:a16="http://schemas.microsoft.com/office/drawing/2014/main" val="3370645306"/>
                  </a:ext>
                </a:extLst>
              </a:tr>
              <a:tr h="58729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3200" u="none" strike="noStrike">
                          <a:effectLst/>
                        </a:rPr>
                        <a:t>주시호</a:t>
                      </a:r>
                      <a:endParaRPr lang="ko-KR" altLang="en-US" sz="3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u="none" strike="noStrike">
                          <a:effectLst/>
                        </a:rPr>
                        <a:t>Foodata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3200" u="none" strike="noStrike" dirty="0">
                          <a:effectLst/>
                        </a:rPr>
                        <a:t>6</a:t>
                      </a:r>
                      <a:r>
                        <a:rPr lang="ko-KR" altLang="en-US" sz="3200" u="none" strike="noStrike" dirty="0">
                          <a:effectLst/>
                        </a:rPr>
                        <a:t>명</a:t>
                      </a:r>
                      <a:endParaRPr lang="ko-KR" alt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34" marR="25534" marT="25534" marB="0" anchor="b"/>
                </a:tc>
                <a:extLst>
                  <a:ext uri="{0D108BD9-81ED-4DB2-BD59-A6C34878D82A}">
                    <a16:rowId xmlns:a16="http://schemas.microsoft.com/office/drawing/2014/main" val="1990443329"/>
                  </a:ext>
                </a:extLst>
              </a:tr>
              <a:tr h="58729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3200" u="none" strike="noStrike">
                          <a:effectLst/>
                        </a:rPr>
                        <a:t>김진성</a:t>
                      </a:r>
                      <a:endParaRPr lang="ko-KR" altLang="en-US" sz="3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u="none" strike="noStrike" dirty="0">
                          <a:effectLst/>
                        </a:rPr>
                        <a:t>CERTY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3200" u="none" strike="noStrike" dirty="0">
                          <a:effectLst/>
                        </a:rPr>
                        <a:t>4</a:t>
                      </a:r>
                      <a:r>
                        <a:rPr lang="ko-KR" altLang="en-US" sz="3200" u="none" strike="noStrike" dirty="0">
                          <a:effectLst/>
                        </a:rPr>
                        <a:t>명</a:t>
                      </a:r>
                      <a:endParaRPr lang="ko-KR" alt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534" marR="25534" marT="25534" marB="0" anchor="b"/>
                </a:tc>
                <a:extLst>
                  <a:ext uri="{0D108BD9-81ED-4DB2-BD59-A6C34878D82A}">
                    <a16:rowId xmlns:a16="http://schemas.microsoft.com/office/drawing/2014/main" val="3013113996"/>
                  </a:ext>
                </a:extLst>
              </a:tr>
              <a:tr h="58729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3200" u="none" strike="noStrike">
                          <a:effectLst/>
                        </a:rPr>
                        <a:t>정서원</a:t>
                      </a:r>
                      <a:endParaRPr lang="ko-KR" altLang="en-US" sz="3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3200" u="none" strike="noStrike">
                          <a:effectLst/>
                        </a:rPr>
                        <a:t>배워가며</a:t>
                      </a:r>
                      <a:endParaRPr lang="ko-KR" altLang="en-US" sz="3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3200" u="none" strike="noStrike" dirty="0">
                          <a:effectLst/>
                        </a:rPr>
                        <a:t>3</a:t>
                      </a:r>
                      <a:r>
                        <a:rPr lang="ko-KR" altLang="en-US" sz="3200" u="none" strike="noStrike" dirty="0">
                          <a:effectLst/>
                        </a:rPr>
                        <a:t>명</a:t>
                      </a:r>
                      <a:endParaRPr lang="ko-KR" alt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534" marR="25534" marT="255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534" marR="25534" marT="25534" marB="0" anchor="b"/>
                </a:tc>
                <a:extLst>
                  <a:ext uri="{0D108BD9-81ED-4DB2-BD59-A6C34878D82A}">
                    <a16:rowId xmlns:a16="http://schemas.microsoft.com/office/drawing/2014/main" val="1291884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825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37E9BFF7-5BD7-46DE-A145-76BB849D63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6600" y="309314"/>
            <a:ext cx="10753796" cy="525208"/>
          </a:xfrm>
        </p:spPr>
        <p:txBody>
          <a:bodyPr/>
          <a:lstStyle/>
          <a:p>
            <a:pPr eaLnBrk="1" hangingPunct="1"/>
            <a:r>
              <a:rPr lang="ko-KR" altLang="en-US" dirty="0"/>
              <a:t>중심 축의 </a:t>
            </a:r>
            <a:r>
              <a:rPr lang="en-US" altLang="ko-KR" dirty="0"/>
              <a:t>Shift (</a:t>
            </a:r>
            <a:r>
              <a:rPr lang="ko-KR" altLang="en-US" dirty="0"/>
              <a:t>변화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315" name="내용 개체 틀 1">
            <a:extLst>
              <a:ext uri="{FF2B5EF4-FFF2-40B4-BE49-F238E27FC236}">
                <a16:creationId xmlns:a16="http://schemas.microsoft.com/office/drawing/2014/main" id="{F49188AE-5081-41D7-BF3F-6ADF86C6F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9000" y="1438205"/>
            <a:ext cx="14057489" cy="1000195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en-US" altLang="ko-KR" dirty="0"/>
              <a:t>SW</a:t>
            </a:r>
            <a:r>
              <a:rPr lang="ko-KR" altLang="en-US" dirty="0"/>
              <a:t> 서비스 중심 </a:t>
            </a:r>
            <a:r>
              <a:rPr lang="en-US" altLang="ko-KR" dirty="0">
                <a:sym typeface="Wingdings" panose="05000000000000000000" pitchFamily="2" charset="2"/>
              </a:rPr>
              <a:t> AI </a:t>
            </a:r>
            <a:r>
              <a:rPr lang="ko-KR" altLang="en-US" dirty="0">
                <a:sym typeface="Wingdings" panose="05000000000000000000" pitchFamily="2" charset="2"/>
              </a:rPr>
              <a:t>중심의 세계가 되었다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</p:txBody>
      </p:sp>
      <p:pic>
        <p:nvPicPr>
          <p:cNvPr id="13316" name="그림 1">
            <a:extLst>
              <a:ext uri="{FF2B5EF4-FFF2-40B4-BE49-F238E27FC236}">
                <a16:creationId xmlns:a16="http://schemas.microsoft.com/office/drawing/2014/main" id="{138C7AFC-1160-4363-B3B2-27C51B109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3042083"/>
            <a:ext cx="7475502" cy="5488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E905375-7220-4EBC-A426-59F9C0DF9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3029383"/>
            <a:ext cx="7483869" cy="548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74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37E9BFF7-5BD7-46DE-A145-76BB849D63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6600" y="309314"/>
            <a:ext cx="10753796" cy="525208"/>
          </a:xfrm>
        </p:spPr>
        <p:txBody>
          <a:bodyPr/>
          <a:lstStyle/>
          <a:p>
            <a:pPr eaLnBrk="1" hangingPunct="1"/>
            <a:r>
              <a:rPr lang="ko-KR" altLang="en-US" dirty="0"/>
              <a:t>중심 축의 </a:t>
            </a:r>
            <a:r>
              <a:rPr lang="en-US" altLang="ko-KR" dirty="0"/>
              <a:t>Shift (</a:t>
            </a:r>
            <a:r>
              <a:rPr lang="ko-KR" altLang="en-US" dirty="0"/>
              <a:t>변화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315" name="내용 개체 틀 1">
            <a:extLst>
              <a:ext uri="{FF2B5EF4-FFF2-40B4-BE49-F238E27FC236}">
                <a16:creationId xmlns:a16="http://schemas.microsoft.com/office/drawing/2014/main" id="{F49188AE-5081-41D7-BF3F-6ADF86C6F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9001" y="1438205"/>
            <a:ext cx="7391399" cy="5038795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en-US" altLang="ko-KR" dirty="0"/>
              <a:t>HOW – coding</a:t>
            </a:r>
            <a:r>
              <a:rPr lang="ko-KR" altLang="en-US" dirty="0"/>
              <a:t>의 중요성은 사라졌다</a:t>
            </a:r>
            <a:r>
              <a:rPr lang="en-US" altLang="ko-KR" dirty="0"/>
              <a:t>.</a:t>
            </a:r>
          </a:p>
          <a:p>
            <a:pPr eaLnBrk="1" hangingPunct="1">
              <a:defRPr/>
            </a:pPr>
            <a:r>
              <a:rPr lang="en-US" altLang="ko-KR" dirty="0"/>
              <a:t>WHAT – AI</a:t>
            </a:r>
            <a:r>
              <a:rPr lang="ko-KR" altLang="en-US" dirty="0"/>
              <a:t>와 같이 이해하고 발전시켜 나갈 수 있는 </a:t>
            </a:r>
            <a:r>
              <a:rPr lang="en-US" altLang="ko-KR" dirty="0"/>
              <a:t>‘System Design Spec’</a:t>
            </a:r>
            <a:r>
              <a:rPr lang="ko-KR" altLang="en-US" dirty="0"/>
              <a:t>이 중요해짐</a:t>
            </a:r>
            <a:r>
              <a:rPr lang="en-US" altLang="ko-KR" dirty="0"/>
              <a:t>.</a:t>
            </a:r>
          </a:p>
          <a:p>
            <a:pPr eaLnBrk="1" hangingPunct="1">
              <a:defRPr/>
            </a:pPr>
            <a:r>
              <a:rPr lang="en-US" altLang="ko-KR" dirty="0"/>
              <a:t>WHY – </a:t>
            </a:r>
            <a:r>
              <a:rPr lang="ko-KR" altLang="en-US" dirty="0"/>
              <a:t>유일한</a:t>
            </a:r>
            <a:r>
              <a:rPr lang="en-US" altLang="ko-KR" dirty="0"/>
              <a:t> </a:t>
            </a:r>
            <a:r>
              <a:rPr lang="ko-KR" altLang="en-US" dirty="0"/>
              <a:t>병목은 인간의 의도</a:t>
            </a:r>
            <a:r>
              <a:rPr lang="en-US" altLang="ko-KR" dirty="0"/>
              <a:t>, </a:t>
            </a:r>
            <a:r>
              <a:rPr lang="ko-KR" altLang="en-US" dirty="0"/>
              <a:t>책임의식</a:t>
            </a:r>
            <a:r>
              <a:rPr lang="en-US" altLang="ko-KR" dirty="0"/>
              <a:t>, </a:t>
            </a:r>
            <a:r>
              <a:rPr lang="ko-KR" altLang="en-US" dirty="0"/>
              <a:t>그리고 최초의 아이디어</a:t>
            </a:r>
            <a:r>
              <a:rPr lang="en-US" altLang="ko-KR" dirty="0"/>
              <a:t>.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이건 </a:t>
            </a:r>
            <a:r>
              <a:rPr lang="en-US" altLang="ko-KR" dirty="0">
                <a:sym typeface="Wingdings" panose="05000000000000000000" pitchFamily="2" charset="2"/>
              </a:rPr>
              <a:t>AI</a:t>
            </a:r>
            <a:r>
              <a:rPr lang="ko-KR" altLang="en-US" dirty="0">
                <a:sym typeface="Wingdings" panose="05000000000000000000" pitchFamily="2" charset="2"/>
              </a:rPr>
              <a:t>가 결코 대신할 수 없다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905375-7220-4EBC-A426-59F9C0DF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0" y="3029383"/>
            <a:ext cx="7483869" cy="548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10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37E9BFF7-5BD7-46DE-A145-76BB849D63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6600" y="309314"/>
            <a:ext cx="10753796" cy="525208"/>
          </a:xfrm>
        </p:spPr>
        <p:txBody>
          <a:bodyPr/>
          <a:lstStyle/>
          <a:p>
            <a:pPr eaLnBrk="1" hangingPunct="1"/>
            <a:r>
              <a:rPr lang="ko-KR" altLang="en-US" dirty="0"/>
              <a:t>근본적으로 무엇이 달라졌는가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3315" name="내용 개체 틀 1">
            <a:extLst>
              <a:ext uri="{FF2B5EF4-FFF2-40B4-BE49-F238E27FC236}">
                <a16:creationId xmlns:a16="http://schemas.microsoft.com/office/drawing/2014/main" id="{F49188AE-5081-41D7-BF3F-6ADF86C6F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9000" y="1438205"/>
            <a:ext cx="8458199" cy="8315395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ko-KR" altLang="en-US" dirty="0"/>
              <a:t>기존 </a:t>
            </a:r>
            <a:r>
              <a:rPr lang="en-US" altLang="ko-KR" dirty="0"/>
              <a:t>CPU </a:t>
            </a:r>
            <a:r>
              <a:rPr lang="ko-KR" altLang="en-US" dirty="0"/>
              <a:t>및 </a:t>
            </a:r>
            <a:r>
              <a:rPr lang="en-US" altLang="ko-KR" dirty="0"/>
              <a:t>API </a:t>
            </a:r>
            <a:r>
              <a:rPr lang="ko-KR" altLang="en-US" dirty="0"/>
              <a:t>중심 </a:t>
            </a:r>
            <a:r>
              <a:rPr lang="en-US" altLang="ko-KR" dirty="0"/>
              <a:t>SW </a:t>
            </a:r>
            <a:r>
              <a:rPr lang="ko-KR" altLang="en-US" dirty="0"/>
              <a:t>개발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Input / output </a:t>
            </a:r>
            <a:r>
              <a:rPr lang="ko-KR" altLang="en-US" dirty="0"/>
              <a:t>이 명확하다</a:t>
            </a:r>
            <a:r>
              <a:rPr lang="en-US" altLang="ko-KR" dirty="0"/>
              <a:t>.</a:t>
            </a:r>
          </a:p>
          <a:p>
            <a:pPr lvl="1">
              <a:defRPr/>
            </a:pPr>
            <a:r>
              <a:rPr lang="ko-KR" altLang="en-US" dirty="0"/>
              <a:t>객체</a:t>
            </a:r>
            <a:r>
              <a:rPr lang="en-US" altLang="ko-KR" dirty="0"/>
              <a:t>, </a:t>
            </a:r>
            <a:r>
              <a:rPr lang="ko-KR" altLang="en-US" dirty="0"/>
              <a:t>함수</a:t>
            </a:r>
            <a:r>
              <a:rPr lang="en-US" altLang="ko-KR" dirty="0"/>
              <a:t>, </a:t>
            </a:r>
            <a:r>
              <a:rPr lang="ko-KR" altLang="en-US" dirty="0"/>
              <a:t>모듈</a:t>
            </a:r>
            <a:r>
              <a:rPr lang="en-US" altLang="ko-KR" dirty="0"/>
              <a:t>, </a:t>
            </a:r>
            <a:r>
              <a:rPr lang="ko-KR" altLang="en-US" dirty="0"/>
              <a:t>라이브러리 등 </a:t>
            </a:r>
            <a:r>
              <a:rPr lang="en-US" altLang="ko-KR" dirty="0"/>
              <a:t>API </a:t>
            </a:r>
            <a:r>
              <a:rPr lang="ko-KR" altLang="en-US" dirty="0"/>
              <a:t>파악이 중요</a:t>
            </a:r>
            <a:endParaRPr lang="en-US" altLang="ko-KR" dirty="0"/>
          </a:p>
          <a:p>
            <a:pPr lvl="1">
              <a:defRPr/>
            </a:pPr>
            <a:r>
              <a:rPr lang="ko-KR" altLang="en-US" b="1" dirty="0">
                <a:solidFill>
                  <a:srgbClr val="C00000"/>
                </a:solidFill>
              </a:rPr>
              <a:t>테스트는 </a:t>
            </a:r>
            <a:r>
              <a:rPr lang="en-US" altLang="ko-KR" b="1" dirty="0">
                <a:solidFill>
                  <a:srgbClr val="C00000"/>
                </a:solidFill>
              </a:rPr>
              <a:t>pass/fail </a:t>
            </a:r>
            <a:r>
              <a:rPr lang="ko-KR" altLang="en-US" b="1" dirty="0">
                <a:solidFill>
                  <a:srgbClr val="C00000"/>
                </a:solidFill>
              </a:rPr>
              <a:t>로 판정</a:t>
            </a:r>
            <a:endParaRPr lang="en-US" altLang="ko-KR" b="1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ko-KR" altLang="en-US" dirty="0"/>
              <a:t>팀원이 많으면</a:t>
            </a:r>
            <a:r>
              <a:rPr lang="en-US" altLang="ko-KR" dirty="0"/>
              <a:t>, </a:t>
            </a:r>
            <a:r>
              <a:rPr lang="ko-KR" altLang="en-US" dirty="0"/>
              <a:t>개발도 빠르고 품질도 좋아진다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GPU/NPU/TPU </a:t>
            </a:r>
            <a:r>
              <a:rPr lang="ko-KR" altLang="en-US" dirty="0"/>
              <a:t>및 </a:t>
            </a:r>
            <a:r>
              <a:rPr lang="en-US" altLang="ko-KR" dirty="0"/>
              <a:t>LLM </a:t>
            </a:r>
            <a:r>
              <a:rPr lang="ko-KR" altLang="en-US" dirty="0"/>
              <a:t>중심 </a:t>
            </a:r>
            <a:r>
              <a:rPr lang="en-US" altLang="ko-KR" dirty="0"/>
              <a:t>SW </a:t>
            </a:r>
            <a:r>
              <a:rPr lang="ko-KR" altLang="en-US" dirty="0"/>
              <a:t>개발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여전히 </a:t>
            </a:r>
            <a:r>
              <a:rPr lang="en-US" altLang="ko-KR" dirty="0"/>
              <a:t>SW </a:t>
            </a:r>
            <a:r>
              <a:rPr lang="ko-KR" altLang="en-US" dirty="0"/>
              <a:t>엔지니어링 기술은 필요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Coding Agent </a:t>
            </a:r>
            <a:r>
              <a:rPr lang="ko-KR" altLang="en-US" dirty="0"/>
              <a:t>기술 발달로</a:t>
            </a:r>
            <a:r>
              <a:rPr lang="en-US" altLang="ko-KR" dirty="0"/>
              <a:t>, Coding</a:t>
            </a:r>
            <a:r>
              <a:rPr lang="ko-KR" altLang="en-US" dirty="0"/>
              <a:t> 분야에서 </a:t>
            </a:r>
            <a:r>
              <a:rPr lang="en-US" altLang="ko-KR" dirty="0"/>
              <a:t>AI </a:t>
            </a:r>
            <a:r>
              <a:rPr lang="ko-KR" altLang="en-US" dirty="0"/>
              <a:t>활용이 대세로 자리잡음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Coding</a:t>
            </a:r>
            <a:r>
              <a:rPr lang="ko-KR" altLang="en-US" dirty="0"/>
              <a:t> 분야에서의 </a:t>
            </a:r>
            <a:r>
              <a:rPr lang="en-US" altLang="ko-KR" dirty="0"/>
              <a:t>AI </a:t>
            </a:r>
            <a:r>
              <a:rPr lang="ko-KR" altLang="en-US" dirty="0"/>
              <a:t>활용 성공 법칙이 디자인</a:t>
            </a:r>
            <a:r>
              <a:rPr lang="en-US" altLang="ko-KR" dirty="0"/>
              <a:t>, </a:t>
            </a:r>
            <a:r>
              <a:rPr lang="ko-KR" altLang="en-US" dirty="0"/>
              <a:t>금융</a:t>
            </a:r>
            <a:r>
              <a:rPr lang="en-US" altLang="ko-KR" dirty="0"/>
              <a:t>, </a:t>
            </a:r>
            <a:r>
              <a:rPr lang="ko-KR" altLang="en-US" dirty="0"/>
              <a:t>법률</a:t>
            </a:r>
            <a:r>
              <a:rPr lang="en-US" altLang="ko-KR" dirty="0"/>
              <a:t>, </a:t>
            </a:r>
            <a:r>
              <a:rPr lang="ko-KR" altLang="en-US" dirty="0"/>
              <a:t>모든 일상의 구석구석으로 확대되어 적용되는 중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그러나</a:t>
            </a:r>
            <a:r>
              <a:rPr lang="en-US" altLang="ko-KR" dirty="0"/>
              <a:t>, LLM</a:t>
            </a:r>
            <a:r>
              <a:rPr lang="ko-KR" altLang="en-US" dirty="0"/>
              <a:t>의 응답은 근본적으로 확률적이다</a:t>
            </a:r>
            <a:r>
              <a:rPr lang="en-US" altLang="ko-KR" dirty="0"/>
              <a:t>. </a:t>
            </a:r>
          </a:p>
          <a:p>
            <a:pPr lvl="1">
              <a:defRPr/>
            </a:pPr>
            <a:r>
              <a:rPr lang="en-US" altLang="ko-KR" dirty="0"/>
              <a:t>LLM</a:t>
            </a:r>
            <a:r>
              <a:rPr lang="ko-KR" altLang="en-US" dirty="0"/>
              <a:t>의 지능을 </a:t>
            </a:r>
            <a:r>
              <a:rPr lang="en-US" altLang="ko-KR" dirty="0"/>
              <a:t>100% </a:t>
            </a:r>
            <a:r>
              <a:rPr lang="ko-KR" altLang="en-US" dirty="0"/>
              <a:t>활용하는 방법은 기존의</a:t>
            </a:r>
            <a:r>
              <a:rPr lang="en-US" altLang="ko-KR" dirty="0"/>
              <a:t> SW </a:t>
            </a:r>
            <a:r>
              <a:rPr lang="ko-KR" altLang="en-US" dirty="0"/>
              <a:t>엔지니어링 기술과는 전혀 다르다</a:t>
            </a:r>
            <a:r>
              <a:rPr lang="en-US" altLang="ko-KR" dirty="0"/>
              <a:t>.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C00000"/>
                </a:solidFill>
              </a:rPr>
              <a:t>Evaluation</a:t>
            </a:r>
            <a:r>
              <a:rPr lang="ko-KR" altLang="en-US" b="1" dirty="0">
                <a:solidFill>
                  <a:srgbClr val="C00000"/>
                </a:solidFill>
              </a:rPr>
              <a:t>이 중요</a:t>
            </a:r>
            <a:r>
              <a:rPr lang="en-US" altLang="ko-KR" b="1" dirty="0">
                <a:solidFill>
                  <a:srgbClr val="C00000"/>
                </a:solidFill>
              </a:rPr>
              <a:t>. (</a:t>
            </a:r>
            <a:r>
              <a:rPr lang="ko-KR" altLang="en-US" b="1" dirty="0">
                <a:solidFill>
                  <a:srgbClr val="C00000"/>
                </a:solidFill>
              </a:rPr>
              <a:t>성능 평가</a:t>
            </a:r>
            <a:r>
              <a:rPr lang="en-US" altLang="ko-KR" b="1" dirty="0">
                <a:solidFill>
                  <a:srgbClr val="C00000"/>
                </a:solidFill>
              </a:rPr>
              <a:t>)</a:t>
            </a:r>
          </a:p>
          <a:p>
            <a:pPr lvl="1">
              <a:defRPr/>
            </a:pPr>
            <a:r>
              <a:rPr lang="ko-KR" altLang="en-US" b="1" dirty="0">
                <a:solidFill>
                  <a:srgbClr val="C00000"/>
                </a:solidFill>
              </a:rPr>
              <a:t>팀원 수보다는 </a:t>
            </a:r>
            <a:r>
              <a:rPr lang="en-US" altLang="ko-KR" b="1" dirty="0">
                <a:solidFill>
                  <a:srgbClr val="C00000"/>
                </a:solidFill>
              </a:rPr>
              <a:t>AI </a:t>
            </a:r>
            <a:r>
              <a:rPr lang="ko-KR" altLang="en-US" b="1" dirty="0">
                <a:solidFill>
                  <a:srgbClr val="C00000"/>
                </a:solidFill>
              </a:rPr>
              <a:t>활용 능력이 더욱 중요</a:t>
            </a:r>
            <a:r>
              <a:rPr lang="en-US" altLang="ko-KR" b="1" dirty="0">
                <a:solidFill>
                  <a:srgbClr val="C00000"/>
                </a:solidFill>
              </a:rPr>
              <a:t>!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905375-7220-4EBC-A426-59F9C0DF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731" y="3029383"/>
            <a:ext cx="7483869" cy="548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17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2DA8D-F529-4F0E-8D1D-68E3CF0D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55" y="148258"/>
            <a:ext cx="14449605" cy="677108"/>
          </a:xfrm>
        </p:spPr>
        <p:txBody>
          <a:bodyPr/>
          <a:lstStyle/>
          <a:p>
            <a:r>
              <a:rPr lang="en-US" altLang="ko-KR" sz="4400" dirty="0"/>
              <a:t>LLM </a:t>
            </a:r>
            <a:r>
              <a:rPr lang="ko-KR" altLang="en-US" sz="4400" dirty="0"/>
              <a:t>모습 </a:t>
            </a:r>
            <a:r>
              <a:rPr lang="en-US" altLang="ko-KR" sz="4400" dirty="0"/>
              <a:t>(</a:t>
            </a:r>
            <a:r>
              <a:rPr lang="ko-KR" altLang="en-US" sz="4400" dirty="0"/>
              <a:t>토큰 경제학</a:t>
            </a:r>
            <a:r>
              <a:rPr lang="en-US" altLang="ko-KR" sz="4400" dirty="0"/>
              <a:t>, </a:t>
            </a:r>
            <a:r>
              <a:rPr lang="ko-KR" altLang="en-US" sz="4400" dirty="0"/>
              <a:t>토근 엔지니어링</a:t>
            </a:r>
            <a:r>
              <a:rPr lang="en-US" altLang="ko-KR" sz="4400" dirty="0"/>
              <a:t>)</a:t>
            </a:r>
            <a:endParaRPr lang="ko-KR" altLang="en-US" sz="4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9E29DA-A32E-4F12-A248-E0229B53B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" y="2057400"/>
            <a:ext cx="17266975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11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39DD4-0D5D-429D-84BE-B101EC94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시대에 개발자는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F3FAF7-F77C-4B42-B339-55948D349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1828800"/>
            <a:ext cx="13775135" cy="746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77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39DD4-0D5D-429D-84BE-B101EC94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시대에 개발자는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E22257-3B0D-4F8A-8D6A-E2137E199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08" y="2057400"/>
            <a:ext cx="17107792" cy="660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91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D65F-2F28-4E53-B88D-973A40ACC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Product </a:t>
            </a:r>
            <a:r>
              <a:rPr lang="ko-KR" altLang="en-US" dirty="0"/>
              <a:t>디자이너</a:t>
            </a:r>
            <a:r>
              <a:rPr lang="en-US" altLang="ko-KR" dirty="0"/>
              <a:t>, Product </a:t>
            </a:r>
            <a:r>
              <a:rPr lang="ko-KR" altLang="en-US" dirty="0" err="1"/>
              <a:t>빌더가</a:t>
            </a:r>
            <a:r>
              <a:rPr lang="ko-KR" altLang="en-US" dirty="0"/>
              <a:t> 필요한 시대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168B49-52DA-4451-8B25-DD18DA5DA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2514600"/>
            <a:ext cx="14581639" cy="662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43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342" y="0"/>
            <a:ext cx="17338516" cy="9752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52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342" y="0"/>
            <a:ext cx="17338516" cy="9752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52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342" y="0"/>
            <a:ext cx="17338516" cy="9752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52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911F3C9-0A25-4275-91A2-D90957976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6200" y="0"/>
            <a:ext cx="7811558" cy="922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342" y="0"/>
            <a:ext cx="17338516" cy="9752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52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499B6E95-2E6B-4E6E-8A70-9E9F471D0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600" y="1828800"/>
            <a:ext cx="8030000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342" y="0"/>
            <a:ext cx="17338516" cy="9752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52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342" y="0"/>
            <a:ext cx="17338516" cy="9752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52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342" y="0"/>
            <a:ext cx="17338516" cy="9752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52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342" y="0"/>
            <a:ext cx="17338516" cy="9752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52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40623D-0FC9-4694-9D4B-BD4AB7DB0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최상위</a:t>
            </a:r>
            <a:r>
              <a:rPr lang="en-US" altLang="ko-KR" dirty="0"/>
              <a:t> </a:t>
            </a:r>
            <a:r>
              <a:rPr lang="ko-KR" altLang="en-US" dirty="0"/>
              <a:t>지침 </a:t>
            </a:r>
            <a:r>
              <a:rPr lang="en-US" altLang="ko-KR" dirty="0"/>
              <a:t>(AGENTS.md)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5BC86B3-A1F7-435A-8385-AFC390FB4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55" y="1804736"/>
            <a:ext cx="8565322" cy="2538663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64E6AC5-1EB4-4DD9-99C3-BC8161949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905" y="3962400"/>
            <a:ext cx="939729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36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C4FC9-FA69-469B-9AEA-E6E60951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SKILL.md 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B19B36A-FE9C-41A9-A675-324C12FB1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55" y="1713394"/>
            <a:ext cx="16281400" cy="7817559"/>
          </a:xfrm>
        </p:spPr>
      </p:pic>
    </p:spTree>
    <p:extLst>
      <p:ext uri="{BB962C8B-B14F-4D97-AF65-F5344CB8AC3E}">
        <p14:creationId xmlns:p14="http://schemas.microsoft.com/office/powerpoint/2010/main" val="2468933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C4FC9-FA69-469B-9AEA-E6E60951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SKILL.md 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915E72E-E560-41B5-9D0A-904706944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709" y="1438275"/>
            <a:ext cx="14449605" cy="8142686"/>
          </a:xfrm>
        </p:spPr>
      </p:pic>
    </p:spTree>
    <p:extLst>
      <p:ext uri="{BB962C8B-B14F-4D97-AF65-F5344CB8AC3E}">
        <p14:creationId xmlns:p14="http://schemas.microsoft.com/office/powerpoint/2010/main" val="594933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C084E-2FD1-45BB-921F-C56B9D800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Sandbox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1F0E49-79D7-4DD2-BDA7-436105670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524000"/>
            <a:ext cx="14859000" cy="802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16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26733-CE6B-4098-A98B-52C8EEFDD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SKILL.md</a:t>
            </a:r>
            <a:r>
              <a:rPr lang="ko-KR" altLang="en-US" dirty="0"/>
              <a:t> 점진적 확장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880EC9E-798C-4DEB-944C-81016DEA3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371600"/>
            <a:ext cx="16188819" cy="8083153"/>
          </a:xfrm>
        </p:spPr>
      </p:pic>
    </p:spTree>
    <p:extLst>
      <p:ext uri="{BB962C8B-B14F-4D97-AF65-F5344CB8AC3E}">
        <p14:creationId xmlns:p14="http://schemas.microsoft.com/office/powerpoint/2010/main" val="3214222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090A0-4B69-424B-8181-8C7370A9A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SKILL.md</a:t>
            </a:r>
            <a:r>
              <a:rPr lang="ko-KR" altLang="en-US" dirty="0"/>
              <a:t> 점진적 확장 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446B5BF-7679-4887-BC52-514820C22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57" y="1752600"/>
            <a:ext cx="16928243" cy="5638800"/>
          </a:xfrm>
        </p:spPr>
      </p:pic>
    </p:spTree>
    <p:extLst>
      <p:ext uri="{BB962C8B-B14F-4D97-AF65-F5344CB8AC3E}">
        <p14:creationId xmlns:p14="http://schemas.microsoft.com/office/powerpoint/2010/main" val="1253794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97D71-8E85-4034-8012-64A05A0F6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SKILL.md</a:t>
            </a:r>
            <a:r>
              <a:rPr lang="ko-KR" altLang="en-US" dirty="0"/>
              <a:t> 확장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5B7E23F-6531-444F-858B-F0428A4E0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195121"/>
            <a:ext cx="12954000" cy="8558479"/>
          </a:xfrm>
        </p:spPr>
      </p:pic>
    </p:spTree>
    <p:extLst>
      <p:ext uri="{BB962C8B-B14F-4D97-AF65-F5344CB8AC3E}">
        <p14:creationId xmlns:p14="http://schemas.microsoft.com/office/powerpoint/2010/main" val="216527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6CAAF7-D5A9-4444-8C4A-F5570048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SKILL.md</a:t>
            </a:r>
            <a:r>
              <a:rPr lang="ko-KR" altLang="en-US" dirty="0"/>
              <a:t> 확장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39719BA-A2BA-4ED2-BA29-F1F013DDA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" y="1295400"/>
            <a:ext cx="14163339" cy="8458200"/>
          </a:xfrm>
        </p:spPr>
      </p:pic>
    </p:spTree>
    <p:extLst>
      <p:ext uri="{BB962C8B-B14F-4D97-AF65-F5344CB8AC3E}">
        <p14:creationId xmlns:p14="http://schemas.microsoft.com/office/powerpoint/2010/main" val="3367705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C8FFE-8B20-4732-BDB3-2F5C656E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SKILL.md</a:t>
            </a:r>
            <a:r>
              <a:rPr lang="ko-KR" altLang="en-US" dirty="0"/>
              <a:t> 확장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ECA6472-CEB0-4209-B071-9DA93B7CE5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599" y="1371600"/>
            <a:ext cx="15664405" cy="8001000"/>
          </a:xfrm>
        </p:spPr>
      </p:pic>
    </p:spTree>
    <p:extLst>
      <p:ext uri="{BB962C8B-B14F-4D97-AF65-F5344CB8AC3E}">
        <p14:creationId xmlns:p14="http://schemas.microsoft.com/office/powerpoint/2010/main" val="865501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4763D-1A81-4BFD-A82B-3DFEFE74C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SKILL.md</a:t>
            </a:r>
            <a:r>
              <a:rPr lang="ko-KR" altLang="en-US" dirty="0"/>
              <a:t> 확장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615A32F-E05B-4667-8689-43CB50278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295400"/>
            <a:ext cx="15508954" cy="8235553"/>
          </a:xfrm>
        </p:spPr>
      </p:pic>
    </p:spTree>
    <p:extLst>
      <p:ext uri="{BB962C8B-B14F-4D97-AF65-F5344CB8AC3E}">
        <p14:creationId xmlns:p14="http://schemas.microsoft.com/office/powerpoint/2010/main" val="3666076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AE693-C63C-4314-88DC-B22FE28A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메타 </a:t>
            </a:r>
            <a:r>
              <a:rPr lang="en-US" altLang="ko-KR" dirty="0"/>
              <a:t>SKILL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508682E-8824-422C-AD8E-53AEF9B35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1440084"/>
            <a:ext cx="14449605" cy="8090869"/>
          </a:xfrm>
        </p:spPr>
      </p:pic>
    </p:spTree>
    <p:extLst>
      <p:ext uri="{BB962C8B-B14F-4D97-AF65-F5344CB8AC3E}">
        <p14:creationId xmlns:p14="http://schemas.microsoft.com/office/powerpoint/2010/main" val="19698474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4CFDF-6B91-49BF-A123-BDF30D8A9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범용</a:t>
            </a:r>
            <a:r>
              <a:rPr lang="en-US" altLang="ko-KR" dirty="0"/>
              <a:t> SKILL vs Private SKILL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992F052-72FC-4FCF-A67B-F96A0BBB8B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599" y="1447800"/>
            <a:ext cx="15279839" cy="8083153"/>
          </a:xfrm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FDCEA5A3-D6C1-43D8-A8B4-9979E2978F80}"/>
              </a:ext>
            </a:extLst>
          </p:cNvPr>
          <p:cNvSpPr/>
          <p:nvPr/>
        </p:nvSpPr>
        <p:spPr>
          <a:xfrm>
            <a:off x="1270000" y="8153400"/>
            <a:ext cx="914400" cy="76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8044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B5F5A-B706-470B-8670-E233D50B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Data,</a:t>
            </a:r>
            <a:r>
              <a:rPr lang="ko-KR" altLang="en-US" dirty="0"/>
              <a:t> </a:t>
            </a:r>
            <a:r>
              <a:rPr lang="en-US" altLang="ko-KR" dirty="0"/>
              <a:t>Workflow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Documents driven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91FE115-AF2F-4347-900B-73C1BB340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1600200"/>
            <a:ext cx="13670113" cy="7391400"/>
          </a:xfrm>
        </p:spPr>
      </p:pic>
    </p:spTree>
    <p:extLst>
      <p:ext uri="{BB962C8B-B14F-4D97-AF65-F5344CB8AC3E}">
        <p14:creationId xmlns:p14="http://schemas.microsoft.com/office/powerpoint/2010/main" val="3402660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</TotalTime>
  <Words>529</Words>
  <Application>Microsoft Office PowerPoint</Application>
  <PresentationFormat>사용자 지정</PresentationFormat>
  <Paragraphs>95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3" baseType="lpstr">
      <vt:lpstr>맑은 고딕</vt:lpstr>
      <vt:lpstr>Calibri</vt:lpstr>
      <vt:lpstr>Wingdings</vt:lpstr>
      <vt:lpstr>Office Theme</vt:lpstr>
      <vt:lpstr>컴퓨터 시스템 빌드</vt:lpstr>
      <vt:lpstr>집중 프로젝트 수업 개요</vt:lpstr>
      <vt:lpstr>라떼는…</vt:lpstr>
      <vt:lpstr>[팀 소개]</vt:lpstr>
      <vt:lpstr>중심 축의 Shift (변화)</vt:lpstr>
      <vt:lpstr>중심 축의 Shift (변화)</vt:lpstr>
      <vt:lpstr>근본적으로 무엇이 달라졌는가?</vt:lpstr>
      <vt:lpstr>LLM 모습 (토큰 경제학, 토근 엔지니어링)</vt:lpstr>
      <vt:lpstr>AI 시대에 개발자는</vt:lpstr>
      <vt:lpstr>AI 시대에 개발자는 </vt:lpstr>
      <vt:lpstr>PowerPoint 프레젠테이션</vt:lpstr>
      <vt:lpstr>PowerPoint 프레젠테이션</vt:lpstr>
      <vt:lpstr>Product 디자이너, Product 빌더가 필요한 시대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최상위 지침 (AGENTS.md)</vt:lpstr>
      <vt:lpstr>SKILL.md </vt:lpstr>
      <vt:lpstr>SKILL.md </vt:lpstr>
      <vt:lpstr>Sandbox</vt:lpstr>
      <vt:lpstr>SKILL.md 점진적 확장</vt:lpstr>
      <vt:lpstr>SKILL.md 점진적 확장 </vt:lpstr>
      <vt:lpstr>SKILL.md 확장</vt:lpstr>
      <vt:lpstr>SKILL.md 확장</vt:lpstr>
      <vt:lpstr>SKILL.md 확장</vt:lpstr>
      <vt:lpstr>SKILL.md 확장</vt:lpstr>
      <vt:lpstr>메타 SKILL</vt:lpstr>
      <vt:lpstr>범용 SKILL vs Private SKILL</vt:lpstr>
      <vt:lpstr>Data, Workflow &amp; Documents driven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Native SW 개발?</dc:title>
  <cp:lastModifiedBy>Taewony Kim</cp:lastModifiedBy>
  <cp:revision>23</cp:revision>
  <dcterms:created xsi:type="dcterms:W3CDTF">2026-05-21T02:17:22Z</dcterms:created>
  <dcterms:modified xsi:type="dcterms:W3CDTF">2026-05-21T07:52:57Z</dcterms:modified>
</cp:coreProperties>
</file>