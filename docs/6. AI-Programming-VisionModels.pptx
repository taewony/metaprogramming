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43"/>
  </p:notesMasterIdLst>
  <p:handoutMasterIdLst>
    <p:handoutMasterId r:id="rId44"/>
  </p:handoutMasterIdLst>
  <p:sldIdLst>
    <p:sldId id="283" r:id="rId2"/>
    <p:sldId id="271" r:id="rId3"/>
    <p:sldId id="258" r:id="rId4"/>
    <p:sldId id="269" r:id="rId5"/>
    <p:sldId id="2147482889" r:id="rId6"/>
    <p:sldId id="263" r:id="rId7"/>
    <p:sldId id="2147482842" r:id="rId8"/>
    <p:sldId id="362" r:id="rId9"/>
    <p:sldId id="2147482843" r:id="rId10"/>
    <p:sldId id="2147482844" r:id="rId11"/>
    <p:sldId id="2147482845" r:id="rId12"/>
    <p:sldId id="2147482846" r:id="rId13"/>
    <p:sldId id="2147482847" r:id="rId14"/>
    <p:sldId id="2147482891" r:id="rId15"/>
    <p:sldId id="2147482848" r:id="rId16"/>
    <p:sldId id="2147482849" r:id="rId17"/>
    <p:sldId id="2147482850" r:id="rId18"/>
    <p:sldId id="2147482852" r:id="rId19"/>
    <p:sldId id="2147482851" r:id="rId20"/>
    <p:sldId id="2147482853" r:id="rId21"/>
    <p:sldId id="2147482854" r:id="rId22"/>
    <p:sldId id="340" r:id="rId23"/>
    <p:sldId id="2147482890" r:id="rId24"/>
    <p:sldId id="352" r:id="rId25"/>
    <p:sldId id="354" r:id="rId26"/>
    <p:sldId id="353" r:id="rId27"/>
    <p:sldId id="355" r:id="rId28"/>
    <p:sldId id="2147482855" r:id="rId29"/>
    <p:sldId id="2147482856" r:id="rId30"/>
    <p:sldId id="2147482858" r:id="rId31"/>
    <p:sldId id="2147482859" r:id="rId32"/>
    <p:sldId id="2147482881" r:id="rId33"/>
    <p:sldId id="2147482882" r:id="rId34"/>
    <p:sldId id="2147482883" r:id="rId35"/>
    <p:sldId id="2147482884" r:id="rId36"/>
    <p:sldId id="2147482885" r:id="rId37"/>
    <p:sldId id="2147482886" r:id="rId38"/>
    <p:sldId id="2147482887" r:id="rId39"/>
    <p:sldId id="2147482888" r:id="rId40"/>
    <p:sldId id="284" r:id="rId41"/>
    <p:sldId id="312" r:id="rId4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ve-Session-ENG" id="{B55AA1A6-1AEB-42C7-A277-7C712E3B5BC2}">
          <p14:sldIdLst>
            <p14:sldId id="283"/>
          </p14:sldIdLst>
        </p14:section>
        <p14:section name="Live-Session-SPA" id="{B9C86BE3-CCD5-495F-8E27-EB498F132A85}">
          <p14:sldIdLst>
            <p14:sldId id="271"/>
          </p14:sldIdLst>
        </p14:section>
        <p14:section name="Overview" id="{3CAE196B-5A6C-4D22-A2AD-1CDB052C40B7}">
          <p14:sldIdLst/>
        </p14:section>
        <p14:section name="Content" id="{660B4914-61C5-4613-82D6-881ED96EA14E}">
          <p14:sldIdLst>
            <p14:sldId id="258"/>
            <p14:sldId id="269"/>
            <p14:sldId id="2147482889"/>
            <p14:sldId id="263"/>
            <p14:sldId id="2147482842"/>
            <p14:sldId id="362"/>
            <p14:sldId id="2147482843"/>
            <p14:sldId id="2147482844"/>
            <p14:sldId id="2147482845"/>
            <p14:sldId id="2147482846"/>
            <p14:sldId id="2147482847"/>
            <p14:sldId id="2147482891"/>
            <p14:sldId id="2147482848"/>
            <p14:sldId id="2147482849"/>
            <p14:sldId id="2147482850"/>
            <p14:sldId id="2147482852"/>
            <p14:sldId id="2147482851"/>
            <p14:sldId id="2147482853"/>
            <p14:sldId id="2147482854"/>
            <p14:sldId id="340"/>
            <p14:sldId id="2147482890"/>
            <p14:sldId id="352"/>
            <p14:sldId id="354"/>
            <p14:sldId id="353"/>
            <p14:sldId id="355"/>
            <p14:sldId id="2147482855"/>
            <p14:sldId id="2147482856"/>
            <p14:sldId id="2147482858"/>
            <p14:sldId id="2147482859"/>
            <p14:sldId id="2147482881"/>
            <p14:sldId id="2147482882"/>
            <p14:sldId id="2147482883"/>
            <p14:sldId id="2147482884"/>
            <p14:sldId id="2147482885"/>
            <p14:sldId id="2147482886"/>
            <p14:sldId id="2147482887"/>
            <p14:sldId id="2147482888"/>
          </p14:sldIdLst>
        </p14:section>
        <p14:section name="Thank you" id="{18039BEC-4E63-4173-80E5-4B32294302B2}">
          <p14:sldIdLst>
            <p14:sldId id="284"/>
            <p14:sldId id="3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B73632-6CE1-F5AC-1EEB-9FB25C076E5B}" name="Matt Gotteiner" initials="MG" userId="S::magottei@microsoft.com::44e5f686-35a1-4e2c-9ff3-7b6adafcd3c3" providerId="AD"/>
  <p188:author id="{C8638F61-D788-0416-058F-1806F657B844}" name="Gwyneth Peña-Siguenza" initials="GP" userId="S::gwynethp@microsoft.com::42e4cf84-09c2-4e31-8cfe-799f11230782" providerId="AD"/>
  <p188:author id="{526DF9A2-33C5-A206-06EC-FB815EEEF4C6}" name="Pamela Fox" initials="PF" userId="S::pamelafox@microsoft.com::05c421f6-d446-4f2a-8ee0-1060b47b154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6B6B"/>
    <a:srgbClr val="FFFDD9"/>
    <a:srgbClr val="ECE67B"/>
    <a:srgbClr val="AB93C3"/>
    <a:srgbClr val="997DB6"/>
    <a:srgbClr val="9689B5"/>
    <a:srgbClr val="745FAC"/>
    <a:srgbClr val="574C9C"/>
    <a:srgbClr val="382F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94875-DD92-4549-A293-1D7AC1F41604}" v="914" dt="2025-03-20T16:00:34.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77"/>
    <p:restoredTop sz="94326" autoAdjust="0"/>
  </p:normalViewPr>
  <p:slideViewPr>
    <p:cSldViewPr snapToGrid="0">
      <p:cViewPr varScale="1">
        <p:scale>
          <a:sx n="107" d="100"/>
          <a:sy n="107" d="100"/>
        </p:scale>
        <p:origin x="390"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23C7EB-5B7F-EC35-C47A-3E71DEC2AD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a:extLst>
              <a:ext uri="{FF2B5EF4-FFF2-40B4-BE49-F238E27FC236}">
                <a16:creationId xmlns:a16="http://schemas.microsoft.com/office/drawing/2014/main" id="{CE9F19CB-5D50-8F75-DC84-99B30658E1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088F21-FC08-4265-A0EA-7DCAAA8A0386}" type="datetimeFigureOut">
              <a:rPr lang="es-MX" smtClean="0"/>
              <a:t>28/04/2026</a:t>
            </a:fld>
            <a:endParaRPr lang="es-MX"/>
          </a:p>
        </p:txBody>
      </p:sp>
      <p:sp>
        <p:nvSpPr>
          <p:cNvPr id="4" name="Footer Placeholder 3">
            <a:extLst>
              <a:ext uri="{FF2B5EF4-FFF2-40B4-BE49-F238E27FC236}">
                <a16:creationId xmlns:a16="http://schemas.microsoft.com/office/drawing/2014/main" id="{52D974DA-6BA0-F689-ED4C-B26987C81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Slide Number Placeholder 4">
            <a:extLst>
              <a:ext uri="{FF2B5EF4-FFF2-40B4-BE49-F238E27FC236}">
                <a16:creationId xmlns:a16="http://schemas.microsoft.com/office/drawing/2014/main" id="{861571DD-CE34-DB8F-9E07-DC1DF62173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A85052-7AF3-4E33-B760-A67F7CF62719}" type="slidenum">
              <a:rPr lang="es-MX" smtClean="0"/>
              <a:t>‹#›</a:t>
            </a:fld>
            <a:endParaRPr lang="es-MX"/>
          </a:p>
        </p:txBody>
      </p:sp>
    </p:spTree>
    <p:extLst>
      <p:ext uri="{BB962C8B-B14F-4D97-AF65-F5344CB8AC3E}">
        <p14:creationId xmlns:p14="http://schemas.microsoft.com/office/powerpoint/2010/main" val="39963714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29A59-3B4E-43BA-8563-6D5BDB7C83C0}" type="datetimeFigureOut">
              <a:rPr lang="es-MX" smtClean="0"/>
              <a:t>28/04/2026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6777DB-9E19-4DE0-B5FC-477F0E7FE6A0}" type="slidenum">
              <a:rPr lang="es-MX" smtClean="0"/>
              <a:t>‹#›</a:t>
            </a:fld>
            <a:endParaRPr lang="es-MX"/>
          </a:p>
        </p:txBody>
      </p:sp>
    </p:spTree>
    <p:extLst>
      <p:ext uri="{BB962C8B-B14F-4D97-AF65-F5344CB8AC3E}">
        <p14:creationId xmlns:p14="http://schemas.microsoft.com/office/powerpoint/2010/main" val="422487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6777DB-9E19-4DE0-B5FC-477F0E7FE6A0}" type="slidenum">
              <a:rPr lang="es-MX" smtClean="0"/>
              <a:t>1</a:t>
            </a:fld>
            <a:endParaRPr lang="es-MX"/>
          </a:p>
        </p:txBody>
      </p:sp>
    </p:spTree>
    <p:extLst>
      <p:ext uri="{BB962C8B-B14F-4D97-AF65-F5344CB8AC3E}">
        <p14:creationId xmlns:p14="http://schemas.microsoft.com/office/powerpoint/2010/main" val="3134339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Patches, positional vectors</a:t>
            </a:r>
          </a:p>
          <a:p>
            <a:endParaRPr lang="en-US"/>
          </a:p>
          <a:p>
            <a:r>
              <a:rPr lang="en-US"/>
              <a:t>They project the image space onto the vector space</a:t>
            </a:r>
          </a:p>
          <a:p>
            <a:endParaRPr lang="en-US"/>
          </a:p>
          <a:p>
            <a:r>
              <a:rPr lang="en-US"/>
              <a:t>PRICING?</a:t>
            </a:r>
          </a:p>
          <a:p>
            <a:endParaRPr lang="en-US"/>
          </a:p>
          <a:p>
            <a:r>
              <a:rPr lang="en-US"/>
              <a:t>CoPali- https://github.com/illuin-tech/colpali</a:t>
            </a:r>
          </a:p>
          <a:p>
            <a:endParaRPr lang="en-US"/>
          </a:p>
          <a:p>
            <a:r>
              <a:rPr lang="en-US"/>
              <a:t>why is it so good at OCR?</a:t>
            </a:r>
          </a:p>
          <a:p>
            <a:endParaRPr lang="en-US"/>
          </a:p>
          <a:p>
            <a:r>
              <a:rPr lang="en-US"/>
              <a:t>OCR vs LLM: Hallucination</a:t>
            </a:r>
          </a:p>
          <a:p>
            <a:r>
              <a:rPr lang="en-US"/>
              <a:t>Why doesnt OCR hallucinate? Tesseract is an example, classic CV + deep learning. LLMs are generative, OCRs are extractive only – they can be wrong but they dont make up stuff that isnt there.</a:t>
            </a:r>
          </a:p>
          <a:p>
            <a:endParaRPr lang="en-US"/>
          </a:p>
          <a:p>
            <a:r>
              <a:rPr lang="en-US"/>
              <a:t>is there an OCR leaderboard?</a:t>
            </a:r>
          </a:p>
          <a:p>
            <a:endParaRPr lang="en-US"/>
          </a:p>
          <a:p>
            <a:r>
              <a:rPr lang="en-US"/>
              <a:t>Content Understanding can hallucinate</a:t>
            </a:r>
          </a:p>
          <a:p>
            <a:endParaRPr lang="en-US"/>
          </a:p>
          <a:p>
            <a:r>
              <a:rPr lang="en-US"/>
              <a:t>Add this to the RAG as a PDF</a:t>
            </a:r>
          </a:p>
          <a:p>
            <a:endParaRPr lang="en-US"/>
          </a:p>
          <a:p>
            <a:r>
              <a:rPr lang="en-US"/>
              <a:t>LLMs are more costly than OCR</a:t>
            </a:r>
          </a:p>
        </p:txBody>
      </p:sp>
      <p:sp>
        <p:nvSpPr>
          <p:cNvPr id="4" name="Slide Number Placeholder 3"/>
          <p:cNvSpPr>
            <a:spLocks noGrp="1"/>
          </p:cNvSpPr>
          <p:nvPr>
            <p:ph type="sldNum" sz="quarter" idx="5"/>
          </p:nvPr>
        </p:nvSpPr>
        <p:spPr/>
        <p:txBody>
          <a:bodyPr/>
          <a:lstStyle/>
          <a:p>
            <a:fld id="{176777DB-9E19-4DE0-B5FC-477F0E7FE6A0}" type="slidenum">
              <a:rPr lang="es-MX" smtClean="0"/>
              <a:t>7</a:t>
            </a:fld>
            <a:endParaRPr lang="es-MX"/>
          </a:p>
        </p:txBody>
      </p:sp>
    </p:spTree>
    <p:extLst>
      <p:ext uri="{BB962C8B-B14F-4D97-AF65-F5344CB8AC3E}">
        <p14:creationId xmlns:p14="http://schemas.microsoft.com/office/powerpoint/2010/main" val="2826055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6777DB-9E19-4DE0-B5FC-477F0E7FE6A0}" type="slidenum">
              <a:rPr lang="es-MX" smtClean="0"/>
              <a:t>8</a:t>
            </a:fld>
            <a:endParaRPr lang="es-MX"/>
          </a:p>
        </p:txBody>
      </p:sp>
    </p:spTree>
    <p:extLst>
      <p:ext uri="{BB962C8B-B14F-4D97-AF65-F5344CB8AC3E}">
        <p14:creationId xmlns:p14="http://schemas.microsoft.com/office/powerpoint/2010/main" val="1679894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6777DB-9E19-4DE0-B5FC-477F0E7FE6A0}" type="slidenum">
              <a:rPr lang="es-MX" smtClean="0"/>
              <a:t>18</a:t>
            </a:fld>
            <a:endParaRPr lang="es-MX"/>
          </a:p>
        </p:txBody>
      </p:sp>
    </p:spTree>
    <p:extLst>
      <p:ext uri="{BB962C8B-B14F-4D97-AF65-F5344CB8AC3E}">
        <p14:creationId xmlns:p14="http://schemas.microsoft.com/office/powerpoint/2010/main" val="1972135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Session - ENG - without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06BCBC1-7984-29EC-810A-050E8BE46D99}"/>
              </a:ext>
            </a:extLst>
          </p:cNvPr>
          <p:cNvSpPr>
            <a:spLocks noGrp="1"/>
          </p:cNvSpPr>
          <p:nvPr>
            <p:ph type="dt" sz="half" idx="10"/>
          </p:nvPr>
        </p:nvSpPr>
        <p:spPr/>
        <p:txBody>
          <a:bodyPr/>
          <a:lstStyle/>
          <a:p>
            <a:fld id="{A6894684-00AF-422F-9E70-484377D91052}" type="datetimeFigureOut">
              <a:rPr lang="es-MX" smtClean="0"/>
              <a:t>28/04/2026</a:t>
            </a:fld>
            <a:endParaRPr lang="es-MX"/>
          </a:p>
        </p:txBody>
      </p:sp>
      <p:sp>
        <p:nvSpPr>
          <p:cNvPr id="4" name="Footer Placeholder 3">
            <a:extLst>
              <a:ext uri="{FF2B5EF4-FFF2-40B4-BE49-F238E27FC236}">
                <a16:creationId xmlns:a16="http://schemas.microsoft.com/office/drawing/2014/main" id="{0A1B3145-37D2-E8B1-3B08-4D8AED6D90E1}"/>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44DC7513-1332-CA2B-38BA-4649F448339F}"/>
              </a:ext>
            </a:extLst>
          </p:cNvPr>
          <p:cNvSpPr>
            <a:spLocks noGrp="1"/>
          </p:cNvSpPr>
          <p:nvPr>
            <p:ph type="sldNum" sz="quarter" idx="12"/>
          </p:nvPr>
        </p:nvSpPr>
        <p:spPr/>
        <p:txBody>
          <a:bodyPr/>
          <a:lstStyle/>
          <a:p>
            <a:fld id="{7FC30F42-2E61-4F47-872B-F268A27A1A27}" type="slidenum">
              <a:rPr lang="es-MX" smtClean="0"/>
              <a:t>‹#›</a:t>
            </a:fld>
            <a:endParaRPr lang="es-MX"/>
          </a:p>
        </p:txBody>
      </p:sp>
      <p:pic>
        <p:nvPicPr>
          <p:cNvPr id="7" name="그림 6">
            <a:extLst>
              <a:ext uri="{FF2B5EF4-FFF2-40B4-BE49-F238E27FC236}">
                <a16:creationId xmlns:a16="http://schemas.microsoft.com/office/drawing/2014/main" id="{61D7BED2-F994-4335-A7C0-69C580AA8019}"/>
              </a:ext>
            </a:extLst>
          </p:cNvPr>
          <p:cNvPicPr>
            <a:picLocks noChangeAspect="1"/>
          </p:cNvPicPr>
          <p:nvPr/>
        </p:nvPicPr>
        <p:blipFill>
          <a:blip r:embed="rId2"/>
          <a:stretch>
            <a:fillRect/>
          </a:stretch>
        </p:blipFill>
        <p:spPr>
          <a:xfrm>
            <a:off x="-1" y="0"/>
            <a:ext cx="12277259" cy="6858000"/>
          </a:xfrm>
          <a:prstGeom prst="rect">
            <a:avLst/>
          </a:prstGeom>
        </p:spPr>
      </p:pic>
    </p:spTree>
    <p:extLst>
      <p:ext uri="{BB962C8B-B14F-4D97-AF65-F5344CB8AC3E}">
        <p14:creationId xmlns:p14="http://schemas.microsoft.com/office/powerpoint/2010/main" val="2337418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ession - EN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06BCBC1-7984-29EC-810A-050E8BE46D99}"/>
              </a:ext>
            </a:extLst>
          </p:cNvPr>
          <p:cNvSpPr>
            <a:spLocks noGrp="1"/>
          </p:cNvSpPr>
          <p:nvPr>
            <p:ph type="dt" sz="half" idx="10"/>
          </p:nvPr>
        </p:nvSpPr>
        <p:spPr/>
        <p:txBody>
          <a:bodyPr/>
          <a:lstStyle/>
          <a:p>
            <a:fld id="{A6894684-00AF-422F-9E70-484377D91052}" type="datetimeFigureOut">
              <a:rPr lang="es-MX" smtClean="0"/>
              <a:t>28/04/2026</a:t>
            </a:fld>
            <a:endParaRPr lang="es-MX"/>
          </a:p>
        </p:txBody>
      </p:sp>
      <p:sp>
        <p:nvSpPr>
          <p:cNvPr id="4" name="Footer Placeholder 3">
            <a:extLst>
              <a:ext uri="{FF2B5EF4-FFF2-40B4-BE49-F238E27FC236}">
                <a16:creationId xmlns:a16="http://schemas.microsoft.com/office/drawing/2014/main" id="{0A1B3145-37D2-E8B1-3B08-4D8AED6D90E1}"/>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44DC7513-1332-CA2B-38BA-4649F448339F}"/>
              </a:ext>
            </a:extLst>
          </p:cNvPr>
          <p:cNvSpPr>
            <a:spLocks noGrp="1"/>
          </p:cNvSpPr>
          <p:nvPr>
            <p:ph type="sldNum" sz="quarter" idx="12"/>
          </p:nvPr>
        </p:nvSpPr>
        <p:spPr/>
        <p:txBody>
          <a:bodyPr/>
          <a:lstStyle/>
          <a:p>
            <a:fld id="{7FC30F42-2E61-4F47-872B-F268A27A1A27}" type="slidenum">
              <a:rPr lang="es-MX" smtClean="0"/>
              <a:t>‹#›</a:t>
            </a:fld>
            <a:endParaRPr lang="es-MX"/>
          </a:p>
        </p:txBody>
      </p:sp>
      <p:pic>
        <p:nvPicPr>
          <p:cNvPr id="7" name="Picture 6" descr="A screenshot of a computer&#10;&#10;AI-generated content may be incorrect.">
            <a:extLst>
              <a:ext uri="{FF2B5EF4-FFF2-40B4-BE49-F238E27FC236}">
                <a16:creationId xmlns:a16="http://schemas.microsoft.com/office/drawing/2014/main" id="{A32339FE-CC47-9369-9EAF-6CFE23FFF7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0142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Section Header - option 2">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329202D2-7400-B85C-E27C-1C43F148CDD2}"/>
              </a:ext>
            </a:extLst>
          </p:cNvPr>
          <p:cNvSpPr>
            <a:spLocks/>
          </p:cNvSpPr>
          <p:nvPr userDrawn="1"/>
        </p:nvSpPr>
        <p:spPr>
          <a:xfrm>
            <a:off x="0" y="0"/>
            <a:ext cx="12198350" cy="686972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es-MX"/>
          </a:p>
        </p:txBody>
      </p:sp>
      <p:sp>
        <p:nvSpPr>
          <p:cNvPr id="2" name="Title 1">
            <a:extLst>
              <a:ext uri="{FF2B5EF4-FFF2-40B4-BE49-F238E27FC236}">
                <a16:creationId xmlns:a16="http://schemas.microsoft.com/office/drawing/2014/main" id="{C6A6E44D-AF4D-B0D0-2D38-17BF590B43A1}"/>
              </a:ext>
            </a:extLst>
          </p:cNvPr>
          <p:cNvSpPr>
            <a:spLocks noGrp="1"/>
          </p:cNvSpPr>
          <p:nvPr>
            <p:ph type="title"/>
          </p:nvPr>
        </p:nvSpPr>
        <p:spPr>
          <a:xfrm>
            <a:off x="831850" y="1709739"/>
            <a:ext cx="10515600" cy="1141154"/>
          </a:xfrm>
        </p:spPr>
        <p:txBody>
          <a:bodyPr anchor="ctr">
            <a:normAutofit/>
          </a:bodyPr>
          <a:lstStyle>
            <a:lvl1pPr>
              <a:defRPr sz="4400">
                <a:solidFill>
                  <a:schemeClr val="accent3"/>
                </a:solidFill>
              </a:defRPr>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B773F104-8DDE-A1E6-0719-100ACF2087DB}"/>
              </a:ext>
            </a:extLst>
          </p:cNvPr>
          <p:cNvSpPr>
            <a:spLocks noGrp="1"/>
          </p:cNvSpPr>
          <p:nvPr>
            <p:ph type="body" idx="1"/>
          </p:nvPr>
        </p:nvSpPr>
        <p:spPr>
          <a:xfrm>
            <a:off x="831850" y="2850893"/>
            <a:ext cx="10515600" cy="1594358"/>
          </a:xfrm>
        </p:spPr>
        <p:txBody>
          <a:bodyPr>
            <a:normAutofit/>
          </a:bodyPr>
          <a:lstStyle>
            <a:lvl1pPr marL="0" indent="0">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69DBC-2956-8F47-4E6B-2E507E2D943D}"/>
              </a:ext>
            </a:extLst>
          </p:cNvPr>
          <p:cNvSpPr>
            <a:spLocks noGrp="1"/>
          </p:cNvSpPr>
          <p:nvPr>
            <p:ph type="dt" sz="half" idx="10"/>
          </p:nvPr>
        </p:nvSpPr>
        <p:spPr/>
        <p:txBody>
          <a:bodyPr/>
          <a:lstStyle/>
          <a:p>
            <a:fld id="{A6894684-00AF-422F-9E70-484377D91052}" type="datetimeFigureOut">
              <a:rPr lang="es-MX" smtClean="0"/>
              <a:t>28/04/2026</a:t>
            </a:fld>
            <a:endParaRPr lang="es-MX"/>
          </a:p>
        </p:txBody>
      </p:sp>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
        <p:nvSpPr>
          <p:cNvPr id="8" name="Freeform 3">
            <a:extLst>
              <a:ext uri="{FF2B5EF4-FFF2-40B4-BE49-F238E27FC236}">
                <a16:creationId xmlns:a16="http://schemas.microsoft.com/office/drawing/2014/main" id="{581A35D0-8E52-1D8E-E991-7D3488348053}"/>
              </a:ext>
            </a:extLst>
          </p:cNvPr>
          <p:cNvSpPr>
            <a:spLocks noGrp="1" noRot="1" noMove="1" noResize="1" noEditPoints="1" noAdjustHandles="1" noChangeArrowheads="1" noChangeShapeType="1"/>
          </p:cNvSpPr>
          <p:nvPr userDrawn="1"/>
        </p:nvSpPr>
        <p:spPr>
          <a:xfrm>
            <a:off x="-93133" y="5121977"/>
            <a:ext cx="12285133" cy="1747743"/>
          </a:xfrm>
          <a:custGeom>
            <a:avLst/>
            <a:gdLst/>
            <a:ahLst/>
            <a:cxnLst/>
            <a:rect l="l" t="t" r="r" b="b"/>
            <a:pathLst>
              <a:path w="18532496" h="5054317">
                <a:moveTo>
                  <a:pt x="0" y="0"/>
                </a:moveTo>
                <a:lnTo>
                  <a:pt x="18532496" y="0"/>
                </a:lnTo>
                <a:lnTo>
                  <a:pt x="18532496" y="5054317"/>
                </a:lnTo>
                <a:lnTo>
                  <a:pt x="0" y="5054317"/>
                </a:lnTo>
                <a:lnTo>
                  <a:pt x="0" y="0"/>
                </a:lnTo>
                <a:close/>
              </a:path>
            </a:pathLst>
          </a:custGeom>
          <a:blipFill>
            <a:blip r:embed="rId3">
              <a:alphaModFix amt="18000"/>
              <a:extLst>
                <a:ext uri="{96DAC541-7B7A-43D3-8B79-37D633B846F1}">
                  <asvg:svgBlip xmlns:asvg="http://schemas.microsoft.com/office/drawing/2016/SVG/main" r:embed="rId4"/>
                </a:ext>
              </a:extLst>
            </a:blip>
            <a:stretch>
              <a:fillRect b="-67924"/>
            </a:stretch>
          </a:blipFill>
        </p:spPr>
        <p:txBody>
          <a:bodyPr/>
          <a:lstStyle/>
          <a:p>
            <a:endParaRPr lang="es-MX"/>
          </a:p>
        </p:txBody>
      </p:sp>
      <p:sp>
        <p:nvSpPr>
          <p:cNvPr id="9" name="Freeform 4">
            <a:extLst>
              <a:ext uri="{FF2B5EF4-FFF2-40B4-BE49-F238E27FC236}">
                <a16:creationId xmlns:a16="http://schemas.microsoft.com/office/drawing/2014/main" id="{14A5ADE2-91DE-370D-21C5-8058DD63D938}"/>
              </a:ext>
            </a:extLst>
          </p:cNvPr>
          <p:cNvSpPr>
            <a:spLocks/>
          </p:cNvSpPr>
          <p:nvPr userDrawn="1"/>
        </p:nvSpPr>
        <p:spPr>
          <a:xfrm flipV="1">
            <a:off x="0" y="-1"/>
            <a:ext cx="12192000" cy="1468529"/>
          </a:xfrm>
          <a:custGeom>
            <a:avLst/>
            <a:gdLst/>
            <a:ahLst/>
            <a:cxnLst/>
            <a:rect l="l" t="t" r="r" b="b"/>
            <a:pathLst>
              <a:path w="18532496" h="5054317">
                <a:moveTo>
                  <a:pt x="0" y="5054318"/>
                </a:moveTo>
                <a:lnTo>
                  <a:pt x="18532496" y="5054318"/>
                </a:lnTo>
                <a:lnTo>
                  <a:pt x="18532496" y="0"/>
                </a:lnTo>
                <a:lnTo>
                  <a:pt x="0" y="0"/>
                </a:lnTo>
                <a:lnTo>
                  <a:pt x="0" y="5054318"/>
                </a:lnTo>
                <a:close/>
              </a:path>
            </a:pathLst>
          </a:custGeom>
          <a:blipFill>
            <a:blip r:embed="rId3">
              <a:alphaModFix amt="12000"/>
              <a:extLst>
                <a:ext uri="{96DAC541-7B7A-43D3-8B79-37D633B846F1}">
                  <asvg:svgBlip xmlns:asvg="http://schemas.microsoft.com/office/drawing/2016/SVG/main" r:embed="rId4"/>
                </a:ext>
              </a:extLst>
            </a:blip>
            <a:stretch>
              <a:fillRect b="-100000"/>
            </a:stretch>
          </a:blipFill>
        </p:spPr>
        <p:txBody>
          <a:bodyPr/>
          <a:lstStyle/>
          <a:p>
            <a:endParaRPr lang="es-MX"/>
          </a:p>
        </p:txBody>
      </p:sp>
      <p:sp>
        <p:nvSpPr>
          <p:cNvPr id="15" name="Freeform 8">
            <a:extLst>
              <a:ext uri="{FF2B5EF4-FFF2-40B4-BE49-F238E27FC236}">
                <a16:creationId xmlns:a16="http://schemas.microsoft.com/office/drawing/2014/main" id="{4ABE5541-45AA-5D0D-8169-D76F16EACDA3}"/>
              </a:ext>
            </a:extLst>
          </p:cNvPr>
          <p:cNvSpPr/>
          <p:nvPr userDrawn="1"/>
        </p:nvSpPr>
        <p:spPr>
          <a:xfrm>
            <a:off x="739972" y="471669"/>
            <a:ext cx="1860550" cy="525189"/>
          </a:xfrm>
          <a:custGeom>
            <a:avLst/>
            <a:gdLst/>
            <a:ahLst/>
            <a:cxnLst/>
            <a:rect l="l" t="t" r="r" b="b"/>
            <a:pathLst>
              <a:path w="3040582" h="862772">
                <a:moveTo>
                  <a:pt x="0" y="0"/>
                </a:moveTo>
                <a:lnTo>
                  <a:pt x="3040582" y="0"/>
                </a:lnTo>
                <a:lnTo>
                  <a:pt x="3040582" y="862771"/>
                </a:lnTo>
                <a:lnTo>
                  <a:pt x="0" y="862771"/>
                </a:lnTo>
                <a:lnTo>
                  <a:pt x="0" y="0"/>
                </a:lnTo>
                <a:close/>
              </a:path>
            </a:pathLst>
          </a:custGeom>
          <a:blipFill>
            <a:blip r:embed="rId5"/>
            <a:stretch>
              <a:fillRect l="-18542" t="-57395" r="-18192" b="-58446"/>
            </a:stretch>
          </a:blipFill>
        </p:spPr>
        <p:txBody>
          <a:bodyPr/>
          <a:lstStyle/>
          <a:p>
            <a:endParaRPr lang="es-MX"/>
          </a:p>
        </p:txBody>
      </p:sp>
      <p:sp>
        <p:nvSpPr>
          <p:cNvPr id="12" name="Text Placeholder 2">
            <a:extLst>
              <a:ext uri="{FF2B5EF4-FFF2-40B4-BE49-F238E27FC236}">
                <a16:creationId xmlns:a16="http://schemas.microsoft.com/office/drawing/2014/main" id="{0C6718F5-4CB2-A424-FD1A-5CC53BB88C2C}"/>
              </a:ext>
            </a:extLst>
          </p:cNvPr>
          <p:cNvSpPr>
            <a:spLocks noGrp="1"/>
          </p:cNvSpPr>
          <p:nvPr>
            <p:ph type="body" idx="13" hasCustomPrompt="1"/>
          </p:nvPr>
        </p:nvSpPr>
        <p:spPr>
          <a:xfrm>
            <a:off x="791633" y="4550797"/>
            <a:ext cx="5156494" cy="1594358"/>
          </a:xfrm>
        </p:spPr>
        <p:txBody>
          <a:bodyPr>
            <a:normAutofit/>
          </a:bodyPr>
          <a:lstStyle>
            <a:lvl1pPr marL="0" indent="0">
              <a:buNone/>
              <a:defRPr sz="2400">
                <a:solidFill>
                  <a:schemeClr val="accent6"/>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Speaker Name</a:t>
            </a:r>
          </a:p>
          <a:p>
            <a:pPr lvl="0"/>
            <a:r>
              <a:rPr lang="en-US"/>
              <a:t>Title</a:t>
            </a:r>
          </a:p>
          <a:p>
            <a:pPr lvl="0"/>
            <a:r>
              <a:rPr lang="en-US"/>
              <a:t>Role</a:t>
            </a:r>
          </a:p>
          <a:p>
            <a:pPr lvl="0"/>
            <a:endParaRPr lang="en-US"/>
          </a:p>
        </p:txBody>
      </p:sp>
      <p:sp>
        <p:nvSpPr>
          <p:cNvPr id="13" name="Text Placeholder 2">
            <a:extLst>
              <a:ext uri="{FF2B5EF4-FFF2-40B4-BE49-F238E27FC236}">
                <a16:creationId xmlns:a16="http://schemas.microsoft.com/office/drawing/2014/main" id="{B28653AB-9915-A1B3-34BF-C7AA9C6808D9}"/>
              </a:ext>
            </a:extLst>
          </p:cNvPr>
          <p:cNvSpPr>
            <a:spLocks noGrp="1"/>
          </p:cNvSpPr>
          <p:nvPr>
            <p:ph type="body" idx="14" hasCustomPrompt="1"/>
          </p:nvPr>
        </p:nvSpPr>
        <p:spPr>
          <a:xfrm>
            <a:off x="6096000" y="4550797"/>
            <a:ext cx="5249941" cy="1594358"/>
          </a:xfrm>
        </p:spPr>
        <p:txBody>
          <a:bodyPr>
            <a:normAutofit/>
          </a:bodyPr>
          <a:lstStyle>
            <a:lvl1pPr marL="0" indent="0">
              <a:buNone/>
              <a:defRPr sz="2400">
                <a:solidFill>
                  <a:schemeClr val="accent6"/>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Speaker Name</a:t>
            </a:r>
          </a:p>
          <a:p>
            <a:pPr lvl="0"/>
            <a:r>
              <a:rPr lang="en-US"/>
              <a:t>Title</a:t>
            </a:r>
          </a:p>
          <a:p>
            <a:pPr lvl="0"/>
            <a:r>
              <a:rPr lang="en-US"/>
              <a:t>Role</a:t>
            </a:r>
          </a:p>
          <a:p>
            <a:pPr lvl="0"/>
            <a:endParaRPr lang="en-US"/>
          </a:p>
        </p:txBody>
      </p:sp>
    </p:spTree>
    <p:extLst>
      <p:ext uri="{BB962C8B-B14F-4D97-AF65-F5344CB8AC3E}">
        <p14:creationId xmlns:p14="http://schemas.microsoft.com/office/powerpoint/2010/main" val="1593375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ntent - option 3">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
        <p:nvSpPr>
          <p:cNvPr id="7" name="Freeform 2">
            <a:extLst>
              <a:ext uri="{FF2B5EF4-FFF2-40B4-BE49-F238E27FC236}">
                <a16:creationId xmlns:a16="http://schemas.microsoft.com/office/drawing/2014/main" id="{329202D2-7400-B85C-E27C-1C43F148CDD2}"/>
              </a:ext>
            </a:extLst>
          </p:cNvPr>
          <p:cNvSpPr>
            <a:spLocks noGrp="1" noRot="1" noMove="1" noResize="1" noEditPoints="1" noAdjustHandles="1" noChangeArrowheads="1" noChangeShapeType="1"/>
          </p:cNvSpPr>
          <p:nvPr userDrawn="1"/>
        </p:nvSpPr>
        <p:spPr>
          <a:xfrm>
            <a:off x="0" y="-17887"/>
            <a:ext cx="12192000" cy="6875887"/>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es-MX"/>
          </a:p>
        </p:txBody>
      </p:sp>
      <p:sp>
        <p:nvSpPr>
          <p:cNvPr id="8" name="Freeform 3">
            <a:extLst>
              <a:ext uri="{FF2B5EF4-FFF2-40B4-BE49-F238E27FC236}">
                <a16:creationId xmlns:a16="http://schemas.microsoft.com/office/drawing/2014/main" id="{581A35D0-8E52-1D8E-E991-7D3488348053}"/>
              </a:ext>
            </a:extLst>
          </p:cNvPr>
          <p:cNvSpPr>
            <a:spLocks/>
          </p:cNvSpPr>
          <p:nvPr userDrawn="1"/>
        </p:nvSpPr>
        <p:spPr>
          <a:xfrm>
            <a:off x="0" y="4533900"/>
            <a:ext cx="12192000" cy="2306212"/>
          </a:xfrm>
          <a:custGeom>
            <a:avLst/>
            <a:gdLst/>
            <a:ahLst/>
            <a:cxnLst/>
            <a:rect l="l" t="t" r="r" b="b"/>
            <a:pathLst>
              <a:path w="18532496" h="5054317">
                <a:moveTo>
                  <a:pt x="0" y="0"/>
                </a:moveTo>
                <a:lnTo>
                  <a:pt x="18532496" y="0"/>
                </a:lnTo>
                <a:lnTo>
                  <a:pt x="18532496" y="5054317"/>
                </a:lnTo>
                <a:lnTo>
                  <a:pt x="0" y="5054317"/>
                </a:lnTo>
                <a:lnTo>
                  <a:pt x="0" y="0"/>
                </a:lnTo>
                <a:close/>
              </a:path>
            </a:pathLst>
          </a:custGeom>
          <a:blipFill>
            <a:blip r:embed="rId3">
              <a:alphaModFix amt="18000"/>
              <a:extLst>
                <a:ext uri="{96DAC541-7B7A-43D3-8B79-37D633B846F1}">
                  <asvg:svgBlip xmlns:asvg="http://schemas.microsoft.com/office/drawing/2016/SVG/main" r:embed="rId4"/>
                </a:ext>
              </a:extLst>
            </a:blip>
            <a:stretch>
              <a:fillRect b="-67924"/>
            </a:stretch>
          </a:blipFill>
        </p:spPr>
        <p:txBody>
          <a:bodyPr/>
          <a:lstStyle/>
          <a:p>
            <a:endParaRPr lang="es-MX"/>
          </a:p>
        </p:txBody>
      </p:sp>
      <p:sp>
        <p:nvSpPr>
          <p:cNvPr id="9" name="Freeform 4">
            <a:extLst>
              <a:ext uri="{FF2B5EF4-FFF2-40B4-BE49-F238E27FC236}">
                <a16:creationId xmlns:a16="http://schemas.microsoft.com/office/drawing/2014/main" id="{14A5ADE2-91DE-370D-21C5-8058DD63D938}"/>
              </a:ext>
            </a:extLst>
          </p:cNvPr>
          <p:cNvSpPr>
            <a:spLocks/>
          </p:cNvSpPr>
          <p:nvPr userDrawn="1"/>
        </p:nvSpPr>
        <p:spPr>
          <a:xfrm flipV="1">
            <a:off x="-244496" y="-1"/>
            <a:ext cx="12436496" cy="1062310"/>
          </a:xfrm>
          <a:custGeom>
            <a:avLst/>
            <a:gdLst/>
            <a:ahLst/>
            <a:cxnLst/>
            <a:rect l="l" t="t" r="r" b="b"/>
            <a:pathLst>
              <a:path w="18532496" h="5054317">
                <a:moveTo>
                  <a:pt x="0" y="5054318"/>
                </a:moveTo>
                <a:lnTo>
                  <a:pt x="18532496" y="5054318"/>
                </a:lnTo>
                <a:lnTo>
                  <a:pt x="18532496" y="0"/>
                </a:lnTo>
                <a:lnTo>
                  <a:pt x="0" y="0"/>
                </a:lnTo>
                <a:lnTo>
                  <a:pt x="0" y="5054318"/>
                </a:lnTo>
                <a:close/>
              </a:path>
            </a:pathLst>
          </a:custGeom>
          <a:blipFill>
            <a:blip r:embed="rId3">
              <a:alphaModFix amt="12000"/>
              <a:extLst>
                <a:ext uri="{96DAC541-7B7A-43D3-8B79-37D633B846F1}">
                  <asvg:svgBlip xmlns:asvg="http://schemas.microsoft.com/office/drawing/2016/SVG/main" r:embed="rId4"/>
                </a:ext>
              </a:extLst>
            </a:blip>
            <a:stretch>
              <a:fillRect b="-100000"/>
            </a:stretch>
          </a:blipFill>
        </p:spPr>
        <p:txBody>
          <a:bodyPr/>
          <a:lstStyle/>
          <a:p>
            <a:endParaRPr lang="es-MX"/>
          </a:p>
        </p:txBody>
      </p:sp>
      <p:grpSp>
        <p:nvGrpSpPr>
          <p:cNvPr id="15" name="Group 8">
            <a:extLst>
              <a:ext uri="{FF2B5EF4-FFF2-40B4-BE49-F238E27FC236}">
                <a16:creationId xmlns:a16="http://schemas.microsoft.com/office/drawing/2014/main" id="{D19A47D0-0386-C2EB-3688-D5D1F7A0FD96}"/>
              </a:ext>
            </a:extLst>
          </p:cNvPr>
          <p:cNvGrpSpPr>
            <a:grpSpLocks noGrp="1" noUngrp="1" noRot="1" noMove="1" noResize="1"/>
          </p:cNvGrpSpPr>
          <p:nvPr userDrawn="1"/>
        </p:nvGrpSpPr>
        <p:grpSpPr>
          <a:xfrm>
            <a:off x="681027" y="677183"/>
            <a:ext cx="10829946" cy="5485745"/>
            <a:chOff x="0" y="-47625"/>
            <a:chExt cx="4197679" cy="2032576"/>
          </a:xfrm>
        </p:grpSpPr>
        <p:sp>
          <p:nvSpPr>
            <p:cNvPr id="16" name="Freeform 9">
              <a:extLst>
                <a:ext uri="{FF2B5EF4-FFF2-40B4-BE49-F238E27FC236}">
                  <a16:creationId xmlns:a16="http://schemas.microsoft.com/office/drawing/2014/main" id="{0C78AA4D-280D-040C-30AF-540254FEE346}"/>
                </a:ext>
              </a:extLst>
            </p:cNvPr>
            <p:cNvSpPr>
              <a:spLocks noGrp="1" noRot="1" noMove="1" noResize="1" noEditPoints="1" noAdjustHandles="1" noChangeArrowheads="1" noChangeShapeType="1"/>
            </p:cNvSpPr>
            <p:nvPr userDrawn="1"/>
          </p:nvSpPr>
          <p:spPr>
            <a:xfrm>
              <a:off x="0" y="0"/>
              <a:ext cx="4197679" cy="1984951"/>
            </a:xfrm>
            <a:custGeom>
              <a:avLst/>
              <a:gdLst/>
              <a:ahLst/>
              <a:cxnLst/>
              <a:rect l="l" t="t" r="r" b="b"/>
              <a:pathLst>
                <a:path w="4197679" h="1984951">
                  <a:moveTo>
                    <a:pt x="14087" y="0"/>
                  </a:moveTo>
                  <a:lnTo>
                    <a:pt x="4183592" y="0"/>
                  </a:lnTo>
                  <a:cubicBezTo>
                    <a:pt x="4191372" y="0"/>
                    <a:pt x="4197679" y="6307"/>
                    <a:pt x="4197679" y="14087"/>
                  </a:cubicBezTo>
                  <a:lnTo>
                    <a:pt x="4197679" y="1970864"/>
                  </a:lnTo>
                  <a:cubicBezTo>
                    <a:pt x="4197679" y="1978644"/>
                    <a:pt x="4191372" y="1984951"/>
                    <a:pt x="4183592" y="1984951"/>
                  </a:cubicBezTo>
                  <a:lnTo>
                    <a:pt x="14087" y="1984951"/>
                  </a:lnTo>
                  <a:cubicBezTo>
                    <a:pt x="6307" y="1984951"/>
                    <a:pt x="0" y="1978644"/>
                    <a:pt x="0" y="1970864"/>
                  </a:cubicBezTo>
                  <a:lnTo>
                    <a:pt x="0" y="14087"/>
                  </a:lnTo>
                  <a:cubicBezTo>
                    <a:pt x="0" y="6307"/>
                    <a:pt x="6307" y="0"/>
                    <a:pt x="14087" y="0"/>
                  </a:cubicBezTo>
                  <a:close/>
                </a:path>
              </a:pathLst>
            </a:custGeom>
            <a:solidFill>
              <a:srgbClr val="FFFFFF"/>
            </a:solidFill>
          </p:spPr>
          <p:txBody>
            <a:bodyPr/>
            <a:lstStyle/>
            <a:p>
              <a:endParaRPr lang="es-MX"/>
            </a:p>
          </p:txBody>
        </p:sp>
        <p:sp>
          <p:nvSpPr>
            <p:cNvPr id="17" name="TextBox 10">
              <a:extLst>
                <a:ext uri="{FF2B5EF4-FFF2-40B4-BE49-F238E27FC236}">
                  <a16:creationId xmlns:a16="http://schemas.microsoft.com/office/drawing/2014/main" id="{AACC4D65-72F3-882E-0C74-29085F7FAA33}"/>
                </a:ext>
              </a:extLst>
            </p:cNvPr>
            <p:cNvSpPr txBox="1">
              <a:spLocks noGrp="1" noRot="1" noMove="1" noResize="1" noEditPoints="1" noAdjustHandles="1" noChangeArrowheads="1" noChangeShapeType="1"/>
            </p:cNvSpPr>
            <p:nvPr/>
          </p:nvSpPr>
          <p:spPr>
            <a:xfrm>
              <a:off x="0" y="-47625"/>
              <a:ext cx="4197679" cy="2032576"/>
            </a:xfrm>
            <a:prstGeom prst="rect">
              <a:avLst/>
            </a:prstGeom>
          </p:spPr>
          <p:txBody>
            <a:bodyPr lIns="50800" tIns="50800" rIns="50800" bIns="50800" rtlCol="0" anchor="ctr"/>
            <a:lstStyle/>
            <a:p>
              <a:pPr algn="ctr">
                <a:lnSpc>
                  <a:spcPts val="2659"/>
                </a:lnSpc>
                <a:spcBef>
                  <a:spcPct val="0"/>
                </a:spcBef>
              </a:pPr>
              <a:endParaRPr/>
            </a:p>
          </p:txBody>
        </p:sp>
      </p:grpSp>
      <p:sp>
        <p:nvSpPr>
          <p:cNvPr id="18" name="Title 1">
            <a:extLst>
              <a:ext uri="{FF2B5EF4-FFF2-40B4-BE49-F238E27FC236}">
                <a16:creationId xmlns:a16="http://schemas.microsoft.com/office/drawing/2014/main" id="{B81E6FA9-5712-682C-A5FA-B06C89763C5B}"/>
              </a:ext>
            </a:extLst>
          </p:cNvPr>
          <p:cNvSpPr txBox="1">
            <a:spLocks/>
          </p:cNvSpPr>
          <p:nvPr userDrawn="1"/>
        </p:nvSpPr>
        <p:spPr>
          <a:xfrm>
            <a:off x="978147" y="1008156"/>
            <a:ext cx="10235705" cy="7652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MX"/>
          </a:p>
        </p:txBody>
      </p:sp>
      <p:sp>
        <p:nvSpPr>
          <p:cNvPr id="19" name="Content Placeholder 2">
            <a:extLst>
              <a:ext uri="{FF2B5EF4-FFF2-40B4-BE49-F238E27FC236}">
                <a16:creationId xmlns:a16="http://schemas.microsoft.com/office/drawing/2014/main" id="{E200846C-D6C9-853D-DB75-4B0B6DF6E2F0}"/>
              </a:ext>
            </a:extLst>
          </p:cNvPr>
          <p:cNvSpPr>
            <a:spLocks noGrp="1"/>
          </p:cNvSpPr>
          <p:nvPr>
            <p:ph idx="13"/>
          </p:nvPr>
        </p:nvSpPr>
        <p:spPr>
          <a:xfrm>
            <a:off x="978147" y="1964047"/>
            <a:ext cx="10235705" cy="38525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20" name="Title 1">
            <a:extLst>
              <a:ext uri="{FF2B5EF4-FFF2-40B4-BE49-F238E27FC236}">
                <a16:creationId xmlns:a16="http://schemas.microsoft.com/office/drawing/2014/main" id="{987ACA83-8A24-CEEC-CFF9-272221E05DE7}"/>
              </a:ext>
            </a:extLst>
          </p:cNvPr>
          <p:cNvSpPr>
            <a:spLocks noGrp="1"/>
          </p:cNvSpPr>
          <p:nvPr>
            <p:ph type="title"/>
          </p:nvPr>
        </p:nvSpPr>
        <p:spPr>
          <a:xfrm>
            <a:off x="978147" y="1026203"/>
            <a:ext cx="10235705" cy="806488"/>
          </a:xfrm>
        </p:spPr>
        <p:txBody>
          <a:bodyPr/>
          <a:lstStyle/>
          <a:p>
            <a:r>
              <a:rPr lang="en-US"/>
              <a:t>Click to edit Master title style</a:t>
            </a:r>
            <a:endParaRPr lang="es-MX"/>
          </a:p>
        </p:txBody>
      </p:sp>
    </p:spTree>
    <p:extLst>
      <p:ext uri="{BB962C8B-B14F-4D97-AF65-F5344CB8AC3E}">
        <p14:creationId xmlns:p14="http://schemas.microsoft.com/office/powerpoint/2010/main" val="3172667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Content - option 4">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DA6A76C6-C0A4-6790-3061-968E4DAC09D7}"/>
              </a:ext>
            </a:extLst>
          </p:cNvPr>
          <p:cNvGrpSpPr>
            <a:grpSpLocks noGrp="1" noUngrp="1" noRot="1" noMove="1" noResize="1"/>
          </p:cNvGrpSpPr>
          <p:nvPr userDrawn="1"/>
        </p:nvGrpSpPr>
        <p:grpSpPr>
          <a:xfrm>
            <a:off x="838200" y="0"/>
            <a:ext cx="11353800" cy="6858000"/>
            <a:chOff x="0" y="0"/>
            <a:chExt cx="4197679" cy="1984951"/>
          </a:xfrm>
        </p:grpSpPr>
        <p:sp>
          <p:nvSpPr>
            <p:cNvPr id="5" name="Freeform 9">
              <a:extLst>
                <a:ext uri="{FF2B5EF4-FFF2-40B4-BE49-F238E27FC236}">
                  <a16:creationId xmlns:a16="http://schemas.microsoft.com/office/drawing/2014/main" id="{CC5A72BB-BDAC-3A05-54EA-1285727BD273}"/>
                </a:ext>
              </a:extLst>
            </p:cNvPr>
            <p:cNvSpPr>
              <a:spLocks noGrp="1" noRot="1" noMove="1" noResize="1" noEditPoints="1" noAdjustHandles="1" noChangeArrowheads="1" noChangeShapeType="1"/>
            </p:cNvSpPr>
            <p:nvPr/>
          </p:nvSpPr>
          <p:spPr>
            <a:xfrm>
              <a:off x="0" y="0"/>
              <a:ext cx="4197679" cy="1984951"/>
            </a:xfrm>
            <a:custGeom>
              <a:avLst/>
              <a:gdLst/>
              <a:ahLst/>
              <a:cxnLst/>
              <a:rect l="l" t="t" r="r" b="b"/>
              <a:pathLst>
                <a:path w="4197679" h="1984951">
                  <a:moveTo>
                    <a:pt x="14087" y="0"/>
                  </a:moveTo>
                  <a:lnTo>
                    <a:pt x="4183592" y="0"/>
                  </a:lnTo>
                  <a:cubicBezTo>
                    <a:pt x="4191372" y="0"/>
                    <a:pt x="4197679" y="6307"/>
                    <a:pt x="4197679" y="14087"/>
                  </a:cubicBezTo>
                  <a:lnTo>
                    <a:pt x="4197679" y="1970864"/>
                  </a:lnTo>
                  <a:cubicBezTo>
                    <a:pt x="4197679" y="1978644"/>
                    <a:pt x="4191372" y="1984951"/>
                    <a:pt x="4183592" y="1984951"/>
                  </a:cubicBezTo>
                  <a:lnTo>
                    <a:pt x="14087" y="1984951"/>
                  </a:lnTo>
                  <a:cubicBezTo>
                    <a:pt x="6307" y="1984951"/>
                    <a:pt x="0" y="1978644"/>
                    <a:pt x="0" y="1970864"/>
                  </a:cubicBezTo>
                  <a:lnTo>
                    <a:pt x="0" y="14087"/>
                  </a:lnTo>
                  <a:cubicBezTo>
                    <a:pt x="0" y="6307"/>
                    <a:pt x="6307" y="0"/>
                    <a:pt x="14087" y="0"/>
                  </a:cubicBezTo>
                  <a:close/>
                </a:path>
              </a:pathLst>
            </a:custGeom>
            <a:solidFill>
              <a:srgbClr val="FFFFFF"/>
            </a:solidFill>
          </p:spPr>
          <p:txBody>
            <a:bodyPr/>
            <a:lstStyle/>
            <a:p>
              <a:endParaRPr lang="es-MX"/>
            </a:p>
          </p:txBody>
        </p:sp>
        <p:sp>
          <p:nvSpPr>
            <p:cNvPr id="6" name="TextBox 10">
              <a:extLst>
                <a:ext uri="{FF2B5EF4-FFF2-40B4-BE49-F238E27FC236}">
                  <a16:creationId xmlns:a16="http://schemas.microsoft.com/office/drawing/2014/main" id="{28219582-B644-88FC-10E4-1824D5EB8D02}"/>
                </a:ext>
              </a:extLst>
            </p:cNvPr>
            <p:cNvSpPr txBox="1">
              <a:spLocks noGrp="1" noRot="1" noMove="1" noResize="1" noEditPoints="1" noAdjustHandles="1" noChangeArrowheads="1" noChangeShapeType="1"/>
            </p:cNvSpPr>
            <p:nvPr/>
          </p:nvSpPr>
          <p:spPr>
            <a:xfrm>
              <a:off x="0" y="-47625"/>
              <a:ext cx="4197679" cy="2032576"/>
            </a:xfrm>
            <a:prstGeom prst="rect">
              <a:avLst/>
            </a:prstGeom>
          </p:spPr>
          <p:txBody>
            <a:bodyPr lIns="50800" tIns="50800" rIns="50800" bIns="50800" rtlCol="0" anchor="ctr"/>
            <a:lstStyle/>
            <a:p>
              <a:pPr algn="ctr">
                <a:lnSpc>
                  <a:spcPts val="2659"/>
                </a:lnSpc>
                <a:spcBef>
                  <a:spcPct val="0"/>
                </a:spcBef>
              </a:pPr>
              <a:endParaRPr/>
            </a:p>
          </p:txBody>
        </p:sp>
      </p:grpSp>
      <p:sp>
        <p:nvSpPr>
          <p:cNvPr id="2" name="Title 1">
            <a:extLst>
              <a:ext uri="{FF2B5EF4-FFF2-40B4-BE49-F238E27FC236}">
                <a16:creationId xmlns:a16="http://schemas.microsoft.com/office/drawing/2014/main" id="{3060115F-7367-9831-CC7F-5F32AB3CDF64}"/>
              </a:ext>
            </a:extLst>
          </p:cNvPr>
          <p:cNvSpPr>
            <a:spLocks noGrp="1"/>
          </p:cNvSpPr>
          <p:nvPr>
            <p:ph type="title"/>
          </p:nvPr>
        </p:nvSpPr>
        <p:spPr>
          <a:xfrm>
            <a:off x="1049416" y="458258"/>
            <a:ext cx="10913982" cy="1325563"/>
          </a:xfrm>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49416" y="1918758"/>
            <a:ext cx="1091398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10" name="Freeform 4">
            <a:extLst>
              <a:ext uri="{FF2B5EF4-FFF2-40B4-BE49-F238E27FC236}">
                <a16:creationId xmlns:a16="http://schemas.microsoft.com/office/drawing/2014/main" id="{60832C5C-8902-D453-4845-67C132625F56}"/>
              </a:ext>
            </a:extLst>
          </p:cNvPr>
          <p:cNvSpPr>
            <a:spLocks noGrp="1" noRot="1" noMove="1" noResize="1" noEditPoints="1" noAdjustHandles="1" noChangeArrowheads="1" noChangeShapeType="1"/>
          </p:cNvSpPr>
          <p:nvPr userDrawn="1"/>
        </p:nvSpPr>
        <p:spPr>
          <a:xfrm>
            <a:off x="-77002" y="-29333"/>
            <a:ext cx="915202" cy="6887333"/>
          </a:xfrm>
          <a:custGeom>
            <a:avLst/>
            <a:gdLst/>
            <a:ahLst/>
            <a:cxnLst/>
            <a:rect l="l" t="t" r="r" b="b"/>
            <a:pathLst>
              <a:path w="1028700" h="10287000">
                <a:moveTo>
                  <a:pt x="0" y="0"/>
                </a:moveTo>
                <a:lnTo>
                  <a:pt x="1028700" y="0"/>
                </a:lnTo>
                <a:lnTo>
                  <a:pt x="1028700" y="10287000"/>
                </a:lnTo>
                <a:lnTo>
                  <a:pt x="0" y="10287000"/>
                </a:lnTo>
                <a:lnTo>
                  <a:pt x="0" y="0"/>
                </a:lnTo>
                <a:close/>
              </a:path>
            </a:pathLst>
          </a:custGeom>
          <a:blipFill>
            <a:blip r:embed="rId2"/>
            <a:stretch>
              <a:fillRect l="-664285" r="-664285"/>
            </a:stretch>
          </a:blipFill>
        </p:spPr>
        <p:txBody>
          <a:bodyPr/>
          <a:lstStyle/>
          <a:p>
            <a:endParaRPr lang="es-MX"/>
          </a:p>
        </p:txBody>
      </p:sp>
    </p:spTree>
    <p:extLst>
      <p:ext uri="{BB962C8B-B14F-4D97-AF65-F5344CB8AC3E}">
        <p14:creationId xmlns:p14="http://schemas.microsoft.com/office/powerpoint/2010/main" val="1185604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Section Header - option 2">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329202D2-7400-B85C-E27C-1C43F148CDD2}"/>
              </a:ext>
            </a:extLst>
          </p:cNvPr>
          <p:cNvSpPr>
            <a:spLocks/>
          </p:cNvSpPr>
          <p:nvPr userDrawn="1"/>
        </p:nvSpPr>
        <p:spPr>
          <a:xfrm>
            <a:off x="0" y="0"/>
            <a:ext cx="12198350" cy="686972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es-MX"/>
          </a:p>
        </p:txBody>
      </p:sp>
      <p:sp>
        <p:nvSpPr>
          <p:cNvPr id="2" name="Title 1">
            <a:extLst>
              <a:ext uri="{FF2B5EF4-FFF2-40B4-BE49-F238E27FC236}">
                <a16:creationId xmlns:a16="http://schemas.microsoft.com/office/drawing/2014/main" id="{C6A6E44D-AF4D-B0D0-2D38-17BF590B43A1}"/>
              </a:ext>
            </a:extLst>
          </p:cNvPr>
          <p:cNvSpPr>
            <a:spLocks noGrp="1"/>
          </p:cNvSpPr>
          <p:nvPr>
            <p:ph type="title"/>
          </p:nvPr>
        </p:nvSpPr>
        <p:spPr>
          <a:xfrm>
            <a:off x="838200" y="1232343"/>
            <a:ext cx="10515600" cy="2852737"/>
          </a:xfrm>
        </p:spPr>
        <p:txBody>
          <a:bodyPr anchor="ctr"/>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B773F104-8DDE-A1E6-0719-100ACF2087DB}"/>
              </a:ext>
            </a:extLst>
          </p:cNvPr>
          <p:cNvSpPr>
            <a:spLocks noGrp="1"/>
          </p:cNvSpPr>
          <p:nvPr>
            <p:ph type="body" idx="1"/>
          </p:nvPr>
        </p:nvSpPr>
        <p:spPr>
          <a:xfrm>
            <a:off x="838200" y="423110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69DBC-2956-8F47-4E6B-2E507E2D943D}"/>
              </a:ext>
            </a:extLst>
          </p:cNvPr>
          <p:cNvSpPr>
            <a:spLocks noGrp="1"/>
          </p:cNvSpPr>
          <p:nvPr>
            <p:ph type="dt" sz="half" idx="10"/>
          </p:nvPr>
        </p:nvSpPr>
        <p:spPr/>
        <p:txBody>
          <a:bodyPr/>
          <a:lstStyle/>
          <a:p>
            <a:fld id="{A6894684-00AF-422F-9E70-484377D91052}" type="datetimeFigureOut">
              <a:rPr lang="es-MX" smtClean="0"/>
              <a:t>28/04/2026</a:t>
            </a:fld>
            <a:endParaRPr lang="es-MX"/>
          </a:p>
        </p:txBody>
      </p:sp>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
        <p:nvSpPr>
          <p:cNvPr id="8" name="Freeform 3">
            <a:extLst>
              <a:ext uri="{FF2B5EF4-FFF2-40B4-BE49-F238E27FC236}">
                <a16:creationId xmlns:a16="http://schemas.microsoft.com/office/drawing/2014/main" id="{581A35D0-8E52-1D8E-E991-7D3488348053}"/>
              </a:ext>
            </a:extLst>
          </p:cNvPr>
          <p:cNvSpPr>
            <a:spLocks noGrp="1" noRot="1" noMove="1" noResize="1" noEditPoints="1" noAdjustHandles="1" noChangeArrowheads="1" noChangeShapeType="1"/>
          </p:cNvSpPr>
          <p:nvPr userDrawn="1"/>
        </p:nvSpPr>
        <p:spPr>
          <a:xfrm>
            <a:off x="-93133" y="5121977"/>
            <a:ext cx="12285133" cy="1747743"/>
          </a:xfrm>
          <a:custGeom>
            <a:avLst/>
            <a:gdLst/>
            <a:ahLst/>
            <a:cxnLst/>
            <a:rect l="l" t="t" r="r" b="b"/>
            <a:pathLst>
              <a:path w="18532496" h="5054317">
                <a:moveTo>
                  <a:pt x="0" y="0"/>
                </a:moveTo>
                <a:lnTo>
                  <a:pt x="18532496" y="0"/>
                </a:lnTo>
                <a:lnTo>
                  <a:pt x="18532496" y="5054317"/>
                </a:lnTo>
                <a:lnTo>
                  <a:pt x="0" y="5054317"/>
                </a:lnTo>
                <a:lnTo>
                  <a:pt x="0" y="0"/>
                </a:lnTo>
                <a:close/>
              </a:path>
            </a:pathLst>
          </a:custGeom>
          <a:blipFill>
            <a:blip r:embed="rId3">
              <a:alphaModFix amt="18000"/>
              <a:extLst>
                <a:ext uri="{96DAC541-7B7A-43D3-8B79-37D633B846F1}">
                  <asvg:svgBlip xmlns:asvg="http://schemas.microsoft.com/office/drawing/2016/SVG/main" r:embed="rId4"/>
                </a:ext>
              </a:extLst>
            </a:blip>
            <a:stretch>
              <a:fillRect b="-67924"/>
            </a:stretch>
          </a:blipFill>
        </p:spPr>
        <p:txBody>
          <a:bodyPr/>
          <a:lstStyle/>
          <a:p>
            <a:endParaRPr lang="es-MX"/>
          </a:p>
        </p:txBody>
      </p:sp>
      <p:sp>
        <p:nvSpPr>
          <p:cNvPr id="9" name="Freeform 4">
            <a:extLst>
              <a:ext uri="{FF2B5EF4-FFF2-40B4-BE49-F238E27FC236}">
                <a16:creationId xmlns:a16="http://schemas.microsoft.com/office/drawing/2014/main" id="{14A5ADE2-91DE-370D-21C5-8058DD63D938}"/>
              </a:ext>
            </a:extLst>
          </p:cNvPr>
          <p:cNvSpPr>
            <a:spLocks/>
          </p:cNvSpPr>
          <p:nvPr userDrawn="1"/>
        </p:nvSpPr>
        <p:spPr>
          <a:xfrm flipV="1">
            <a:off x="0" y="-1"/>
            <a:ext cx="12192000" cy="1468530"/>
          </a:xfrm>
          <a:custGeom>
            <a:avLst/>
            <a:gdLst/>
            <a:ahLst/>
            <a:cxnLst/>
            <a:rect l="l" t="t" r="r" b="b"/>
            <a:pathLst>
              <a:path w="18532496" h="5054317">
                <a:moveTo>
                  <a:pt x="0" y="5054318"/>
                </a:moveTo>
                <a:lnTo>
                  <a:pt x="18532496" y="5054318"/>
                </a:lnTo>
                <a:lnTo>
                  <a:pt x="18532496" y="0"/>
                </a:lnTo>
                <a:lnTo>
                  <a:pt x="0" y="0"/>
                </a:lnTo>
                <a:lnTo>
                  <a:pt x="0" y="5054318"/>
                </a:lnTo>
                <a:close/>
              </a:path>
            </a:pathLst>
          </a:custGeom>
          <a:blipFill>
            <a:blip r:embed="rId3">
              <a:alphaModFix amt="12000"/>
              <a:extLst>
                <a:ext uri="{96DAC541-7B7A-43D3-8B79-37D633B846F1}">
                  <asvg:svgBlip xmlns:asvg="http://schemas.microsoft.com/office/drawing/2016/SVG/main" r:embed="rId4"/>
                </a:ext>
              </a:extLst>
            </a:blip>
            <a:stretch>
              <a:fillRect b="-100000"/>
            </a:stretch>
          </a:blipFill>
        </p:spPr>
        <p:txBody>
          <a:bodyPr/>
          <a:lstStyle/>
          <a:p>
            <a:endParaRPr lang="es-MX"/>
          </a:p>
        </p:txBody>
      </p:sp>
    </p:spTree>
    <p:extLst>
      <p:ext uri="{BB962C8B-B14F-4D97-AF65-F5344CB8AC3E}">
        <p14:creationId xmlns:p14="http://schemas.microsoft.com/office/powerpoint/2010/main" val="3831450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295FCD2-FBD5-1EFB-6B99-A5A5A405356B}"/>
              </a:ext>
            </a:extLst>
          </p:cNvPr>
          <p:cNvSpPr>
            <a:spLocks noGrp="1" noRot="1" noMove="1" noResize="1" noEditPoints="1" noAdjustHandles="1" noChangeArrowheads="1" noChangeShapeType="1"/>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MX"/>
          </a:p>
        </p:txBody>
      </p:sp>
      <p:sp>
        <p:nvSpPr>
          <p:cNvPr id="2" name="Title 1">
            <a:extLst>
              <a:ext uri="{FF2B5EF4-FFF2-40B4-BE49-F238E27FC236}">
                <a16:creationId xmlns:a16="http://schemas.microsoft.com/office/drawing/2014/main" id="{3060115F-7367-9831-CC7F-5F32AB3CDF64}"/>
              </a:ext>
            </a:extLst>
          </p:cNvPr>
          <p:cNvSpPr>
            <a:spLocks noGrp="1"/>
          </p:cNvSpPr>
          <p:nvPr>
            <p:ph type="title" hasCustomPrompt="1"/>
          </p:nvPr>
        </p:nvSpPr>
        <p:spPr/>
        <p:txBody>
          <a:bodyPr/>
          <a:lstStyle>
            <a:lvl1pPr>
              <a:defRPr/>
            </a:lvl1pPr>
          </a:lstStyle>
          <a:p>
            <a:r>
              <a:rPr lang="en-US"/>
              <a:t>About you</a:t>
            </a:r>
            <a:endParaRPr lang="es-MX"/>
          </a:p>
        </p:txBody>
      </p:sp>
      <p:grpSp>
        <p:nvGrpSpPr>
          <p:cNvPr id="5" name="Group 6">
            <a:extLst>
              <a:ext uri="{FF2B5EF4-FFF2-40B4-BE49-F238E27FC236}">
                <a16:creationId xmlns:a16="http://schemas.microsoft.com/office/drawing/2014/main" id="{38C10DA9-B70C-145C-3BF4-E96609F6562A}"/>
              </a:ext>
            </a:extLst>
          </p:cNvPr>
          <p:cNvGrpSpPr/>
          <p:nvPr userDrawn="1"/>
        </p:nvGrpSpPr>
        <p:grpSpPr>
          <a:xfrm>
            <a:off x="838200" y="1690688"/>
            <a:ext cx="10515602" cy="5167313"/>
            <a:chOff x="0" y="-234844"/>
            <a:chExt cx="4396591" cy="2457932"/>
          </a:xfrm>
        </p:grpSpPr>
        <p:sp>
          <p:nvSpPr>
            <p:cNvPr id="6" name="Freeform 7">
              <a:extLst>
                <a:ext uri="{FF2B5EF4-FFF2-40B4-BE49-F238E27FC236}">
                  <a16:creationId xmlns:a16="http://schemas.microsoft.com/office/drawing/2014/main" id="{670F8A61-A63F-DE51-BC1C-81A4C91CE8F3}"/>
                </a:ext>
              </a:extLst>
            </p:cNvPr>
            <p:cNvSpPr/>
            <p:nvPr/>
          </p:nvSpPr>
          <p:spPr>
            <a:xfrm>
              <a:off x="0" y="-234844"/>
              <a:ext cx="4396591" cy="2457932"/>
            </a:xfrm>
            <a:custGeom>
              <a:avLst/>
              <a:gdLst/>
              <a:ahLst/>
              <a:cxnLst/>
              <a:rect l="l" t="t" r="r" b="b"/>
              <a:pathLst>
                <a:path w="4396591" h="2223088">
                  <a:moveTo>
                    <a:pt x="13449" y="0"/>
                  </a:moveTo>
                  <a:lnTo>
                    <a:pt x="4383141" y="0"/>
                  </a:lnTo>
                  <a:cubicBezTo>
                    <a:pt x="4390569" y="0"/>
                    <a:pt x="4396591" y="6022"/>
                    <a:pt x="4396591" y="13449"/>
                  </a:cubicBezTo>
                  <a:lnTo>
                    <a:pt x="4396591" y="2209638"/>
                  </a:lnTo>
                  <a:cubicBezTo>
                    <a:pt x="4396591" y="2213205"/>
                    <a:pt x="4395174" y="2216626"/>
                    <a:pt x="4392651" y="2219148"/>
                  </a:cubicBezTo>
                  <a:cubicBezTo>
                    <a:pt x="4390129" y="2221671"/>
                    <a:pt x="4386708" y="2223088"/>
                    <a:pt x="4383141" y="2223088"/>
                  </a:cubicBezTo>
                  <a:lnTo>
                    <a:pt x="13449" y="2223088"/>
                  </a:lnTo>
                  <a:cubicBezTo>
                    <a:pt x="6022" y="2223088"/>
                    <a:pt x="0" y="2217066"/>
                    <a:pt x="0" y="2209638"/>
                  </a:cubicBezTo>
                  <a:lnTo>
                    <a:pt x="0" y="13449"/>
                  </a:lnTo>
                  <a:cubicBezTo>
                    <a:pt x="0" y="6022"/>
                    <a:pt x="6022" y="0"/>
                    <a:pt x="13449" y="0"/>
                  </a:cubicBezTo>
                  <a:close/>
                </a:path>
              </a:pathLst>
            </a:custGeom>
            <a:solidFill>
              <a:srgbClr val="FFFFFF"/>
            </a:solidFill>
          </p:spPr>
          <p:txBody>
            <a:bodyPr/>
            <a:lstStyle/>
            <a:p>
              <a:endParaRPr lang="es-MX"/>
            </a:p>
          </p:txBody>
        </p:sp>
        <p:sp>
          <p:nvSpPr>
            <p:cNvPr id="7" name="TextBox 8">
              <a:extLst>
                <a:ext uri="{FF2B5EF4-FFF2-40B4-BE49-F238E27FC236}">
                  <a16:creationId xmlns:a16="http://schemas.microsoft.com/office/drawing/2014/main" id="{6AD497AD-1ADB-DF0F-B24D-811410E7D65A}"/>
                </a:ext>
              </a:extLst>
            </p:cNvPr>
            <p:cNvSpPr txBox="1"/>
            <p:nvPr/>
          </p:nvSpPr>
          <p:spPr>
            <a:xfrm>
              <a:off x="0" y="-38100"/>
              <a:ext cx="4396590" cy="2261188"/>
            </a:xfrm>
            <a:prstGeom prst="rect">
              <a:avLst/>
            </a:prstGeom>
          </p:spPr>
          <p:txBody>
            <a:bodyPr lIns="50800" tIns="50800" rIns="50800" bIns="50800" rtlCol="0" anchor="ctr"/>
            <a:lstStyle/>
            <a:p>
              <a:pPr algn="ctr">
                <a:lnSpc>
                  <a:spcPts val="2659"/>
                </a:lnSpc>
                <a:spcBef>
                  <a:spcPct val="0"/>
                </a:spcBef>
              </a:pPr>
              <a:endParaRPr/>
            </a:p>
          </p:txBody>
        </p:sp>
      </p:gr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75267" y="1837854"/>
            <a:ext cx="9863666" cy="4339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Tree>
    <p:extLst>
      <p:ext uri="{BB962C8B-B14F-4D97-AF65-F5344CB8AC3E}">
        <p14:creationId xmlns:p14="http://schemas.microsoft.com/office/powerpoint/2010/main" val="243162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295FCD2-FBD5-1EFB-6B99-A5A5A405356B}"/>
              </a:ext>
            </a:extLst>
          </p:cNvPr>
          <p:cNvSpPr>
            <a:spLocks noGrp="1" noRot="1" noMove="1" noResize="1" noEditPoints="1" noAdjustHandles="1" noChangeArrowheads="1" noChangeShapeType="1"/>
          </p:cNvSpPr>
          <p:nvPr userDrawn="1"/>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MX"/>
          </a:p>
        </p:txBody>
      </p:sp>
      <p:sp>
        <p:nvSpPr>
          <p:cNvPr id="2" name="Title 1">
            <a:extLst>
              <a:ext uri="{FF2B5EF4-FFF2-40B4-BE49-F238E27FC236}">
                <a16:creationId xmlns:a16="http://schemas.microsoft.com/office/drawing/2014/main" id="{3060115F-7367-9831-CC7F-5F32AB3CDF64}"/>
              </a:ext>
            </a:extLst>
          </p:cNvPr>
          <p:cNvSpPr>
            <a:spLocks noGrp="1"/>
          </p:cNvSpPr>
          <p:nvPr>
            <p:ph type="title" hasCustomPrompt="1"/>
          </p:nvPr>
        </p:nvSpPr>
        <p:spPr/>
        <p:txBody>
          <a:bodyPr/>
          <a:lstStyle>
            <a:lvl1pPr>
              <a:defRPr/>
            </a:lvl1pPr>
          </a:lstStyle>
          <a:p>
            <a:r>
              <a:rPr lang="en-US"/>
              <a:t>About the speakers</a:t>
            </a:r>
            <a:endParaRPr lang="es-MX"/>
          </a:p>
        </p:txBody>
      </p:sp>
      <p:grpSp>
        <p:nvGrpSpPr>
          <p:cNvPr id="12" name="Group 8">
            <a:extLst>
              <a:ext uri="{FF2B5EF4-FFF2-40B4-BE49-F238E27FC236}">
                <a16:creationId xmlns:a16="http://schemas.microsoft.com/office/drawing/2014/main" id="{84CD342C-E2D3-353F-8B33-2ACD3A1BE8B3}"/>
              </a:ext>
            </a:extLst>
          </p:cNvPr>
          <p:cNvGrpSpPr/>
          <p:nvPr userDrawn="1"/>
        </p:nvGrpSpPr>
        <p:grpSpPr>
          <a:xfrm>
            <a:off x="6891020" y="3537719"/>
            <a:ext cx="4064848" cy="3320281"/>
            <a:chOff x="0" y="0"/>
            <a:chExt cx="1513731" cy="2223088"/>
          </a:xfrm>
        </p:grpSpPr>
        <p:sp>
          <p:nvSpPr>
            <p:cNvPr id="13" name="Freeform 9">
              <a:extLst>
                <a:ext uri="{FF2B5EF4-FFF2-40B4-BE49-F238E27FC236}">
                  <a16:creationId xmlns:a16="http://schemas.microsoft.com/office/drawing/2014/main" id="{4F86E2AA-C4BD-82FC-82EE-004E6D1D47E9}"/>
                </a:ext>
              </a:extLst>
            </p:cNvPr>
            <p:cNvSpPr/>
            <p:nvPr/>
          </p:nvSpPr>
          <p:spPr>
            <a:xfrm>
              <a:off x="0" y="0"/>
              <a:ext cx="1513731" cy="2223088"/>
            </a:xfrm>
            <a:custGeom>
              <a:avLst/>
              <a:gdLst/>
              <a:ahLst/>
              <a:cxnLst/>
              <a:rect l="l" t="t" r="r" b="b"/>
              <a:pathLst>
                <a:path w="1513731" h="2223088">
                  <a:moveTo>
                    <a:pt x="39064" y="0"/>
                  </a:moveTo>
                  <a:lnTo>
                    <a:pt x="1474668" y="0"/>
                  </a:lnTo>
                  <a:cubicBezTo>
                    <a:pt x="1485028" y="0"/>
                    <a:pt x="1494964" y="4116"/>
                    <a:pt x="1502290" y="11441"/>
                  </a:cubicBezTo>
                  <a:cubicBezTo>
                    <a:pt x="1509616" y="18767"/>
                    <a:pt x="1513731" y="28703"/>
                    <a:pt x="1513731" y="39064"/>
                  </a:cubicBezTo>
                  <a:lnTo>
                    <a:pt x="1513731" y="2184024"/>
                  </a:lnTo>
                  <a:cubicBezTo>
                    <a:pt x="1513731" y="2205598"/>
                    <a:pt x="1496242" y="2223088"/>
                    <a:pt x="1474668" y="2223088"/>
                  </a:cubicBezTo>
                  <a:lnTo>
                    <a:pt x="39064" y="2223088"/>
                  </a:lnTo>
                  <a:cubicBezTo>
                    <a:pt x="17489" y="2223088"/>
                    <a:pt x="0" y="2205598"/>
                    <a:pt x="0" y="2184024"/>
                  </a:cubicBezTo>
                  <a:lnTo>
                    <a:pt x="0" y="39064"/>
                  </a:lnTo>
                  <a:cubicBezTo>
                    <a:pt x="0" y="17489"/>
                    <a:pt x="17489" y="0"/>
                    <a:pt x="39064" y="0"/>
                  </a:cubicBezTo>
                  <a:close/>
                </a:path>
              </a:pathLst>
            </a:custGeom>
            <a:solidFill>
              <a:srgbClr val="FFFFFF"/>
            </a:solidFill>
          </p:spPr>
          <p:txBody>
            <a:bodyPr/>
            <a:lstStyle/>
            <a:p>
              <a:endParaRPr lang="es-MX"/>
            </a:p>
          </p:txBody>
        </p:sp>
        <p:sp>
          <p:nvSpPr>
            <p:cNvPr id="14" name="TextBox 13">
              <a:extLst>
                <a:ext uri="{FF2B5EF4-FFF2-40B4-BE49-F238E27FC236}">
                  <a16:creationId xmlns:a16="http://schemas.microsoft.com/office/drawing/2014/main" id="{0EA62988-03A8-2DE6-E763-D7FD9D803333}"/>
                </a:ext>
              </a:extLst>
            </p:cNvPr>
            <p:cNvSpPr txBox="1"/>
            <p:nvPr/>
          </p:nvSpPr>
          <p:spPr>
            <a:xfrm>
              <a:off x="0" y="-47625"/>
              <a:ext cx="1513731" cy="2270713"/>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8">
            <a:extLst>
              <a:ext uri="{FF2B5EF4-FFF2-40B4-BE49-F238E27FC236}">
                <a16:creationId xmlns:a16="http://schemas.microsoft.com/office/drawing/2014/main" id="{CA45EA46-89E2-2C45-FAE0-708611EC9957}"/>
              </a:ext>
            </a:extLst>
          </p:cNvPr>
          <p:cNvGrpSpPr/>
          <p:nvPr userDrawn="1"/>
        </p:nvGrpSpPr>
        <p:grpSpPr>
          <a:xfrm>
            <a:off x="1075267" y="3537719"/>
            <a:ext cx="4064848" cy="3320281"/>
            <a:chOff x="0" y="0"/>
            <a:chExt cx="1513731" cy="2223088"/>
          </a:xfrm>
        </p:grpSpPr>
        <p:sp>
          <p:nvSpPr>
            <p:cNvPr id="16" name="Freeform 9">
              <a:extLst>
                <a:ext uri="{FF2B5EF4-FFF2-40B4-BE49-F238E27FC236}">
                  <a16:creationId xmlns:a16="http://schemas.microsoft.com/office/drawing/2014/main" id="{321B8092-5047-EEF5-E13B-09FC7334CE51}"/>
                </a:ext>
              </a:extLst>
            </p:cNvPr>
            <p:cNvSpPr/>
            <p:nvPr/>
          </p:nvSpPr>
          <p:spPr>
            <a:xfrm>
              <a:off x="0" y="0"/>
              <a:ext cx="1513731" cy="2223088"/>
            </a:xfrm>
            <a:custGeom>
              <a:avLst/>
              <a:gdLst/>
              <a:ahLst/>
              <a:cxnLst/>
              <a:rect l="l" t="t" r="r" b="b"/>
              <a:pathLst>
                <a:path w="1513731" h="2223088">
                  <a:moveTo>
                    <a:pt x="39064" y="0"/>
                  </a:moveTo>
                  <a:lnTo>
                    <a:pt x="1474668" y="0"/>
                  </a:lnTo>
                  <a:cubicBezTo>
                    <a:pt x="1485028" y="0"/>
                    <a:pt x="1494964" y="4116"/>
                    <a:pt x="1502290" y="11441"/>
                  </a:cubicBezTo>
                  <a:cubicBezTo>
                    <a:pt x="1509616" y="18767"/>
                    <a:pt x="1513731" y="28703"/>
                    <a:pt x="1513731" y="39064"/>
                  </a:cubicBezTo>
                  <a:lnTo>
                    <a:pt x="1513731" y="2184024"/>
                  </a:lnTo>
                  <a:cubicBezTo>
                    <a:pt x="1513731" y="2205598"/>
                    <a:pt x="1496242" y="2223088"/>
                    <a:pt x="1474668" y="2223088"/>
                  </a:cubicBezTo>
                  <a:lnTo>
                    <a:pt x="39064" y="2223088"/>
                  </a:lnTo>
                  <a:cubicBezTo>
                    <a:pt x="17489" y="2223088"/>
                    <a:pt x="0" y="2205598"/>
                    <a:pt x="0" y="2184024"/>
                  </a:cubicBezTo>
                  <a:lnTo>
                    <a:pt x="0" y="39064"/>
                  </a:lnTo>
                  <a:cubicBezTo>
                    <a:pt x="0" y="17489"/>
                    <a:pt x="17489" y="0"/>
                    <a:pt x="39064" y="0"/>
                  </a:cubicBezTo>
                  <a:close/>
                </a:path>
              </a:pathLst>
            </a:custGeom>
            <a:solidFill>
              <a:srgbClr val="FFFFFF"/>
            </a:solidFill>
          </p:spPr>
          <p:txBody>
            <a:bodyPr/>
            <a:lstStyle/>
            <a:p>
              <a:endParaRPr lang="es-MX"/>
            </a:p>
          </p:txBody>
        </p:sp>
        <p:sp>
          <p:nvSpPr>
            <p:cNvPr id="17" name="TextBox 16">
              <a:extLst>
                <a:ext uri="{FF2B5EF4-FFF2-40B4-BE49-F238E27FC236}">
                  <a16:creationId xmlns:a16="http://schemas.microsoft.com/office/drawing/2014/main" id="{037CCC31-8AF4-47FA-8DCA-1BD5C1B435BC}"/>
                </a:ext>
              </a:extLst>
            </p:cNvPr>
            <p:cNvSpPr txBox="1"/>
            <p:nvPr/>
          </p:nvSpPr>
          <p:spPr>
            <a:xfrm>
              <a:off x="0" y="-47625"/>
              <a:ext cx="1513731" cy="2270713"/>
            </a:xfrm>
            <a:prstGeom prst="rect">
              <a:avLst/>
            </a:prstGeom>
          </p:spPr>
          <p:txBody>
            <a:bodyPr lIns="50800" tIns="50800" rIns="50800" bIns="50800" rtlCol="0" anchor="ctr"/>
            <a:lstStyle/>
            <a:p>
              <a:pPr algn="ctr">
                <a:lnSpc>
                  <a:spcPts val="2659"/>
                </a:lnSpc>
                <a:spcBef>
                  <a:spcPct val="0"/>
                </a:spcBef>
              </a:pPr>
              <a:endParaRPr/>
            </a:p>
          </p:txBody>
        </p:sp>
      </p:grpSp>
      <p:sp>
        <p:nvSpPr>
          <p:cNvPr id="9" name="Picture Placeholder 2">
            <a:extLst>
              <a:ext uri="{FF2B5EF4-FFF2-40B4-BE49-F238E27FC236}">
                <a16:creationId xmlns:a16="http://schemas.microsoft.com/office/drawing/2014/main" id="{31EDC61F-BE19-72DD-112C-956072532F5D}"/>
              </a:ext>
            </a:extLst>
          </p:cNvPr>
          <p:cNvSpPr>
            <a:spLocks noGrp="1"/>
          </p:cNvSpPr>
          <p:nvPr>
            <p:ph type="pic" idx="10"/>
          </p:nvPr>
        </p:nvSpPr>
        <p:spPr>
          <a:xfrm>
            <a:off x="7458710" y="2055813"/>
            <a:ext cx="2929468" cy="2778654"/>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19" name="Content Placeholder 2">
            <a:extLst>
              <a:ext uri="{FF2B5EF4-FFF2-40B4-BE49-F238E27FC236}">
                <a16:creationId xmlns:a16="http://schemas.microsoft.com/office/drawing/2014/main" id="{867F8969-FF6A-9BCC-AAAE-F6E9D06627D3}"/>
              </a:ext>
            </a:extLst>
          </p:cNvPr>
          <p:cNvSpPr>
            <a:spLocks noGrp="1"/>
          </p:cNvSpPr>
          <p:nvPr>
            <p:ph idx="11" hasCustomPrompt="1"/>
          </p:nvPr>
        </p:nvSpPr>
        <p:spPr>
          <a:xfrm>
            <a:off x="7458711" y="5162293"/>
            <a:ext cx="2929468" cy="1502393"/>
          </a:xfrm>
        </p:spPr>
        <p:txBody>
          <a:bodyPr/>
          <a:lstStyle>
            <a:lvl1pPr marL="0" indent="0">
              <a:buNone/>
              <a:defRPr/>
            </a:lvl1pPr>
            <a:lvl2pPr marL="457200" indent="0">
              <a:buNone/>
              <a:defRPr/>
            </a:lvl2pPr>
            <a:lvl3pPr marL="914400" indent="0">
              <a:buNone/>
              <a:defRPr/>
            </a:lvl3pPr>
          </a:lstStyle>
          <a:p>
            <a:pPr lvl="0"/>
            <a:r>
              <a:rPr lang="en-US"/>
              <a:t>Your Name</a:t>
            </a:r>
          </a:p>
          <a:p>
            <a:pPr lvl="0"/>
            <a:r>
              <a:rPr lang="en-US"/>
              <a:t>Title</a:t>
            </a:r>
          </a:p>
          <a:p>
            <a:pPr lvl="0"/>
            <a:r>
              <a:rPr lang="en-US"/>
              <a:t>Social</a:t>
            </a:r>
          </a:p>
        </p:txBody>
      </p:sp>
      <p:sp>
        <p:nvSpPr>
          <p:cNvPr id="21" name="Content Placeholder 2">
            <a:extLst>
              <a:ext uri="{FF2B5EF4-FFF2-40B4-BE49-F238E27FC236}">
                <a16:creationId xmlns:a16="http://schemas.microsoft.com/office/drawing/2014/main" id="{D64A18B6-AE97-E15D-EB56-EA636756AB0A}"/>
              </a:ext>
            </a:extLst>
          </p:cNvPr>
          <p:cNvSpPr>
            <a:spLocks noGrp="1"/>
          </p:cNvSpPr>
          <p:nvPr>
            <p:ph idx="12" hasCustomPrompt="1"/>
          </p:nvPr>
        </p:nvSpPr>
        <p:spPr>
          <a:xfrm>
            <a:off x="1642957" y="5162293"/>
            <a:ext cx="2929468" cy="1502393"/>
          </a:xfrm>
        </p:spPr>
        <p:txBody>
          <a:bodyPr/>
          <a:lstStyle>
            <a:lvl1pPr marL="0" indent="0">
              <a:buNone/>
              <a:defRPr/>
            </a:lvl1pPr>
            <a:lvl2pPr marL="457200" indent="0">
              <a:buNone/>
              <a:defRPr/>
            </a:lvl2pPr>
            <a:lvl3pPr marL="914400" indent="0">
              <a:buNone/>
              <a:defRPr/>
            </a:lvl3pPr>
          </a:lstStyle>
          <a:p>
            <a:pPr lvl="0"/>
            <a:r>
              <a:rPr lang="en-US"/>
              <a:t>Your Name</a:t>
            </a:r>
          </a:p>
          <a:p>
            <a:pPr lvl="0"/>
            <a:r>
              <a:rPr lang="en-US"/>
              <a:t>Title</a:t>
            </a:r>
          </a:p>
          <a:p>
            <a:pPr lvl="0"/>
            <a:r>
              <a:rPr lang="en-US"/>
              <a:t>Social</a:t>
            </a:r>
          </a:p>
        </p:txBody>
      </p:sp>
      <p:sp>
        <p:nvSpPr>
          <p:cNvPr id="22" name="Picture Placeholder 2">
            <a:extLst>
              <a:ext uri="{FF2B5EF4-FFF2-40B4-BE49-F238E27FC236}">
                <a16:creationId xmlns:a16="http://schemas.microsoft.com/office/drawing/2014/main" id="{A49CB7E8-945A-668B-6849-ED0A7A9C6C14}"/>
              </a:ext>
            </a:extLst>
          </p:cNvPr>
          <p:cNvSpPr>
            <a:spLocks noGrp="1"/>
          </p:cNvSpPr>
          <p:nvPr>
            <p:ph type="pic" idx="13"/>
          </p:nvPr>
        </p:nvSpPr>
        <p:spPr>
          <a:xfrm>
            <a:off x="1642957" y="2039673"/>
            <a:ext cx="2929468" cy="2778654"/>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Tree>
    <p:extLst>
      <p:ext uri="{BB962C8B-B14F-4D97-AF65-F5344CB8AC3E}">
        <p14:creationId xmlns:p14="http://schemas.microsoft.com/office/powerpoint/2010/main" val="216962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option 5">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DA6A76C6-C0A4-6790-3061-968E4DAC09D7}"/>
              </a:ext>
            </a:extLst>
          </p:cNvPr>
          <p:cNvGrpSpPr>
            <a:grpSpLocks noGrp="1" noUngrp="1" noRot="1" noMove="1" noResize="1"/>
          </p:cNvGrpSpPr>
          <p:nvPr userDrawn="1"/>
        </p:nvGrpSpPr>
        <p:grpSpPr>
          <a:xfrm>
            <a:off x="838200" y="0"/>
            <a:ext cx="11353800" cy="6858000"/>
            <a:chOff x="0" y="0"/>
            <a:chExt cx="4197679" cy="1984951"/>
          </a:xfrm>
        </p:grpSpPr>
        <p:sp>
          <p:nvSpPr>
            <p:cNvPr id="5" name="Freeform 9">
              <a:extLst>
                <a:ext uri="{FF2B5EF4-FFF2-40B4-BE49-F238E27FC236}">
                  <a16:creationId xmlns:a16="http://schemas.microsoft.com/office/drawing/2014/main" id="{CC5A72BB-BDAC-3A05-54EA-1285727BD273}"/>
                </a:ext>
              </a:extLst>
            </p:cNvPr>
            <p:cNvSpPr>
              <a:spLocks noGrp="1" noRot="1" noMove="1" noResize="1" noEditPoints="1" noAdjustHandles="1" noChangeArrowheads="1" noChangeShapeType="1"/>
            </p:cNvSpPr>
            <p:nvPr/>
          </p:nvSpPr>
          <p:spPr>
            <a:xfrm>
              <a:off x="0" y="0"/>
              <a:ext cx="4197679" cy="1984951"/>
            </a:xfrm>
            <a:custGeom>
              <a:avLst/>
              <a:gdLst/>
              <a:ahLst/>
              <a:cxnLst/>
              <a:rect l="l" t="t" r="r" b="b"/>
              <a:pathLst>
                <a:path w="4197679" h="1984951">
                  <a:moveTo>
                    <a:pt x="14087" y="0"/>
                  </a:moveTo>
                  <a:lnTo>
                    <a:pt x="4183592" y="0"/>
                  </a:lnTo>
                  <a:cubicBezTo>
                    <a:pt x="4191372" y="0"/>
                    <a:pt x="4197679" y="6307"/>
                    <a:pt x="4197679" y="14087"/>
                  </a:cubicBezTo>
                  <a:lnTo>
                    <a:pt x="4197679" y="1970864"/>
                  </a:lnTo>
                  <a:cubicBezTo>
                    <a:pt x="4197679" y="1978644"/>
                    <a:pt x="4191372" y="1984951"/>
                    <a:pt x="4183592" y="1984951"/>
                  </a:cubicBezTo>
                  <a:lnTo>
                    <a:pt x="14087" y="1984951"/>
                  </a:lnTo>
                  <a:cubicBezTo>
                    <a:pt x="6307" y="1984951"/>
                    <a:pt x="0" y="1978644"/>
                    <a:pt x="0" y="1970864"/>
                  </a:cubicBezTo>
                  <a:lnTo>
                    <a:pt x="0" y="14087"/>
                  </a:lnTo>
                  <a:cubicBezTo>
                    <a:pt x="0" y="6307"/>
                    <a:pt x="6307" y="0"/>
                    <a:pt x="14087" y="0"/>
                  </a:cubicBezTo>
                  <a:close/>
                </a:path>
              </a:pathLst>
            </a:custGeom>
            <a:solidFill>
              <a:srgbClr val="FFFFFF"/>
            </a:solidFill>
          </p:spPr>
          <p:txBody>
            <a:bodyPr/>
            <a:lstStyle/>
            <a:p>
              <a:endParaRPr lang="es-MX"/>
            </a:p>
          </p:txBody>
        </p:sp>
        <p:sp>
          <p:nvSpPr>
            <p:cNvPr id="6" name="TextBox 10">
              <a:extLst>
                <a:ext uri="{FF2B5EF4-FFF2-40B4-BE49-F238E27FC236}">
                  <a16:creationId xmlns:a16="http://schemas.microsoft.com/office/drawing/2014/main" id="{28219582-B644-88FC-10E4-1824D5EB8D02}"/>
                </a:ext>
              </a:extLst>
            </p:cNvPr>
            <p:cNvSpPr txBox="1">
              <a:spLocks noGrp="1" noRot="1" noMove="1" noResize="1" noEditPoints="1" noAdjustHandles="1" noChangeArrowheads="1" noChangeShapeType="1"/>
            </p:cNvSpPr>
            <p:nvPr/>
          </p:nvSpPr>
          <p:spPr>
            <a:xfrm>
              <a:off x="0" y="-47625"/>
              <a:ext cx="4197679" cy="2032576"/>
            </a:xfrm>
            <a:prstGeom prst="rect">
              <a:avLst/>
            </a:prstGeom>
          </p:spPr>
          <p:txBody>
            <a:bodyPr lIns="50800" tIns="50800" rIns="50800" bIns="50800" rtlCol="0" anchor="ctr"/>
            <a:lstStyle/>
            <a:p>
              <a:pPr algn="ctr">
                <a:lnSpc>
                  <a:spcPts val="2659"/>
                </a:lnSpc>
                <a:spcBef>
                  <a:spcPct val="0"/>
                </a:spcBef>
              </a:pPr>
              <a:endParaRPr/>
            </a:p>
          </p:txBody>
        </p:sp>
      </p:grpSp>
      <p:sp>
        <p:nvSpPr>
          <p:cNvPr id="2" name="Title 1">
            <a:extLst>
              <a:ext uri="{FF2B5EF4-FFF2-40B4-BE49-F238E27FC236}">
                <a16:creationId xmlns:a16="http://schemas.microsoft.com/office/drawing/2014/main" id="{3060115F-7367-9831-CC7F-5F32AB3CDF64}"/>
              </a:ext>
            </a:extLst>
          </p:cNvPr>
          <p:cNvSpPr>
            <a:spLocks noGrp="1"/>
          </p:cNvSpPr>
          <p:nvPr>
            <p:ph type="title"/>
          </p:nvPr>
        </p:nvSpPr>
        <p:spPr>
          <a:xfrm>
            <a:off x="1058109" y="3877577"/>
            <a:ext cx="10913982" cy="763516"/>
          </a:xfrm>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F098A29B-4D9A-F0BE-9E0B-F6308469426C}"/>
              </a:ext>
            </a:extLst>
          </p:cNvPr>
          <p:cNvSpPr>
            <a:spLocks noGrp="1"/>
          </p:cNvSpPr>
          <p:nvPr>
            <p:ph idx="1"/>
          </p:nvPr>
        </p:nvSpPr>
        <p:spPr>
          <a:xfrm>
            <a:off x="1049416" y="4766731"/>
            <a:ext cx="10913980" cy="1638828"/>
          </a:xfrm>
        </p:spPr>
        <p:txBody>
          <a:bodyPr/>
          <a:lstStyle/>
          <a:p>
            <a:pPr lvl="0"/>
            <a:r>
              <a:rPr lang="en-US"/>
              <a:t>Click to edit Master text styles</a:t>
            </a:r>
          </a:p>
          <a:p>
            <a:pPr lvl="1"/>
            <a:r>
              <a:rPr lang="en-US"/>
              <a:t>Second level</a:t>
            </a:r>
          </a:p>
        </p:txBody>
      </p:sp>
      <p:sp>
        <p:nvSpPr>
          <p:cNvPr id="10" name="Freeform 4">
            <a:extLst>
              <a:ext uri="{FF2B5EF4-FFF2-40B4-BE49-F238E27FC236}">
                <a16:creationId xmlns:a16="http://schemas.microsoft.com/office/drawing/2014/main" id="{60832C5C-8902-D453-4845-67C132625F56}"/>
              </a:ext>
            </a:extLst>
          </p:cNvPr>
          <p:cNvSpPr>
            <a:spLocks noGrp="1" noRot="1" noMove="1" noResize="1" noEditPoints="1" noAdjustHandles="1" noChangeArrowheads="1" noChangeShapeType="1"/>
          </p:cNvSpPr>
          <p:nvPr userDrawn="1"/>
        </p:nvSpPr>
        <p:spPr>
          <a:xfrm>
            <a:off x="-77002" y="-29333"/>
            <a:ext cx="915202" cy="6887333"/>
          </a:xfrm>
          <a:custGeom>
            <a:avLst/>
            <a:gdLst/>
            <a:ahLst/>
            <a:cxnLst/>
            <a:rect l="l" t="t" r="r" b="b"/>
            <a:pathLst>
              <a:path w="1028700" h="10287000">
                <a:moveTo>
                  <a:pt x="0" y="0"/>
                </a:moveTo>
                <a:lnTo>
                  <a:pt x="1028700" y="0"/>
                </a:lnTo>
                <a:lnTo>
                  <a:pt x="1028700" y="10287000"/>
                </a:lnTo>
                <a:lnTo>
                  <a:pt x="0" y="10287000"/>
                </a:lnTo>
                <a:lnTo>
                  <a:pt x="0" y="0"/>
                </a:lnTo>
                <a:close/>
              </a:path>
            </a:pathLst>
          </a:custGeom>
          <a:blipFill>
            <a:blip r:embed="rId2"/>
            <a:stretch>
              <a:fillRect l="-664285" r="-664285"/>
            </a:stretch>
          </a:blipFill>
        </p:spPr>
        <p:txBody>
          <a:bodyPr/>
          <a:lstStyle/>
          <a:p>
            <a:endParaRPr lang="es-MX"/>
          </a:p>
        </p:txBody>
      </p:sp>
      <p:grpSp>
        <p:nvGrpSpPr>
          <p:cNvPr id="14" name="Group 5">
            <a:extLst>
              <a:ext uri="{FF2B5EF4-FFF2-40B4-BE49-F238E27FC236}">
                <a16:creationId xmlns:a16="http://schemas.microsoft.com/office/drawing/2014/main" id="{96685936-0169-34D6-D524-77DA27F95E5C}"/>
              </a:ext>
            </a:extLst>
          </p:cNvPr>
          <p:cNvGrpSpPr/>
          <p:nvPr userDrawn="1"/>
        </p:nvGrpSpPr>
        <p:grpSpPr>
          <a:xfrm>
            <a:off x="276434" y="-29334"/>
            <a:ext cx="576580" cy="6858001"/>
            <a:chOff x="0" y="0"/>
            <a:chExt cx="923323" cy="13716000"/>
          </a:xfrm>
        </p:grpSpPr>
        <p:sp>
          <p:nvSpPr>
            <p:cNvPr id="15" name="AutoShape 6">
              <a:extLst>
                <a:ext uri="{FF2B5EF4-FFF2-40B4-BE49-F238E27FC236}">
                  <a16:creationId xmlns:a16="http://schemas.microsoft.com/office/drawing/2014/main" id="{4BBEC499-967A-9B2E-663D-537ACDDA5F8D}"/>
                </a:ext>
              </a:extLst>
            </p:cNvPr>
            <p:cNvSpPr/>
            <p:nvPr/>
          </p:nvSpPr>
          <p:spPr>
            <a:xfrm rot="-5400000">
              <a:off x="-5941027" y="6851650"/>
              <a:ext cx="13716000" cy="0"/>
            </a:xfrm>
            <a:prstGeom prst="line">
              <a:avLst/>
            </a:prstGeom>
            <a:ln w="12700" cap="rnd">
              <a:solidFill>
                <a:srgbClr val="121212">
                  <a:alpha val="26667"/>
                </a:srgbClr>
              </a:solidFill>
              <a:prstDash val="solid"/>
              <a:headEnd type="none" w="sm" len="sm"/>
              <a:tailEnd type="none" w="sm" len="sm"/>
            </a:ln>
          </p:spPr>
          <p:txBody>
            <a:bodyPr/>
            <a:lstStyle/>
            <a:p>
              <a:endParaRPr lang="es-MX"/>
            </a:p>
          </p:txBody>
        </p:sp>
        <p:sp>
          <p:nvSpPr>
            <p:cNvPr id="16" name="Freeform 7">
              <a:extLst>
                <a:ext uri="{FF2B5EF4-FFF2-40B4-BE49-F238E27FC236}">
                  <a16:creationId xmlns:a16="http://schemas.microsoft.com/office/drawing/2014/main" id="{AC43B49D-943A-E1AC-A2BF-FB8BA8DA7140}"/>
                </a:ext>
              </a:extLst>
            </p:cNvPr>
            <p:cNvSpPr/>
            <p:nvPr/>
          </p:nvSpPr>
          <p:spPr>
            <a:xfrm>
              <a:off x="0" y="6724554"/>
              <a:ext cx="400588" cy="266892"/>
            </a:xfrm>
            <a:custGeom>
              <a:avLst/>
              <a:gdLst/>
              <a:ahLst/>
              <a:cxnLst/>
              <a:rect l="l" t="t" r="r" b="b"/>
              <a:pathLst>
                <a:path w="400588" h="266892">
                  <a:moveTo>
                    <a:pt x="0" y="0"/>
                  </a:moveTo>
                  <a:lnTo>
                    <a:pt x="400588" y="0"/>
                  </a:lnTo>
                  <a:lnTo>
                    <a:pt x="400588" y="266892"/>
                  </a:lnTo>
                  <a:lnTo>
                    <a:pt x="0" y="26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a:p>
          </p:txBody>
        </p:sp>
      </p:grpSp>
      <p:sp>
        <p:nvSpPr>
          <p:cNvPr id="7" name="AutoShape 8">
            <a:extLst>
              <a:ext uri="{FF2B5EF4-FFF2-40B4-BE49-F238E27FC236}">
                <a16:creationId xmlns:a16="http://schemas.microsoft.com/office/drawing/2014/main" id="{5B0F7F05-AE44-780B-B6D3-1C7601CBDAFE}"/>
              </a:ext>
            </a:extLst>
          </p:cNvPr>
          <p:cNvSpPr/>
          <p:nvPr userDrawn="1"/>
        </p:nvSpPr>
        <p:spPr>
          <a:xfrm>
            <a:off x="861483" y="3455987"/>
            <a:ext cx="11330517" cy="4763"/>
          </a:xfrm>
          <a:prstGeom prst="line">
            <a:avLst/>
          </a:prstGeom>
          <a:ln w="9525" cap="rnd">
            <a:solidFill>
              <a:srgbClr val="121212">
                <a:alpha val="26667"/>
              </a:srgbClr>
            </a:solidFill>
            <a:prstDash val="solid"/>
            <a:headEnd type="none" w="sm" len="sm"/>
            <a:tailEnd type="none" w="sm" len="sm"/>
          </a:ln>
        </p:spPr>
        <p:txBody>
          <a:bodyPr/>
          <a:lstStyle/>
          <a:p>
            <a:endParaRPr lang="es-MX"/>
          </a:p>
        </p:txBody>
      </p:sp>
      <p:sp>
        <p:nvSpPr>
          <p:cNvPr id="8" name="Title 1">
            <a:extLst>
              <a:ext uri="{FF2B5EF4-FFF2-40B4-BE49-F238E27FC236}">
                <a16:creationId xmlns:a16="http://schemas.microsoft.com/office/drawing/2014/main" id="{0ABC146F-477C-6739-48C0-131FE8CF8B74}"/>
              </a:ext>
            </a:extLst>
          </p:cNvPr>
          <p:cNvSpPr txBox="1">
            <a:spLocks/>
          </p:cNvSpPr>
          <p:nvPr userDrawn="1"/>
        </p:nvSpPr>
        <p:spPr>
          <a:xfrm>
            <a:off x="1066804" y="495445"/>
            <a:ext cx="10913982" cy="7635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MX"/>
          </a:p>
        </p:txBody>
      </p:sp>
      <p:sp>
        <p:nvSpPr>
          <p:cNvPr id="9" name="Content Placeholder 2">
            <a:extLst>
              <a:ext uri="{FF2B5EF4-FFF2-40B4-BE49-F238E27FC236}">
                <a16:creationId xmlns:a16="http://schemas.microsoft.com/office/drawing/2014/main" id="{CB9CD599-72CC-2EDA-9D9B-CA67650500D9}"/>
              </a:ext>
            </a:extLst>
          </p:cNvPr>
          <p:cNvSpPr>
            <a:spLocks noGrp="1"/>
          </p:cNvSpPr>
          <p:nvPr>
            <p:ph idx="10"/>
          </p:nvPr>
        </p:nvSpPr>
        <p:spPr>
          <a:xfrm>
            <a:off x="1058111" y="1462165"/>
            <a:ext cx="10913980" cy="1638828"/>
          </a:xfrm>
        </p:spPr>
        <p:txBody>
          <a:bodyPr/>
          <a:lstStyle/>
          <a:p>
            <a:pPr lvl="0"/>
            <a:r>
              <a:rPr lang="en-US"/>
              <a:t>Click to edit Master text styles</a:t>
            </a:r>
          </a:p>
          <a:p>
            <a:pPr lvl="1"/>
            <a:r>
              <a:rPr lang="en-US"/>
              <a:t>Second level</a:t>
            </a:r>
          </a:p>
        </p:txBody>
      </p:sp>
      <p:sp>
        <p:nvSpPr>
          <p:cNvPr id="17" name="Content Placeholder 2">
            <a:extLst>
              <a:ext uri="{FF2B5EF4-FFF2-40B4-BE49-F238E27FC236}">
                <a16:creationId xmlns:a16="http://schemas.microsoft.com/office/drawing/2014/main" id="{BC9B0F46-90AA-AF3A-87DF-2BCBB2898C3E}"/>
              </a:ext>
            </a:extLst>
          </p:cNvPr>
          <p:cNvSpPr>
            <a:spLocks noGrp="1"/>
          </p:cNvSpPr>
          <p:nvPr>
            <p:ph idx="11" hasCustomPrompt="1"/>
          </p:nvPr>
        </p:nvSpPr>
        <p:spPr>
          <a:xfrm>
            <a:off x="1066806" y="389568"/>
            <a:ext cx="10913980" cy="936770"/>
          </a:xfrm>
        </p:spPr>
        <p:txBody>
          <a:bodyPr>
            <a:normAutofit/>
          </a:bodyPr>
          <a:lstStyle>
            <a:lvl1pPr>
              <a:defRPr sz="4400">
                <a:latin typeface="Aptos Display (Headings)"/>
              </a:defRPr>
            </a:lvl1pPr>
          </a:lstStyle>
          <a:p>
            <a:pPr lvl="0"/>
            <a:r>
              <a:rPr lang="en-US"/>
              <a:t>Title</a:t>
            </a:r>
          </a:p>
        </p:txBody>
      </p:sp>
    </p:spTree>
    <p:extLst>
      <p:ext uri="{BB962C8B-B14F-4D97-AF65-F5344CB8AC3E}">
        <p14:creationId xmlns:p14="http://schemas.microsoft.com/office/powerpoint/2010/main" val="338883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Session - ENG - without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06BCBC1-7984-29EC-810A-050E8BE46D99}"/>
              </a:ext>
            </a:extLst>
          </p:cNvPr>
          <p:cNvSpPr>
            <a:spLocks noGrp="1"/>
          </p:cNvSpPr>
          <p:nvPr>
            <p:ph type="dt" sz="half" idx="10"/>
          </p:nvPr>
        </p:nvSpPr>
        <p:spPr/>
        <p:txBody>
          <a:bodyPr/>
          <a:lstStyle/>
          <a:p>
            <a:fld id="{A6894684-00AF-422F-9E70-484377D91052}" type="datetimeFigureOut">
              <a:rPr lang="es-MX" smtClean="0"/>
              <a:t>28/04/2026</a:t>
            </a:fld>
            <a:endParaRPr lang="es-MX"/>
          </a:p>
        </p:txBody>
      </p:sp>
      <p:sp>
        <p:nvSpPr>
          <p:cNvPr id="4" name="Footer Placeholder 3">
            <a:extLst>
              <a:ext uri="{FF2B5EF4-FFF2-40B4-BE49-F238E27FC236}">
                <a16:creationId xmlns:a16="http://schemas.microsoft.com/office/drawing/2014/main" id="{0A1B3145-37D2-E8B1-3B08-4D8AED6D90E1}"/>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44DC7513-1332-CA2B-38BA-4649F448339F}"/>
              </a:ext>
            </a:extLst>
          </p:cNvPr>
          <p:cNvSpPr>
            <a:spLocks noGrp="1"/>
          </p:cNvSpPr>
          <p:nvPr>
            <p:ph type="sldNum" sz="quarter" idx="12"/>
          </p:nvPr>
        </p:nvSpPr>
        <p:spPr/>
        <p:txBody>
          <a:bodyPr/>
          <a:lstStyle/>
          <a:p>
            <a:fld id="{7FC30F42-2E61-4F47-872B-F268A27A1A27}" type="slidenum">
              <a:rPr lang="es-MX" smtClean="0"/>
              <a:t>‹#›</a:t>
            </a:fld>
            <a:endParaRPr lang="es-MX"/>
          </a:p>
        </p:txBody>
      </p:sp>
      <p:pic>
        <p:nvPicPr>
          <p:cNvPr id="7" name="그림 6">
            <a:extLst>
              <a:ext uri="{FF2B5EF4-FFF2-40B4-BE49-F238E27FC236}">
                <a16:creationId xmlns:a16="http://schemas.microsoft.com/office/drawing/2014/main" id="{61D7BED2-F994-4335-A7C0-69C580AA8019}"/>
              </a:ext>
            </a:extLst>
          </p:cNvPr>
          <p:cNvPicPr>
            <a:picLocks noChangeAspect="1"/>
          </p:cNvPicPr>
          <p:nvPr/>
        </p:nvPicPr>
        <p:blipFill>
          <a:blip r:embed="rId2"/>
          <a:stretch>
            <a:fillRect/>
          </a:stretch>
        </p:blipFill>
        <p:spPr>
          <a:xfrm>
            <a:off x="-1" y="0"/>
            <a:ext cx="12277259" cy="6858000"/>
          </a:xfrm>
          <a:prstGeom prst="rect">
            <a:avLst/>
          </a:prstGeom>
        </p:spPr>
      </p:pic>
    </p:spTree>
    <p:extLst>
      <p:ext uri="{BB962C8B-B14F-4D97-AF65-F5344CB8AC3E}">
        <p14:creationId xmlns:p14="http://schemas.microsoft.com/office/powerpoint/2010/main" val="1093035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011B5D-82C1-6F6D-D8BA-6C10531954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s-MX"/>
          </a:p>
        </p:txBody>
      </p:sp>
      <p:sp>
        <p:nvSpPr>
          <p:cNvPr id="3" name="Text Placeholder 2">
            <a:extLst>
              <a:ext uri="{FF2B5EF4-FFF2-40B4-BE49-F238E27FC236}">
                <a16:creationId xmlns:a16="http://schemas.microsoft.com/office/drawing/2014/main" id="{1E09B62F-7E8A-D6CF-D5AB-E82D2B53D1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s-MX"/>
          </a:p>
        </p:txBody>
      </p:sp>
      <p:sp>
        <p:nvSpPr>
          <p:cNvPr id="4" name="Date Placeholder 3">
            <a:extLst>
              <a:ext uri="{FF2B5EF4-FFF2-40B4-BE49-F238E27FC236}">
                <a16:creationId xmlns:a16="http://schemas.microsoft.com/office/drawing/2014/main" id="{E0E53780-EE84-6AB5-4311-157708D6A5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894684-00AF-422F-9E70-484377D91052}" type="datetimeFigureOut">
              <a:rPr lang="es-MX" smtClean="0"/>
              <a:t>28/04/2026</a:t>
            </a:fld>
            <a:endParaRPr lang="es-MX"/>
          </a:p>
        </p:txBody>
      </p:sp>
      <p:sp>
        <p:nvSpPr>
          <p:cNvPr id="5" name="Footer Placeholder 4">
            <a:extLst>
              <a:ext uri="{FF2B5EF4-FFF2-40B4-BE49-F238E27FC236}">
                <a16:creationId xmlns:a16="http://schemas.microsoft.com/office/drawing/2014/main" id="{020A6702-23AF-355E-E6EF-D39091A582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9022D74D-5BAE-5E6C-D834-ABB626BE9E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C30F42-2E61-4F47-872B-F268A27A1A27}" type="slidenum">
              <a:rPr lang="es-MX" smtClean="0"/>
              <a:t>‹#›</a:t>
            </a:fld>
            <a:endParaRPr lang="es-MX"/>
          </a:p>
        </p:txBody>
      </p:sp>
    </p:spTree>
    <p:extLst>
      <p:ext uri="{BB962C8B-B14F-4D97-AF65-F5344CB8AC3E}">
        <p14:creationId xmlns:p14="http://schemas.microsoft.com/office/powerpoint/2010/main" val="176693842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74" r:id="rId7"/>
    <p:sldLayoutId id="2147483675" r:id="rId8"/>
    <p:sldLayoutId id="2147483681" r:id="rId9"/>
    <p:sldLayoutId id="2147483693" r:id="rId10"/>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aka.ms/PythonAI/recordings" TargetMode="External"/><Relationship Id="rId2" Type="http://schemas.openxmlformats.org/officeDocument/2006/relationships/hyperlink" Target="http://aka.ms/PythonAI/serie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Azure-Samples/openai-chat-vision-quickstart"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hyperlink" Target="https://magazine.sebastianraschka.com/p/understanding-multimodal-llms"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arketplace/models"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hyperlink" Target="https://azure.microsoft.com/products/ai-services/openai-service" TargetMode="External"/><Relationship Id="rId4" Type="http://schemas.openxmlformats.org/officeDocument/2006/relationships/hyperlink" Target="https://ai.azure.com/"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aka.ms/chat-vision-app" TargetMode="Externa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hyperlink" Target="https://aka.ms/chat-vision-app" TargetMode="Externa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hyperlink" Target="https://aka.ms/chat-vision-app"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hyperlink" Target="https://aka.ms/document-intelligence-figure-extraction" TargetMode="Externa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hyperlink" Target="https://aka.ms/chat-vision-app" TargetMode="External"/><Relationship Id="rId1" Type="http://schemas.openxmlformats.org/officeDocument/2006/relationships/slideLayout" Target="../slideLayouts/slideLayout5.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hyperlink" Target="https://learn.microsoft.com/azure/ai-services/computer-vision/overview-ocr" TargetMode="External"/><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hyperlink" Target="https://learn.microsoft.com/en-us/azure/ai-services/document-intelligence/overvie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aka.ms/chat-vision-app/demo" TargetMode="External"/><Relationship Id="rId2" Type="http://schemas.openxmlformats.org/officeDocument/2006/relationships/hyperlink" Target="https://aka.ms/chat-vision-app" TargetMode="Externa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sv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hyperlink" Target="https://aka.ms/chat-vision-app"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hyperlink" Target="https://aka.ms/chat-vision-app" TargetMode="Externa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hyperlink" Target="https://aka.ms/chat-vision-multipart" TargetMode="Externa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pamelafox/vector-embeddings-demos" TargetMode="Externa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pamelafox/vector-embeddings-demos/blob/main/multimodal_vectors.ipynb" TargetMode="Externa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31.jpeg"/><Relationship Id="rId1" Type="http://schemas.openxmlformats.org/officeDocument/2006/relationships/slideLayout" Target="../slideLayouts/slideLayout5.xml"/><Relationship Id="rId4" Type="http://schemas.openxmlformats.org/officeDocument/2006/relationships/image" Target="../media/image32.jpeg"/></Relationships>
</file>

<file path=ppt/slides/_rels/slide27.xml.rels><?xml version="1.0" encoding="UTF-8" standalone="yes"?>
<Relationships xmlns="http://schemas.openxmlformats.org/package/2006/relationships"><Relationship Id="rId3" Type="http://schemas.openxmlformats.org/officeDocument/2006/relationships/hyperlink" Target="https://aka.ms/aisearch-images-app" TargetMode="External"/><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hyperlink" Target="https://aka.ms/aisearch-images-app/demo"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aka.ms/ragchat/vision" TargetMode="External"/><Relationship Id="rId2" Type="http://schemas.openxmlformats.org/officeDocument/2006/relationships/hyperlink" Target="https://aka.ms/ragchat" TargetMode="External"/><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hyperlink" Target="https://aka.ms/ragchat/vision/demo" TargetMode="External"/></Relationships>
</file>

<file path=ppt/slides/_rels/slide3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2.svg"/><Relationship Id="rId7" Type="http://schemas.openxmlformats.org/officeDocument/2006/relationships/image" Target="../media/image38.svg"/><Relationship Id="rId2"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31.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41.png"/><Relationship Id="rId7" Type="http://schemas.openxmlformats.org/officeDocument/2006/relationships/image" Target="../media/image39.png"/><Relationship Id="rId2" Type="http://schemas.openxmlformats.org/officeDocument/2006/relationships/image" Target="../media/image43.png"/><Relationship Id="rId1" Type="http://schemas.openxmlformats.org/officeDocument/2006/relationships/slideLayout" Target="../slideLayouts/slideLayout5.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2.svg"/></Relationships>
</file>

<file path=ppt/slides/_rels/slide32.xml.rels><?xml version="1.0" encoding="UTF-8" standalone="yes"?>
<Relationships xmlns="http://schemas.openxmlformats.org/package/2006/relationships"><Relationship Id="rId3" Type="http://schemas.openxmlformats.org/officeDocument/2006/relationships/hyperlink" Target="https://aka.ms/ragchat" TargetMode="External"/><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5.png"/><Relationship Id="rId1" Type="http://schemas.openxmlformats.org/officeDocument/2006/relationships/slideLayout" Target="../slideLayouts/slideLayout5.xml"/><Relationship Id="rId5" Type="http://schemas.openxmlformats.org/officeDocument/2006/relationships/hyperlink" Target="https://aka.ms/ragchat" TargetMode="External"/><Relationship Id="rId4" Type="http://schemas.openxmlformats.org/officeDocument/2006/relationships/image" Target="../media/image45.svg"/></Relationships>
</file>

<file path=ppt/slides/_rels/slide3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hyperlink" Target="https://aka.ms/ragchat"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5.png"/><Relationship Id="rId1" Type="http://schemas.openxmlformats.org/officeDocument/2006/relationships/slideLayout" Target="../slideLayouts/slideLayout5.xml"/><Relationship Id="rId5" Type="http://schemas.openxmlformats.org/officeDocument/2006/relationships/hyperlink" Target="https://aka.ms/ragchat" TargetMode="External"/><Relationship Id="rId4" Type="http://schemas.openxmlformats.org/officeDocument/2006/relationships/image" Target="../media/image42.svg"/></Relationships>
</file>

<file path=ppt/slides/_rels/slide3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2.svg"/><Relationship Id="rId7" Type="http://schemas.openxmlformats.org/officeDocument/2006/relationships/image" Target="../media/image38.svg"/><Relationship Id="rId2"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hyperlink" Target="https://aka.ms/ragdeepdive/watch" TargetMode="External"/><Relationship Id="rId2" Type="http://schemas.openxmlformats.org/officeDocument/2006/relationships/hyperlink" Target="https://aka.ms/ragchat/vision/blog" TargetMode="Externa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hyperlink" Target="https://aka.ms/agentshack" TargetMode="External"/><Relationship Id="rId2" Type="http://schemas.openxmlformats.org/officeDocument/2006/relationships/hyperlink" Target="https://aka.ms/pythonai/oh" TargetMode="External"/><Relationship Id="rId1" Type="http://schemas.openxmlformats.org/officeDocument/2006/relationships/slideLayout" Target="../slideLayouts/slideLayout4.xml"/><Relationship Id="rId6" Type="http://schemas.openxmlformats.org/officeDocument/2006/relationships/hyperlink" Target="http://aka.ms/PythonAI/recordings" TargetMode="External"/><Relationship Id="rId5" Type="http://schemas.openxmlformats.org/officeDocument/2006/relationships/hyperlink" Target="http://aka.ms/PythonAI/series" TargetMode="External"/><Relationship Id="rId4" Type="http://schemas.openxmlformats.org/officeDocument/2006/relationships/hyperlink" Target="https://aka.ms/thesource/Python_AI"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AAEC0-BDBA-46F1-C35D-BCE007643967}"/>
              </a:ext>
            </a:extLst>
          </p:cNvPr>
          <p:cNvSpPr txBox="1">
            <a:spLocks/>
          </p:cNvSpPr>
          <p:nvPr/>
        </p:nvSpPr>
        <p:spPr>
          <a:xfrm>
            <a:off x="838200" y="2858423"/>
            <a:ext cx="6086475" cy="11411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0000">
                <a:solidFill>
                  <a:schemeClr val="bg1"/>
                </a:solidFill>
              </a:rPr>
              <a:t>Python + AI</a:t>
            </a:r>
          </a:p>
        </p:txBody>
      </p:sp>
    </p:spTree>
    <p:extLst>
      <p:ext uri="{BB962C8B-B14F-4D97-AF65-F5344CB8AC3E}">
        <p14:creationId xmlns:p14="http://schemas.microsoft.com/office/powerpoint/2010/main" val="1719079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1626B-1396-12AB-4226-9B7141D56427}"/>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551A1F40-324E-C413-97EE-48B9AF629DFA}"/>
              </a:ext>
            </a:extLst>
          </p:cNvPr>
          <p:cNvSpPr/>
          <p:nvPr/>
        </p:nvSpPr>
        <p:spPr>
          <a:xfrm>
            <a:off x="470780" y="1484768"/>
            <a:ext cx="6554709" cy="5540721"/>
          </a:xfrm>
          <a:prstGeom prst="roundRect">
            <a:avLst>
              <a:gd name="adj" fmla="val 212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BF0605B6-8C41-2644-1ACB-81925A8A00D0}"/>
              </a:ext>
            </a:extLst>
          </p:cNvPr>
          <p:cNvSpPr txBox="1">
            <a:spLocks/>
          </p:cNvSpPr>
          <p:nvPr/>
        </p:nvSpPr>
        <p:spPr>
          <a:xfrm>
            <a:off x="921358" y="2301388"/>
            <a:ext cx="6104131" cy="336111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400">
                <a:latin typeface="Aptos" panose="020B0004020202020204" pitchFamily="34" charset="0"/>
                <a:cs typeface="Segoe UI" panose="020B0502040204020203" pitchFamily="34" charset="0"/>
              </a:rPr>
              <a:t>🧠  3/11: LLMs</a:t>
            </a:r>
          </a:p>
          <a:p>
            <a:pPr marL="0" indent="0">
              <a:buFont typeface="Arial" panose="020B0604020202020204" pitchFamily="34" charset="0"/>
              <a:buNone/>
            </a:pPr>
            <a:r>
              <a:rPr lang="en-US" sz="3400">
                <a:latin typeface="Aptos" panose="020B0004020202020204" pitchFamily="34" charset="0"/>
                <a:cs typeface="Segoe UI" panose="020B0502040204020203" pitchFamily="34" charset="0"/>
              </a:rPr>
              <a:t>↖️  3/13: Vector embeddings</a:t>
            </a:r>
          </a:p>
          <a:p>
            <a:pPr marL="0" indent="0">
              <a:buFont typeface="Arial" panose="020B0604020202020204" pitchFamily="34" charset="0"/>
              <a:buNone/>
            </a:pPr>
            <a:r>
              <a:rPr lang="en-US" sz="3400">
                <a:latin typeface="Aptos" panose="020B0004020202020204" pitchFamily="34" charset="0"/>
                <a:cs typeface="Segoe UI" panose="020B0502040204020203" pitchFamily="34" charset="0"/>
              </a:rPr>
              <a:t>🔍  3/18: RAG</a:t>
            </a:r>
          </a:p>
          <a:p>
            <a:pPr marL="0" indent="0">
              <a:buFont typeface="Arial" panose="020B0604020202020204" pitchFamily="34" charset="0"/>
              <a:buNone/>
            </a:pPr>
            <a:r>
              <a:rPr lang="en-US" sz="3400">
                <a:latin typeface="Aptos" panose="020B0004020202020204" pitchFamily="34" charset="0"/>
                <a:cs typeface="Segoe UI" panose="020B0502040204020203" pitchFamily="34" charset="0"/>
              </a:rPr>
              <a:t>🖼️ 3/20: Vision models</a:t>
            </a:r>
          </a:p>
          <a:p>
            <a:pPr marL="0" indent="0">
              <a:buFont typeface="Arial" panose="020B0604020202020204" pitchFamily="34" charset="0"/>
              <a:buNone/>
            </a:pPr>
            <a:r>
              <a:rPr lang="en-US" sz="3400">
                <a:latin typeface="Aptos" panose="020B0004020202020204" pitchFamily="34" charset="0"/>
                <a:cs typeface="Segoe UI" panose="020B0502040204020203" pitchFamily="34" charset="0"/>
              </a:rPr>
              <a:t>🛠️ 3/25: Structured outputs</a:t>
            </a:r>
          </a:p>
          <a:p>
            <a:pPr marL="0" indent="0">
              <a:buFont typeface="Arial" panose="020B0604020202020204" pitchFamily="34" charset="0"/>
              <a:buNone/>
            </a:pPr>
            <a:r>
              <a:rPr lang="en-US" sz="3400">
                <a:latin typeface="Aptos" panose="020B0004020202020204" pitchFamily="34" charset="0"/>
                <a:cs typeface="Segoe UI" panose="020B0502040204020203" pitchFamily="34" charset="0"/>
              </a:rPr>
              <a:t>🛡️ 3/27: Quality &amp; Safety</a:t>
            </a:r>
          </a:p>
        </p:txBody>
      </p:sp>
      <p:sp>
        <p:nvSpPr>
          <p:cNvPr id="5" name="TextBox 4">
            <a:extLst>
              <a:ext uri="{FF2B5EF4-FFF2-40B4-BE49-F238E27FC236}">
                <a16:creationId xmlns:a16="http://schemas.microsoft.com/office/drawing/2014/main" id="{BD2F0910-8AEE-975B-0DC3-706B6A054C8D}"/>
              </a:ext>
            </a:extLst>
          </p:cNvPr>
          <p:cNvSpPr txBox="1"/>
          <p:nvPr/>
        </p:nvSpPr>
        <p:spPr>
          <a:xfrm>
            <a:off x="2482280" y="5846312"/>
            <a:ext cx="3652021" cy="461665"/>
          </a:xfrm>
          <a:prstGeom prst="rect">
            <a:avLst/>
          </a:prstGeom>
          <a:noFill/>
        </p:spPr>
        <p:txBody>
          <a:bodyPr wrap="square">
            <a:spAutoFit/>
          </a:bodyPr>
          <a:lstStyle/>
          <a:p>
            <a:r>
              <a:rPr lang="en-US" sz="2400">
                <a:latin typeface="Aptos" panose="020B0004020202020204" pitchFamily="34" charset="0"/>
                <a:hlinkClick r:id="rId2"/>
              </a:rPr>
              <a:t>aka.ms/PythonAI/series</a:t>
            </a:r>
            <a:endParaRPr lang="en-US" sz="2400">
              <a:latin typeface="Aptos" panose="020B0004020202020204" pitchFamily="34" charset="0"/>
            </a:endParaRPr>
          </a:p>
        </p:txBody>
      </p:sp>
      <p:sp>
        <p:nvSpPr>
          <p:cNvPr id="6" name="Content Placeholder 2">
            <a:extLst>
              <a:ext uri="{FF2B5EF4-FFF2-40B4-BE49-F238E27FC236}">
                <a16:creationId xmlns:a16="http://schemas.microsoft.com/office/drawing/2014/main" id="{535ABD5F-09C0-530E-60E1-0EFF953AE4CF}"/>
              </a:ext>
            </a:extLst>
          </p:cNvPr>
          <p:cNvSpPr txBox="1">
            <a:spLocks/>
          </p:cNvSpPr>
          <p:nvPr/>
        </p:nvSpPr>
        <p:spPr>
          <a:xfrm>
            <a:off x="764934" y="5863891"/>
            <a:ext cx="1825079" cy="3617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a:latin typeface="Aptos" panose="020B0004020202020204" pitchFamily="34" charset="0"/>
                <a:cs typeface="Segoe UI" panose="020B0502040204020203" pitchFamily="34" charset="0"/>
              </a:rPr>
              <a:t>Register @</a:t>
            </a:r>
          </a:p>
        </p:txBody>
      </p:sp>
      <p:sp>
        <p:nvSpPr>
          <p:cNvPr id="7" name="Content Placeholder 2">
            <a:extLst>
              <a:ext uri="{FF2B5EF4-FFF2-40B4-BE49-F238E27FC236}">
                <a16:creationId xmlns:a16="http://schemas.microsoft.com/office/drawing/2014/main" id="{1E60985F-27E7-9904-CB69-7B45E32715F0}"/>
              </a:ext>
            </a:extLst>
          </p:cNvPr>
          <p:cNvSpPr txBox="1">
            <a:spLocks/>
          </p:cNvSpPr>
          <p:nvPr/>
        </p:nvSpPr>
        <p:spPr>
          <a:xfrm>
            <a:off x="921358" y="1583012"/>
            <a:ext cx="5606191" cy="6111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a:latin typeface="Aptos" panose="020B0004020202020204" pitchFamily="34" charset="0"/>
                <a:cs typeface="Segoe UI" panose="020B0502040204020203" pitchFamily="34" charset="0"/>
              </a:rPr>
              <a:t>Python + AI</a:t>
            </a:r>
          </a:p>
        </p:txBody>
      </p:sp>
      <p:sp>
        <p:nvSpPr>
          <p:cNvPr id="8" name="Content Placeholder 2">
            <a:extLst>
              <a:ext uri="{FF2B5EF4-FFF2-40B4-BE49-F238E27FC236}">
                <a16:creationId xmlns:a16="http://schemas.microsoft.com/office/drawing/2014/main" id="{9CF8D601-3DDF-576A-7D73-CF14AAB53354}"/>
              </a:ext>
            </a:extLst>
          </p:cNvPr>
          <p:cNvSpPr txBox="1">
            <a:spLocks/>
          </p:cNvSpPr>
          <p:nvPr/>
        </p:nvSpPr>
        <p:spPr>
          <a:xfrm>
            <a:off x="764934" y="6321090"/>
            <a:ext cx="1825079" cy="3617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a:latin typeface="Aptos" panose="020B0004020202020204" pitchFamily="34" charset="0"/>
                <a:cs typeface="Segoe UI" panose="020B0502040204020203" pitchFamily="34" charset="0"/>
              </a:rPr>
              <a:t>Catch up @</a:t>
            </a:r>
          </a:p>
        </p:txBody>
      </p:sp>
      <p:sp>
        <p:nvSpPr>
          <p:cNvPr id="9" name="TextBox 8">
            <a:extLst>
              <a:ext uri="{FF2B5EF4-FFF2-40B4-BE49-F238E27FC236}">
                <a16:creationId xmlns:a16="http://schemas.microsoft.com/office/drawing/2014/main" id="{1E29C31F-3FC1-1DBF-9456-9A997FADD4C6}"/>
              </a:ext>
            </a:extLst>
          </p:cNvPr>
          <p:cNvSpPr txBox="1"/>
          <p:nvPr/>
        </p:nvSpPr>
        <p:spPr>
          <a:xfrm>
            <a:off x="2482280" y="6284442"/>
            <a:ext cx="4516034" cy="461665"/>
          </a:xfrm>
          <a:prstGeom prst="rect">
            <a:avLst/>
          </a:prstGeom>
          <a:noFill/>
        </p:spPr>
        <p:txBody>
          <a:bodyPr wrap="square">
            <a:spAutoFit/>
          </a:bodyPr>
          <a:lstStyle/>
          <a:p>
            <a:r>
              <a:rPr lang="en-US" sz="2400">
                <a:latin typeface="Aptos" panose="020B0004020202020204" pitchFamily="34" charset="0"/>
                <a:hlinkClick r:id="rId3"/>
              </a:rPr>
              <a:t>aka.ms/PythonAI/recordings</a:t>
            </a:r>
            <a:endParaRPr lang="en-US" sz="2400">
              <a:latin typeface="Aptos" panose="020B0004020202020204" pitchFamily="34" charset="0"/>
            </a:endParaRPr>
          </a:p>
        </p:txBody>
      </p:sp>
    </p:spTree>
    <p:extLst>
      <p:ext uri="{BB962C8B-B14F-4D97-AF65-F5344CB8AC3E}">
        <p14:creationId xmlns:p14="http://schemas.microsoft.com/office/powerpoint/2010/main" val="1131349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F498-58FB-A77B-B566-A60C28CCADBC}"/>
              </a:ext>
            </a:extLst>
          </p:cNvPr>
          <p:cNvSpPr>
            <a:spLocks noGrp="1"/>
          </p:cNvSpPr>
          <p:nvPr>
            <p:ph type="title"/>
          </p:nvPr>
        </p:nvSpPr>
        <p:spPr/>
        <p:txBody>
          <a:bodyPr>
            <a:normAutofit/>
          </a:bodyPr>
          <a:lstStyle/>
          <a:p>
            <a:r>
              <a:rPr lang="es-MX"/>
              <a:t>Python + AI</a:t>
            </a:r>
          </a:p>
        </p:txBody>
      </p:sp>
      <p:sp>
        <p:nvSpPr>
          <p:cNvPr id="3" name="Text Placeholder 2">
            <a:extLst>
              <a:ext uri="{FF2B5EF4-FFF2-40B4-BE49-F238E27FC236}">
                <a16:creationId xmlns:a16="http://schemas.microsoft.com/office/drawing/2014/main" id="{3404B708-5475-3713-E181-48E985434F13}"/>
              </a:ext>
            </a:extLst>
          </p:cNvPr>
          <p:cNvSpPr>
            <a:spLocks noGrp="1"/>
          </p:cNvSpPr>
          <p:nvPr>
            <p:ph type="body" idx="1"/>
          </p:nvPr>
        </p:nvSpPr>
        <p:spPr>
          <a:xfrm>
            <a:off x="831850" y="2850893"/>
            <a:ext cx="11906688" cy="1594358"/>
          </a:xfrm>
        </p:spPr>
        <p:txBody>
          <a:bodyPr>
            <a:normAutofit/>
          </a:bodyPr>
          <a:lstStyle/>
          <a:p>
            <a:r>
              <a:rPr lang="en-US" sz="6000">
                <a:latin typeface="Aptos" panose="020B0004020202020204" pitchFamily="34" charset="0"/>
                <a:cs typeface="Segoe UI" panose="020B0502040204020203" pitchFamily="34" charset="0"/>
              </a:rPr>
              <a:t>🖼️</a:t>
            </a:r>
            <a:r>
              <a:rPr lang="en-US" sz="5500">
                <a:latin typeface="Aptos" panose="020B0004020202020204" pitchFamily="34" charset="0"/>
                <a:cs typeface="Segoe UI" panose="020B0502040204020203" pitchFamily="34" charset="0"/>
              </a:rPr>
              <a:t> </a:t>
            </a:r>
            <a:r>
              <a:rPr lang="es-MX" sz="5500">
                <a:latin typeface="Aptos" panose="020B0004020202020204" pitchFamily="34" charset="0"/>
              </a:rPr>
              <a:t> Vision Models</a:t>
            </a:r>
          </a:p>
        </p:txBody>
      </p:sp>
      <p:sp>
        <p:nvSpPr>
          <p:cNvPr id="4" name="Text Placeholder 2">
            <a:extLst>
              <a:ext uri="{FF2B5EF4-FFF2-40B4-BE49-F238E27FC236}">
                <a16:creationId xmlns:a16="http://schemas.microsoft.com/office/drawing/2014/main" id="{3F3F6DCF-3603-19EC-9B34-2D2871DE85F7}"/>
              </a:ext>
            </a:extLst>
          </p:cNvPr>
          <p:cNvSpPr>
            <a:spLocks noGrp="1"/>
          </p:cNvSpPr>
          <p:nvPr>
            <p:ph type="body" idx="13"/>
          </p:nvPr>
        </p:nvSpPr>
        <p:spPr/>
        <p:txBody>
          <a:bodyPr>
            <a:normAutofit/>
          </a:bodyPr>
          <a:lstStyle>
            <a:lvl1pPr marL="0" indent="0">
              <a:buNone/>
              <a:defRPr sz="2400">
                <a:solidFill>
                  <a:schemeClr val="accent6"/>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Pamela Fox</a:t>
            </a:r>
          </a:p>
          <a:p>
            <a:pPr lvl="0"/>
            <a:r>
              <a:rPr lang="en-US"/>
              <a:t>Python Cloud Advocate</a:t>
            </a:r>
          </a:p>
          <a:p>
            <a:pPr lvl="0"/>
            <a:r>
              <a:rPr lang="en-US"/>
              <a:t>www.pamelafox.org</a:t>
            </a:r>
          </a:p>
          <a:p>
            <a:pPr lvl="0"/>
            <a:endParaRPr lang="en-US"/>
          </a:p>
        </p:txBody>
      </p:sp>
    </p:spTree>
    <p:extLst>
      <p:ext uri="{BB962C8B-B14F-4D97-AF65-F5344CB8AC3E}">
        <p14:creationId xmlns:p14="http://schemas.microsoft.com/office/powerpoint/2010/main" val="2366346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9586F9-19CA-2B06-D6D7-5EAA9D3145BC}"/>
              </a:ext>
            </a:extLst>
          </p:cNvPr>
          <p:cNvSpPr>
            <a:spLocks noGrp="1"/>
          </p:cNvSpPr>
          <p:nvPr>
            <p:ph idx="13"/>
          </p:nvPr>
        </p:nvSpPr>
        <p:spPr/>
        <p:txBody>
          <a:bodyPr/>
          <a:lstStyle/>
          <a:p>
            <a:r>
              <a:rPr lang="es-MX"/>
              <a:t>Multimodal LLMs</a:t>
            </a:r>
          </a:p>
          <a:p>
            <a:r>
              <a:rPr lang="es-MX"/>
              <a:t>Popular use cases</a:t>
            </a:r>
          </a:p>
          <a:p>
            <a:r>
              <a:rPr lang="es-MX"/>
              <a:t>Chat with uploaded images</a:t>
            </a:r>
          </a:p>
          <a:p>
            <a:r>
              <a:rPr lang="es-MX"/>
              <a:t>Multimodal embedding models</a:t>
            </a:r>
          </a:p>
          <a:p>
            <a:r>
              <a:rPr lang="es-MX"/>
              <a:t>RAG with vision models</a:t>
            </a:r>
          </a:p>
        </p:txBody>
      </p:sp>
      <p:sp>
        <p:nvSpPr>
          <p:cNvPr id="3" name="Title 2">
            <a:extLst>
              <a:ext uri="{FF2B5EF4-FFF2-40B4-BE49-F238E27FC236}">
                <a16:creationId xmlns:a16="http://schemas.microsoft.com/office/drawing/2014/main" id="{C436A72E-589A-553F-B8A5-68C184391BD9}"/>
              </a:ext>
            </a:extLst>
          </p:cNvPr>
          <p:cNvSpPr>
            <a:spLocks noGrp="1"/>
          </p:cNvSpPr>
          <p:nvPr>
            <p:ph type="title"/>
          </p:nvPr>
        </p:nvSpPr>
        <p:spPr/>
        <p:txBody>
          <a:bodyPr/>
          <a:lstStyle/>
          <a:p>
            <a:r>
              <a:rPr lang="es-MX"/>
              <a:t>Today we'll cover...</a:t>
            </a:r>
          </a:p>
        </p:txBody>
      </p:sp>
    </p:spTree>
    <p:extLst>
      <p:ext uri="{BB962C8B-B14F-4D97-AF65-F5344CB8AC3E}">
        <p14:creationId xmlns:p14="http://schemas.microsoft.com/office/powerpoint/2010/main" val="680310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42152-959D-0D14-7627-BD2BB30E0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BF642-96F4-24E0-CCF3-F5703FBCF239}"/>
              </a:ext>
            </a:extLst>
          </p:cNvPr>
          <p:cNvSpPr>
            <a:spLocks noGrp="1"/>
          </p:cNvSpPr>
          <p:nvPr>
            <p:ph type="title"/>
          </p:nvPr>
        </p:nvSpPr>
        <p:spPr/>
        <p:txBody>
          <a:bodyPr/>
          <a:lstStyle/>
          <a:p>
            <a:r>
              <a:rPr lang="es-MX"/>
              <a:t>Want to follow along?</a:t>
            </a:r>
          </a:p>
        </p:txBody>
      </p:sp>
      <p:sp>
        <p:nvSpPr>
          <p:cNvPr id="3" name="Content Placeholder 4">
            <a:extLst>
              <a:ext uri="{FF2B5EF4-FFF2-40B4-BE49-F238E27FC236}">
                <a16:creationId xmlns:a16="http://schemas.microsoft.com/office/drawing/2014/main" id="{888A6A08-281E-AF47-D376-A6196C8031CB}"/>
              </a:ext>
            </a:extLst>
          </p:cNvPr>
          <p:cNvSpPr txBox="1">
            <a:spLocks/>
          </p:cNvSpPr>
          <p:nvPr/>
        </p:nvSpPr>
        <p:spPr>
          <a:xfrm>
            <a:off x="1118331" y="1876431"/>
            <a:ext cx="10235705" cy="17525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1. Open this GitHub repository:</a:t>
            </a:r>
          </a:p>
          <a:p>
            <a:pPr marL="0" indent="0">
              <a:buFont typeface="Arial" panose="020B0604020202020204" pitchFamily="34" charset="0"/>
              <a:buNone/>
            </a:pPr>
            <a:r>
              <a:rPr lang="en-US">
                <a:hlinkClick r:id="rId2"/>
              </a:rPr>
              <a:t>https://github.com/Azure-Samples/openai-chat-vision-quickstart</a:t>
            </a:r>
            <a:endParaRPr lang="en-US"/>
          </a:p>
          <a:p>
            <a:pPr marL="0" indent="0">
              <a:spcBef>
                <a:spcPts val="2200"/>
              </a:spcBef>
              <a:spcAft>
                <a:spcPts val="1800"/>
              </a:spcAft>
              <a:buFont typeface="Arial" panose="020B0604020202020204" pitchFamily="34" charset="0"/>
              <a:buNone/>
            </a:pPr>
            <a:r>
              <a:rPr lang="en-US"/>
              <a:t>2. Use "Code" button to create a GitHub Codespace:</a:t>
            </a:r>
          </a:p>
        </p:txBody>
      </p:sp>
      <p:pic>
        <p:nvPicPr>
          <p:cNvPr id="4" name="Picture 3" descr="A screenshot of a computer&#10;&#10;AI-generated content may be incorrect.">
            <a:extLst>
              <a:ext uri="{FF2B5EF4-FFF2-40B4-BE49-F238E27FC236}">
                <a16:creationId xmlns:a16="http://schemas.microsoft.com/office/drawing/2014/main" id="{926BD9B0-41DA-69B4-9B98-1A21C02CBEFC}"/>
              </a:ext>
            </a:extLst>
          </p:cNvPr>
          <p:cNvPicPr>
            <a:picLocks noChangeAspect="1"/>
          </p:cNvPicPr>
          <p:nvPr/>
        </p:nvPicPr>
        <p:blipFill>
          <a:blip r:embed="rId3">
            <a:extLst>
              <a:ext uri="{28A0092B-C50C-407E-A947-70E740481C1C}">
                <a14:useLocalDpi xmlns:a14="http://schemas.microsoft.com/office/drawing/2010/main" val="0"/>
              </a:ext>
            </a:extLst>
          </a:blip>
          <a:srcRect l="1842" r="1572" b="24106"/>
          <a:stretch/>
        </p:blipFill>
        <p:spPr>
          <a:xfrm>
            <a:off x="1199535" y="3628978"/>
            <a:ext cx="2880852" cy="2417302"/>
          </a:xfrm>
          <a:prstGeom prst="rect">
            <a:avLst/>
          </a:prstGeom>
          <a:ln>
            <a:solidFill>
              <a:schemeClr val="tx1"/>
            </a:solidFill>
          </a:ln>
        </p:spPr>
      </p:pic>
      <p:sp>
        <p:nvSpPr>
          <p:cNvPr id="6" name="Content Placeholder 4">
            <a:extLst>
              <a:ext uri="{FF2B5EF4-FFF2-40B4-BE49-F238E27FC236}">
                <a16:creationId xmlns:a16="http://schemas.microsoft.com/office/drawing/2014/main" id="{43FFE393-DAAA-6B05-6B21-3A59C579DF23}"/>
              </a:ext>
            </a:extLst>
          </p:cNvPr>
          <p:cNvSpPr txBox="1">
            <a:spLocks/>
          </p:cNvSpPr>
          <p:nvPr/>
        </p:nvSpPr>
        <p:spPr>
          <a:xfrm>
            <a:off x="1049416" y="6285307"/>
            <a:ext cx="10567146" cy="9408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3. Wait a few minutes for Codespace to start up ⏱️</a:t>
            </a:r>
          </a:p>
        </p:txBody>
      </p:sp>
      <p:cxnSp>
        <p:nvCxnSpPr>
          <p:cNvPr id="9" name="Straight Connector 8">
            <a:extLst>
              <a:ext uri="{FF2B5EF4-FFF2-40B4-BE49-F238E27FC236}">
                <a16:creationId xmlns:a16="http://schemas.microsoft.com/office/drawing/2014/main" id="{29F32041-DB41-285E-B82C-BFF2038130B4}"/>
              </a:ext>
            </a:extLst>
          </p:cNvPr>
          <p:cNvCxnSpPr/>
          <p:nvPr/>
        </p:nvCxnSpPr>
        <p:spPr>
          <a:xfrm flipH="1">
            <a:off x="4178709" y="5820697"/>
            <a:ext cx="1809136" cy="0"/>
          </a:xfrm>
          <a:prstGeom prst="line">
            <a:avLst/>
          </a:prstGeom>
          <a:ln w="76200">
            <a:solidFill>
              <a:srgbClr val="00B05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219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489B-3E16-BEB1-AE31-25583788FDAD}"/>
              </a:ext>
            </a:extLst>
          </p:cNvPr>
          <p:cNvSpPr>
            <a:spLocks noGrp="1"/>
          </p:cNvSpPr>
          <p:nvPr>
            <p:ph type="title"/>
          </p:nvPr>
        </p:nvSpPr>
        <p:spPr/>
        <p:txBody>
          <a:bodyPr/>
          <a:lstStyle/>
          <a:p>
            <a:r>
              <a:rPr lang="es-MX"/>
              <a:t>Multimodal LLMs</a:t>
            </a:r>
          </a:p>
        </p:txBody>
      </p:sp>
    </p:spTree>
    <p:extLst>
      <p:ext uri="{BB962C8B-B14F-4D97-AF65-F5344CB8AC3E}">
        <p14:creationId xmlns:p14="http://schemas.microsoft.com/office/powerpoint/2010/main" val="1195623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F633-A11E-53E2-1F6B-BE4D6E2B8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D7F20-097C-77AA-5637-D8C7707937C1}"/>
              </a:ext>
            </a:extLst>
          </p:cNvPr>
          <p:cNvSpPr>
            <a:spLocks noGrp="1"/>
          </p:cNvSpPr>
          <p:nvPr>
            <p:ph type="title"/>
          </p:nvPr>
        </p:nvSpPr>
        <p:spPr/>
        <p:txBody>
          <a:bodyPr/>
          <a:lstStyle/>
          <a:p>
            <a:r>
              <a:rPr lang="es-MX"/>
              <a:t>What's a multimodal LLM?</a:t>
            </a:r>
          </a:p>
        </p:txBody>
      </p:sp>
      <p:sp>
        <p:nvSpPr>
          <p:cNvPr id="4" name="Rectangle: Rounded Corners 10">
            <a:extLst>
              <a:ext uri="{FF2B5EF4-FFF2-40B4-BE49-F238E27FC236}">
                <a16:creationId xmlns:a16="http://schemas.microsoft.com/office/drawing/2014/main" id="{3F1AD8AD-F4CC-9AD0-43F8-C5FD0F99EC3D}"/>
              </a:ext>
            </a:extLst>
          </p:cNvPr>
          <p:cNvSpPr/>
          <p:nvPr/>
        </p:nvSpPr>
        <p:spPr bwMode="auto">
          <a:xfrm>
            <a:off x="1233252" y="2223091"/>
            <a:ext cx="1548000" cy="1163468"/>
          </a:xfrm>
          <a:prstGeom prst="roundRect">
            <a:avLst>
              <a:gd name="adj" fmla="val 8518"/>
            </a:avLst>
          </a:prstGeom>
          <a:solidFill>
            <a:srgbClr val="3A4953"/>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0" rIns="108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ea typeface="+mn-ea"/>
                <a:cs typeface="+mn-cs"/>
              </a:rPr>
              <a:t>Natural </a:t>
            </a:r>
            <a:br>
              <a:rPr kumimoji="0" lang="en-US" altLang="zh-CN" sz="1600" b="1" i="0" u="none" strike="noStrike" kern="1200" cap="none" spc="0" normalizeH="0" baseline="0" noProof="0">
                <a:ln>
                  <a:noFill/>
                </a:ln>
                <a:solidFill>
                  <a:srgbClr val="FFFFFF"/>
                </a:solidFill>
                <a:effectLst/>
                <a:uLnTx/>
                <a:uFillTx/>
                <a:ea typeface="+mn-ea"/>
                <a:cs typeface="+mn-cs"/>
              </a:rPr>
            </a:br>
            <a:r>
              <a:rPr kumimoji="0" lang="en-US" altLang="zh-CN" sz="1600" b="1" i="0" u="none" strike="noStrike" kern="1200" cap="none" spc="0" normalizeH="0" baseline="0" noProof="0">
                <a:ln>
                  <a:noFill/>
                </a:ln>
                <a:solidFill>
                  <a:srgbClr val="FFFFFF"/>
                </a:solidFill>
                <a:effectLst/>
                <a:uLnTx/>
                <a:uFillTx/>
                <a:ea typeface="+mn-ea"/>
                <a:cs typeface="+mn-cs"/>
              </a:rPr>
              <a:t>language input</a:t>
            </a:r>
            <a:endParaRPr kumimoji="0" lang="en-US" sz="1600" b="1" i="0" u="none" strike="noStrike" kern="1200" cap="none" spc="0" normalizeH="0" baseline="0" noProof="0">
              <a:ln>
                <a:noFill/>
              </a:ln>
              <a:solidFill>
                <a:srgbClr val="FFFFFF"/>
              </a:solidFill>
              <a:effectLst/>
              <a:uLnTx/>
              <a:uFillTx/>
              <a:ea typeface="+mn-ea"/>
              <a:cs typeface="+mn-cs"/>
            </a:endParaRPr>
          </a:p>
        </p:txBody>
      </p:sp>
      <p:grpSp>
        <p:nvGrpSpPr>
          <p:cNvPr id="50" name="Group 49">
            <a:extLst>
              <a:ext uri="{FF2B5EF4-FFF2-40B4-BE49-F238E27FC236}">
                <a16:creationId xmlns:a16="http://schemas.microsoft.com/office/drawing/2014/main" id="{8A0864BB-4530-1FA6-7CDE-76E5B843DC74}"/>
              </a:ext>
            </a:extLst>
          </p:cNvPr>
          <p:cNvGrpSpPr/>
          <p:nvPr/>
        </p:nvGrpSpPr>
        <p:grpSpPr>
          <a:xfrm>
            <a:off x="2778207" y="4328644"/>
            <a:ext cx="8218640" cy="1888879"/>
            <a:chOff x="2778207" y="4328644"/>
            <a:chExt cx="8218640" cy="1888879"/>
          </a:xfrm>
        </p:grpSpPr>
        <p:cxnSp>
          <p:nvCxnSpPr>
            <p:cNvPr id="16" name="Straight Arrow Connector 15" descr="Arrow going from Model to Probability distribution. ">
              <a:extLst>
                <a:ext uri="{FF2B5EF4-FFF2-40B4-BE49-F238E27FC236}">
                  <a16:creationId xmlns:a16="http://schemas.microsoft.com/office/drawing/2014/main" id="{923E6C81-6C08-14A0-F5DB-7A7AE05BCD9F}"/>
                </a:ext>
                <a:ext uri="{C183D7F6-B498-43B3-948B-1728B52AA6E4}">
                  <adec:decorative xmlns:adec="http://schemas.microsoft.com/office/drawing/2017/decorative" val="0"/>
                </a:ext>
              </a:extLst>
            </p:cNvPr>
            <p:cNvCxnSpPr>
              <a:cxnSpLocks/>
            </p:cNvCxnSpPr>
            <p:nvPr/>
          </p:nvCxnSpPr>
          <p:spPr>
            <a:xfrm>
              <a:off x="2778207" y="5101649"/>
              <a:ext cx="1751883" cy="0"/>
            </a:xfrm>
            <a:prstGeom prst="straightConnector1">
              <a:avLst/>
            </a:prstGeom>
            <a:ln w="19050">
              <a:gradFill flip="none" rotWithShape="1">
                <a:gsLst>
                  <a:gs pos="0">
                    <a:srgbClr val="8DE971">
                      <a:alpha val="0"/>
                    </a:srgbClr>
                  </a:gs>
                  <a:gs pos="3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0F3B1962-751A-AB58-6529-A3FEB5D6C35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632950" y="4328644"/>
              <a:ext cx="2680741" cy="1546009"/>
            </a:xfrm>
            <a:prstGeom prst="roundRect">
              <a:avLst>
                <a:gd name="adj" fmla="val 5065"/>
              </a:avLst>
            </a:prstGeom>
            <a:solidFill>
              <a:srgbClr val="FFFFFF"/>
            </a:solidFill>
            <a:ln>
              <a:noFill/>
              <a:headEnd type="none" w="med" len="med"/>
              <a:tailEnd type="none" w="med" len="med"/>
            </a:ln>
            <a:effectLst>
              <a:outerShdw blurRad="63500" dist="127000" dir="2700000" algn="tl" rotWithShape="0">
                <a:prstClr val="black">
                  <a:alpha val="50000"/>
                </a:prstClr>
              </a:outerShdw>
            </a:effectLst>
          </p:spPr>
        </p:pic>
        <p:sp>
          <p:nvSpPr>
            <p:cNvPr id="20" name="Rounded Rectangle 19">
              <a:extLst>
                <a:ext uri="{FF2B5EF4-FFF2-40B4-BE49-F238E27FC236}">
                  <a16:creationId xmlns:a16="http://schemas.microsoft.com/office/drawing/2014/main" id="{8B87E47E-4188-0A8C-D13C-6ACA3A906846}"/>
                </a:ext>
                <a:ext uri="{C183D7F6-B498-43B3-948B-1728B52AA6E4}">
                  <adec:decorative xmlns:adec="http://schemas.microsoft.com/office/drawing/2017/decorative" val="1"/>
                </a:ext>
              </a:extLst>
            </p:cNvPr>
            <p:cNvSpPr/>
            <p:nvPr/>
          </p:nvSpPr>
          <p:spPr bwMode="auto">
            <a:xfrm>
              <a:off x="4916409" y="5768443"/>
              <a:ext cx="2680741" cy="449080"/>
            </a:xfrm>
            <a:prstGeom prst="roundRect">
              <a:avLst>
                <a:gd name="adj" fmla="val 50000"/>
              </a:avLst>
            </a:prstGeom>
            <a:solidFill>
              <a:srgbClr val="3A4953"/>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0" rIns="108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ptos" panose="020B0004020202020204" pitchFamily="34" charset="0"/>
                </a:rPr>
                <a:t>Probability distribution</a:t>
              </a:r>
            </a:p>
          </p:txBody>
        </p:sp>
        <p:cxnSp>
          <p:nvCxnSpPr>
            <p:cNvPr id="21" name="Straight Arrow Connector 20" descr="Arrow going from Probability distribution to Natural language output. &#10;">
              <a:extLst>
                <a:ext uri="{FF2B5EF4-FFF2-40B4-BE49-F238E27FC236}">
                  <a16:creationId xmlns:a16="http://schemas.microsoft.com/office/drawing/2014/main" id="{4CB1C570-B96A-E7E0-AF62-258E0E4BE041}"/>
                </a:ext>
                <a:ext uri="{C183D7F6-B498-43B3-948B-1728B52AA6E4}">
                  <adec:decorative xmlns:adec="http://schemas.microsoft.com/office/drawing/2017/decorative" val="0"/>
                </a:ext>
              </a:extLst>
            </p:cNvPr>
            <p:cNvCxnSpPr>
              <a:cxnSpLocks/>
            </p:cNvCxnSpPr>
            <p:nvPr/>
          </p:nvCxnSpPr>
          <p:spPr>
            <a:xfrm flipV="1">
              <a:off x="7313691" y="5101648"/>
              <a:ext cx="2058365" cy="1"/>
            </a:xfrm>
            <a:prstGeom prst="straightConnector1">
              <a:avLst/>
            </a:prstGeom>
            <a:ln w="19050">
              <a:gradFill flip="none" rotWithShape="1">
                <a:gsLst>
                  <a:gs pos="0">
                    <a:srgbClr val="8DE971">
                      <a:alpha val="0"/>
                    </a:srgbClr>
                  </a:gs>
                  <a:gs pos="3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34E70B4-EA39-AD36-D50F-FF5C8D5D828E}"/>
                </a:ext>
              </a:extLst>
            </p:cNvPr>
            <p:cNvSpPr txBox="1"/>
            <p:nvPr/>
          </p:nvSpPr>
          <p:spPr>
            <a:xfrm>
              <a:off x="7693189" y="5195058"/>
              <a:ext cx="1758704" cy="43088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Aptos" panose="020B0004020202020204" pitchFamily="34" charset="0"/>
                  <a:cs typeface="Segoe UI Semibold" panose="020B0502040204020203" pitchFamily="34" charset="0"/>
                </a:rPr>
                <a:t>Decoding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Aptos" panose="020B0004020202020204" pitchFamily="34" charset="0"/>
                  <a:cs typeface="Segoe UI Semibold" panose="020B0502040204020203" pitchFamily="34" charset="0"/>
                </a:rPr>
                <a:t>Post-processing</a:t>
              </a:r>
            </a:p>
          </p:txBody>
        </p:sp>
        <p:sp>
          <p:nvSpPr>
            <p:cNvPr id="23" name="Rectangle: Rounded Corners 10">
              <a:extLst>
                <a:ext uri="{FF2B5EF4-FFF2-40B4-BE49-F238E27FC236}">
                  <a16:creationId xmlns:a16="http://schemas.microsoft.com/office/drawing/2014/main" id="{A78B0A54-F6A5-23BA-F1D8-72A0ED754DF7}"/>
                </a:ext>
              </a:extLst>
            </p:cNvPr>
            <p:cNvSpPr/>
            <p:nvPr/>
          </p:nvSpPr>
          <p:spPr bwMode="auto">
            <a:xfrm>
              <a:off x="9451893" y="4328644"/>
              <a:ext cx="1544954" cy="1546008"/>
            </a:xfrm>
            <a:prstGeom prst="roundRect">
              <a:avLst>
                <a:gd name="adj" fmla="val 5010"/>
              </a:avLst>
            </a:prstGeom>
            <a:solidFill>
              <a:srgbClr val="3A4953"/>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0" rIns="108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Aptos" panose="020B0004020202020204" pitchFamily="34" charset="0"/>
                </a:rPr>
                <a:t>Natural </a:t>
              </a:r>
              <a:br>
                <a:rPr kumimoji="0" lang="en-US" altLang="zh-CN" sz="1600" b="1" i="0" u="none" strike="noStrike" kern="1200" cap="none" spc="0" normalizeH="0" baseline="0" noProof="0">
                  <a:ln>
                    <a:noFill/>
                  </a:ln>
                  <a:solidFill>
                    <a:srgbClr val="FFFFFF"/>
                  </a:solidFill>
                  <a:effectLst/>
                  <a:uLnTx/>
                  <a:uFillTx/>
                  <a:latin typeface="Aptos" panose="020B0004020202020204" pitchFamily="34" charset="0"/>
                </a:rPr>
              </a:br>
              <a:r>
                <a:rPr kumimoji="0" lang="en-US" altLang="zh-CN" sz="1600" b="1" i="0" u="none" strike="noStrike" kern="1200" cap="none" spc="0" normalizeH="0" baseline="0" noProof="0">
                  <a:ln>
                    <a:noFill/>
                  </a:ln>
                  <a:solidFill>
                    <a:srgbClr val="FFFFFF"/>
                  </a:solidFill>
                  <a:effectLst/>
                  <a:uLnTx/>
                  <a:uFillTx/>
                  <a:latin typeface="Aptos" panose="020B0004020202020204" pitchFamily="34" charset="0"/>
                </a:rPr>
                <a:t>language output</a:t>
              </a:r>
              <a:endParaRPr kumimoji="0" lang="en-US" sz="1600" b="1" i="0" u="none" strike="noStrike" kern="1200" cap="none" spc="0" normalizeH="0" baseline="0" noProof="0">
                <a:ln>
                  <a:noFill/>
                </a:ln>
                <a:solidFill>
                  <a:srgbClr val="FFFFFF"/>
                </a:solidFill>
                <a:effectLst/>
                <a:uLnTx/>
                <a:uFillTx/>
                <a:latin typeface="Aptos" panose="020B0004020202020204" pitchFamily="34" charset="0"/>
              </a:endParaRPr>
            </a:p>
          </p:txBody>
        </p:sp>
      </p:grpSp>
      <p:sp>
        <p:nvSpPr>
          <p:cNvPr id="24" name="Rectangle: Rounded Corners 10">
            <a:extLst>
              <a:ext uri="{FF2B5EF4-FFF2-40B4-BE49-F238E27FC236}">
                <a16:creationId xmlns:a16="http://schemas.microsoft.com/office/drawing/2014/main" id="{BB75892E-091F-BB0B-4338-ACAD5035903F}"/>
              </a:ext>
            </a:extLst>
          </p:cNvPr>
          <p:cNvSpPr/>
          <p:nvPr/>
        </p:nvSpPr>
        <p:spPr bwMode="auto">
          <a:xfrm>
            <a:off x="10368584" y="2223091"/>
            <a:ext cx="1548000" cy="1163468"/>
          </a:xfrm>
          <a:prstGeom prst="roundRect">
            <a:avLst>
              <a:gd name="adj" fmla="val 8518"/>
            </a:avLst>
          </a:prstGeom>
          <a:solidFill>
            <a:srgbClr val="3A4953"/>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0" rIns="108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ea typeface="+mn-ea"/>
                <a:cs typeface="+mn-cs"/>
              </a:rPr>
              <a:t>Image</a:t>
            </a:r>
            <a:endParaRPr kumimoji="0" lang="en-US" sz="1600" b="1" i="0" u="none" strike="noStrike" kern="1200" cap="none" spc="0" normalizeH="0" baseline="0" noProof="0">
              <a:ln>
                <a:noFill/>
              </a:ln>
              <a:solidFill>
                <a:srgbClr val="FFFFFF"/>
              </a:solidFill>
              <a:effectLst/>
              <a:uLnTx/>
              <a:uFillTx/>
              <a:ea typeface="+mn-ea"/>
              <a:cs typeface="+mn-cs"/>
            </a:endParaRPr>
          </a:p>
        </p:txBody>
      </p:sp>
      <p:grpSp>
        <p:nvGrpSpPr>
          <p:cNvPr id="53" name="Group 52">
            <a:extLst>
              <a:ext uri="{FF2B5EF4-FFF2-40B4-BE49-F238E27FC236}">
                <a16:creationId xmlns:a16="http://schemas.microsoft.com/office/drawing/2014/main" id="{27100F2C-8CD3-6CA1-02CC-11927D8333FB}"/>
              </a:ext>
            </a:extLst>
          </p:cNvPr>
          <p:cNvGrpSpPr/>
          <p:nvPr/>
        </p:nvGrpSpPr>
        <p:grpSpPr>
          <a:xfrm>
            <a:off x="1214804" y="3547504"/>
            <a:ext cx="7696115" cy="1758972"/>
            <a:chOff x="1214804" y="3547504"/>
            <a:chExt cx="7696115" cy="1758972"/>
          </a:xfrm>
        </p:grpSpPr>
        <p:grpSp>
          <p:nvGrpSpPr>
            <p:cNvPr id="9" name="Group 8" descr="Arrow leading Tokens to Model ">
              <a:extLst>
                <a:ext uri="{FF2B5EF4-FFF2-40B4-BE49-F238E27FC236}">
                  <a16:creationId xmlns:a16="http://schemas.microsoft.com/office/drawing/2014/main" id="{21F89530-AA75-9544-4771-40D3147E1894}"/>
                </a:ext>
              </a:extLst>
            </p:cNvPr>
            <p:cNvGrpSpPr/>
            <p:nvPr/>
          </p:nvGrpSpPr>
          <p:grpSpPr>
            <a:xfrm>
              <a:off x="2004712" y="3547504"/>
              <a:ext cx="3460303" cy="1133226"/>
              <a:chOff x="1985662" y="2600156"/>
              <a:chExt cx="4170594" cy="1733442"/>
            </a:xfrm>
          </p:grpSpPr>
          <p:cxnSp>
            <p:nvCxnSpPr>
              <p:cNvPr id="10" name="Straight Arrow Connector 9">
                <a:extLst>
                  <a:ext uri="{FF2B5EF4-FFF2-40B4-BE49-F238E27FC236}">
                    <a16:creationId xmlns:a16="http://schemas.microsoft.com/office/drawing/2014/main" id="{02BF15B4-9115-1B1A-675E-9E51D86DBC91}"/>
                  </a:ext>
                  <a:ext uri="{C183D7F6-B498-43B3-948B-1728B52AA6E4}">
                    <adec:decorative xmlns:adec="http://schemas.microsoft.com/office/drawing/2017/decorative" val="1"/>
                  </a:ext>
                </a:extLst>
              </p:cNvPr>
              <p:cNvCxnSpPr>
                <a:cxnSpLocks/>
              </p:cNvCxnSpPr>
              <p:nvPr/>
            </p:nvCxnSpPr>
            <p:spPr>
              <a:xfrm>
                <a:off x="6156256" y="2600156"/>
                <a:ext cx="0" cy="622015"/>
              </a:xfrm>
              <a:prstGeom prst="straightConnector1">
                <a:avLst/>
              </a:prstGeom>
              <a:ln w="19050">
                <a:gradFill flip="none" rotWithShape="1">
                  <a:gsLst>
                    <a:gs pos="0">
                      <a:srgbClr val="8DE971">
                        <a:alpha val="0"/>
                      </a:srgbClr>
                    </a:gs>
                    <a:gs pos="59000">
                      <a:schemeClr val="tx1"/>
                    </a:gs>
                  </a:gsLst>
                  <a:lin ang="5400000" scaled="1"/>
                  <a:tileRect/>
                </a:gradFill>
                <a:headEnd type="none" w="lg" len="med"/>
                <a:tailEnd type="none" w="lg" len="sm"/>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A694AEE9-FD6B-E39E-F8A3-964F433C581B}"/>
                  </a:ext>
                  <a:ext uri="{C183D7F6-B498-43B3-948B-1728B52AA6E4}">
                    <adec:decorative xmlns:adec="http://schemas.microsoft.com/office/drawing/2017/decorative" val="1"/>
                  </a:ext>
                </a:extLst>
              </p:cNvPr>
              <p:cNvSpPr/>
              <p:nvPr/>
            </p:nvSpPr>
            <p:spPr>
              <a:xfrm rot="5400000">
                <a:off x="5815946" y="3039606"/>
                <a:ext cx="339783" cy="339783"/>
              </a:xfrm>
              <a:prstGeom prst="arc">
                <a:avLst/>
              </a:prstGeom>
              <a:ln w="19050" cap="rnd">
                <a:solidFill>
                  <a:schemeClr val="tx1"/>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12" name="Straight Connector 11">
                <a:extLst>
                  <a:ext uri="{FF2B5EF4-FFF2-40B4-BE49-F238E27FC236}">
                    <a16:creationId xmlns:a16="http://schemas.microsoft.com/office/drawing/2014/main" id="{CD02864B-FE1E-88D1-0E8A-08927F307D67}"/>
                  </a:ext>
                  <a:ext uri="{C183D7F6-B498-43B3-948B-1728B52AA6E4}">
                    <adec:decorative xmlns:adec="http://schemas.microsoft.com/office/drawing/2017/decorative" val="1"/>
                  </a:ext>
                </a:extLst>
              </p:cNvPr>
              <p:cNvCxnSpPr>
                <a:cxnSpLocks/>
              </p:cNvCxnSpPr>
              <p:nvPr/>
            </p:nvCxnSpPr>
            <p:spPr>
              <a:xfrm flipH="1">
                <a:off x="2156227" y="3379388"/>
                <a:ext cx="3828937" cy="0"/>
              </a:xfrm>
              <a:prstGeom prst="line">
                <a:avLst/>
              </a:prstGeom>
              <a:ln w="19050" cap="rnd">
                <a:solidFill>
                  <a:schemeClr val="tx1"/>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1241B44E-4640-90E7-1D09-90F06FA1155B}"/>
                  </a:ext>
                  <a:ext uri="{C183D7F6-B498-43B3-948B-1728B52AA6E4}">
                    <adec:decorative xmlns:adec="http://schemas.microsoft.com/office/drawing/2017/decorative" val="1"/>
                  </a:ext>
                </a:extLst>
              </p:cNvPr>
              <p:cNvSpPr/>
              <p:nvPr/>
            </p:nvSpPr>
            <p:spPr>
              <a:xfrm rot="16200000">
                <a:off x="1985662" y="3379391"/>
                <a:ext cx="339783" cy="339783"/>
              </a:xfrm>
              <a:prstGeom prst="arc">
                <a:avLst/>
              </a:prstGeom>
              <a:ln w="19050" cap="rnd">
                <a:solidFill>
                  <a:schemeClr val="tx1"/>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14" name="Straight Arrow Connector 13">
                <a:extLst>
                  <a:ext uri="{FF2B5EF4-FFF2-40B4-BE49-F238E27FC236}">
                    <a16:creationId xmlns:a16="http://schemas.microsoft.com/office/drawing/2014/main" id="{6A44B584-C0FE-7E38-1CF1-9D699999B2B8}"/>
                  </a:ext>
                  <a:ext uri="{C183D7F6-B498-43B3-948B-1728B52AA6E4}">
                    <adec:decorative xmlns:adec="http://schemas.microsoft.com/office/drawing/2017/decorative" val="1"/>
                  </a:ext>
                </a:extLst>
              </p:cNvPr>
              <p:cNvCxnSpPr>
                <a:cxnSpLocks/>
              </p:cNvCxnSpPr>
              <p:nvPr/>
            </p:nvCxnSpPr>
            <p:spPr>
              <a:xfrm rot="5400000">
                <a:off x="1591206" y="3937598"/>
                <a:ext cx="792000" cy="0"/>
              </a:xfrm>
              <a:prstGeom prst="straightConnector1">
                <a:avLst/>
              </a:prstGeom>
              <a:ln w="19050">
                <a:solidFill>
                  <a:schemeClr val="tx1"/>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sp>
          <p:nvSpPr>
            <p:cNvPr id="15" name="Rectangle: Rounded Corners 10">
              <a:extLst>
                <a:ext uri="{FF2B5EF4-FFF2-40B4-BE49-F238E27FC236}">
                  <a16:creationId xmlns:a16="http://schemas.microsoft.com/office/drawing/2014/main" id="{6C07BB29-F049-A826-FB57-91BBD0E45C95}"/>
                </a:ext>
              </a:extLst>
            </p:cNvPr>
            <p:cNvSpPr/>
            <p:nvPr/>
          </p:nvSpPr>
          <p:spPr bwMode="auto">
            <a:xfrm>
              <a:off x="1214804" y="4813093"/>
              <a:ext cx="1548000" cy="493383"/>
            </a:xfrm>
            <a:prstGeom prst="roundRect">
              <a:avLst>
                <a:gd name="adj" fmla="val 50000"/>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a:ln w="3175">
                    <a:noFill/>
                  </a:ln>
                  <a:gradFill>
                    <a:gsLst>
                      <a:gs pos="28000">
                        <a:srgbClr val="FFFFFF"/>
                      </a:gs>
                      <a:gs pos="53147">
                        <a:srgbClr val="FFFFFF"/>
                      </a:gs>
                    </a:gsLst>
                    <a:path path="circle">
                      <a:fillToRect l="100000" b="100000"/>
                    </a:path>
                  </a:gradFill>
                  <a:effectLst/>
                  <a:uLnTx/>
                  <a:uFillTx/>
                  <a:latin typeface="Aptos" panose="020B0004020202020204" pitchFamily="34" charset="0"/>
                  <a:cs typeface="Segoe UI"/>
                </a:rPr>
                <a:t>Model</a:t>
              </a:r>
              <a:endParaRPr kumimoji="0" lang="en-US" sz="1800" b="1" i="0" u="none" strike="noStrike" kern="1200" cap="none" spc="0" normalizeH="0" baseline="0" noProof="0">
                <a:ln w="3175">
                  <a:noFill/>
                </a:ln>
                <a:gradFill>
                  <a:gsLst>
                    <a:gs pos="28000">
                      <a:srgbClr val="FFFFFF"/>
                    </a:gs>
                    <a:gs pos="53147">
                      <a:srgbClr val="FFFFFF"/>
                    </a:gs>
                  </a:gsLst>
                  <a:path path="circle">
                    <a:fillToRect l="100000" b="100000"/>
                  </a:path>
                </a:gradFill>
                <a:effectLst/>
                <a:uLnTx/>
                <a:uFillTx/>
                <a:latin typeface="Aptos" panose="020B0004020202020204" pitchFamily="34" charset="0"/>
                <a:cs typeface="Segoe UI"/>
              </a:endParaRPr>
            </a:p>
          </p:txBody>
        </p:sp>
        <p:cxnSp>
          <p:nvCxnSpPr>
            <p:cNvPr id="26" name="Straight Arrow Connector 25">
              <a:extLst>
                <a:ext uri="{FF2B5EF4-FFF2-40B4-BE49-F238E27FC236}">
                  <a16:creationId xmlns:a16="http://schemas.microsoft.com/office/drawing/2014/main" id="{8472DECC-64C5-2662-76D9-B85594EC374B}"/>
                </a:ext>
                <a:ext uri="{C183D7F6-B498-43B3-948B-1728B52AA6E4}">
                  <adec:decorative xmlns:adec="http://schemas.microsoft.com/office/drawing/2017/decorative" val="1"/>
                </a:ext>
              </a:extLst>
            </p:cNvPr>
            <p:cNvCxnSpPr>
              <a:cxnSpLocks/>
            </p:cNvCxnSpPr>
            <p:nvPr/>
          </p:nvCxnSpPr>
          <p:spPr>
            <a:xfrm>
              <a:off x="8910919" y="3547504"/>
              <a:ext cx="0" cy="406693"/>
            </a:xfrm>
            <a:prstGeom prst="straightConnector1">
              <a:avLst/>
            </a:prstGeom>
            <a:ln w="19050">
              <a:gradFill flip="none" rotWithShape="1">
                <a:gsLst>
                  <a:gs pos="0">
                    <a:srgbClr val="8DE971">
                      <a:alpha val="0"/>
                    </a:srgbClr>
                  </a:gs>
                  <a:gs pos="59000">
                    <a:schemeClr val="tx1"/>
                  </a:gs>
                </a:gsLst>
                <a:lin ang="5400000" scaled="1"/>
                <a:tileRect/>
              </a:gradFill>
              <a:headEnd type="none" w="lg" len="med"/>
              <a:tailEnd type="none" w="lg" len="sm"/>
            </a:ln>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AEEA0553-ADC6-5EEE-A7F0-14D7FF3B46D2}"/>
                </a:ext>
                <a:ext uri="{C183D7F6-B498-43B3-948B-1728B52AA6E4}">
                  <adec:decorative xmlns:adec="http://schemas.microsoft.com/office/drawing/2017/decorative" val="1"/>
                </a:ext>
              </a:extLst>
            </p:cNvPr>
            <p:cNvSpPr/>
            <p:nvPr/>
          </p:nvSpPr>
          <p:spPr>
            <a:xfrm rot="5400000">
              <a:off x="8517641" y="3664586"/>
              <a:ext cx="222161" cy="562651"/>
            </a:xfrm>
            <a:prstGeom prst="arc">
              <a:avLst/>
            </a:prstGeom>
            <a:ln w="19050" cap="rnd">
              <a:solidFill>
                <a:schemeClr val="tx1"/>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8" name="Straight Connector 27">
              <a:extLst>
                <a:ext uri="{FF2B5EF4-FFF2-40B4-BE49-F238E27FC236}">
                  <a16:creationId xmlns:a16="http://schemas.microsoft.com/office/drawing/2014/main" id="{E3362E92-919E-5076-F3B3-2EB047706F1E}"/>
                </a:ext>
                <a:ext uri="{C183D7F6-B498-43B3-948B-1728B52AA6E4}">
                  <adec:decorative xmlns:adec="http://schemas.microsoft.com/office/drawing/2017/decorative" val="1"/>
                </a:ext>
              </a:extLst>
            </p:cNvPr>
            <p:cNvCxnSpPr>
              <a:cxnSpLocks/>
            </p:cNvCxnSpPr>
            <p:nvPr/>
          </p:nvCxnSpPr>
          <p:spPr>
            <a:xfrm flipH="1">
              <a:off x="2287225" y="4056991"/>
              <a:ext cx="6340381" cy="0"/>
            </a:xfrm>
            <a:prstGeom prst="line">
              <a:avLst/>
            </a:prstGeom>
            <a:ln w="19050" cap="rnd">
              <a:solidFill>
                <a:schemeClr val="tx1"/>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7EDA5F3-F2B9-3DD3-9B1A-4854156206B9}"/>
                </a:ext>
                <a:ext uri="{C183D7F6-B498-43B3-948B-1728B52AA6E4}">
                  <adec:decorative xmlns:adec="http://schemas.microsoft.com/office/drawing/2017/decorative" val="1"/>
                </a:ext>
              </a:extLst>
            </p:cNvPr>
            <p:cNvCxnSpPr>
              <a:cxnSpLocks/>
            </p:cNvCxnSpPr>
            <p:nvPr/>
          </p:nvCxnSpPr>
          <p:spPr>
            <a:xfrm rot="5400000">
              <a:off x="1748423" y="4421966"/>
              <a:ext cx="517835" cy="0"/>
            </a:xfrm>
            <a:prstGeom prst="straightConnector1">
              <a:avLst/>
            </a:prstGeom>
            <a:ln w="19050">
              <a:solidFill>
                <a:schemeClr val="tx1"/>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9BB4B4BF-C2ED-9036-657F-5674CEDA6794}"/>
              </a:ext>
            </a:extLst>
          </p:cNvPr>
          <p:cNvGrpSpPr/>
          <p:nvPr/>
        </p:nvGrpSpPr>
        <p:grpSpPr>
          <a:xfrm>
            <a:off x="2781252" y="2115577"/>
            <a:ext cx="7631912" cy="1276122"/>
            <a:chOff x="2781252" y="2115577"/>
            <a:chExt cx="7631912" cy="1276122"/>
          </a:xfrm>
        </p:grpSpPr>
        <p:sp>
          <p:nvSpPr>
            <p:cNvPr id="38" name="Rectangle 37">
              <a:extLst>
                <a:ext uri="{FF2B5EF4-FFF2-40B4-BE49-F238E27FC236}">
                  <a16:creationId xmlns:a16="http://schemas.microsoft.com/office/drawing/2014/main" id="{07024796-85D4-094D-22BE-5CFCB2075146}"/>
                </a:ext>
              </a:extLst>
            </p:cNvPr>
            <p:cNvSpPr/>
            <p:nvPr/>
          </p:nvSpPr>
          <p:spPr>
            <a:xfrm>
              <a:off x="8167719" y="2115577"/>
              <a:ext cx="1503420" cy="813552"/>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descr="Arrow leading to tokens ">
              <a:extLst>
                <a:ext uri="{FF2B5EF4-FFF2-40B4-BE49-F238E27FC236}">
                  <a16:creationId xmlns:a16="http://schemas.microsoft.com/office/drawing/2014/main" id="{4B0A28BC-AC03-9B26-DD59-1A44C81ACA22}"/>
                </a:ext>
                <a:ext uri="{C183D7F6-B498-43B3-948B-1728B52AA6E4}">
                  <adec:decorative xmlns:adec="http://schemas.microsoft.com/office/drawing/2017/decorative" val="0"/>
                </a:ext>
              </a:extLst>
            </p:cNvPr>
            <p:cNvCxnSpPr>
              <a:cxnSpLocks/>
            </p:cNvCxnSpPr>
            <p:nvPr/>
          </p:nvCxnSpPr>
          <p:spPr>
            <a:xfrm>
              <a:off x="2781252" y="2804825"/>
              <a:ext cx="1207274" cy="0"/>
            </a:xfrm>
            <a:prstGeom prst="straightConnector1">
              <a:avLst/>
            </a:prstGeom>
            <a:ln w="19050">
              <a:gradFill flip="none" rotWithShape="1">
                <a:gsLst>
                  <a:gs pos="0">
                    <a:srgbClr val="8DE971">
                      <a:alpha val="0"/>
                    </a:srgbClr>
                  </a:gs>
                  <a:gs pos="3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CB95963-AF26-7476-9DD3-5DEDBCFE3915}"/>
                </a:ext>
              </a:extLst>
            </p:cNvPr>
            <p:cNvSpPr txBox="1"/>
            <p:nvPr/>
          </p:nvSpPr>
          <p:spPr>
            <a:xfrm>
              <a:off x="2874621" y="2880248"/>
              <a:ext cx="960857" cy="215444"/>
            </a:xfrm>
            <a:prstGeom prst="rect">
              <a:avLst/>
            </a:prstGeom>
            <a:noFill/>
          </p:spPr>
          <p:txBody>
            <a:bodyPr wrap="square" lIns="0" tIns="0" rIns="0" bIns="0" rtlCol="0">
              <a:spAutoFit/>
            </a:bodyPr>
            <a:lstStyle>
              <a:defPPr>
                <a:defRPr lang="en-US"/>
              </a:defPPr>
              <a:lvl1pPr algn="ctr">
                <a:defRPr sz="1600" b="1">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spc="-20">
                  <a:latin typeface="+mn-lt"/>
                </a:rPr>
                <a:t>Tokenization</a:t>
              </a:r>
              <a:endParaRPr kumimoji="0" lang="en-US" sz="1400" b="0" i="0" u="none" strike="noStrike" kern="1200" cap="none" spc="-20" normalizeH="0" baseline="0" noProof="0">
                <a:ln>
                  <a:noFill/>
                </a:ln>
                <a:effectLst/>
                <a:uLnTx/>
                <a:uFillTx/>
                <a:latin typeface="+mn-lt"/>
                <a:ea typeface="+mn-ea"/>
                <a:cs typeface="Segoe UI Semibold" panose="020B0502040204020203" pitchFamily="34" charset="0"/>
              </a:endParaRPr>
            </a:p>
          </p:txBody>
        </p:sp>
        <p:sp>
          <p:nvSpPr>
            <p:cNvPr id="8" name="Rounded Rectangle 7">
              <a:extLst>
                <a:ext uri="{FF2B5EF4-FFF2-40B4-BE49-F238E27FC236}">
                  <a16:creationId xmlns:a16="http://schemas.microsoft.com/office/drawing/2014/main" id="{FB875F16-40CC-11C5-FDEE-A43DC2EC15C5}"/>
                </a:ext>
              </a:extLst>
            </p:cNvPr>
            <p:cNvSpPr/>
            <p:nvPr/>
          </p:nvSpPr>
          <p:spPr bwMode="auto">
            <a:xfrm>
              <a:off x="4853179" y="2941699"/>
              <a:ext cx="1317775" cy="450000"/>
            </a:xfrm>
            <a:prstGeom prst="roundRect">
              <a:avLst>
                <a:gd name="adj" fmla="val 50000"/>
              </a:avLst>
            </a:prstGeom>
            <a:solidFill>
              <a:srgbClr val="3A4953"/>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0" rIns="108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ptos" panose="020B0004020202020204" pitchFamily="34" charset="0"/>
                </a:rPr>
                <a:t>Tokens</a:t>
              </a:r>
            </a:p>
          </p:txBody>
        </p:sp>
        <p:pic>
          <p:nvPicPr>
            <p:cNvPr id="31" name="Picture 30" descr="A screen shot of a computer&#10;&#10;AI-generated content may be incorrect.">
              <a:extLst>
                <a:ext uri="{FF2B5EF4-FFF2-40B4-BE49-F238E27FC236}">
                  <a16:creationId xmlns:a16="http://schemas.microsoft.com/office/drawing/2014/main" id="{E335F0AC-439D-08AD-453E-76A895985931}"/>
                </a:ext>
              </a:extLst>
            </p:cNvPr>
            <p:cNvPicPr>
              <a:picLocks noChangeAspect="1"/>
            </p:cNvPicPr>
            <p:nvPr/>
          </p:nvPicPr>
          <p:blipFill>
            <a:blip r:embed="rId4">
              <a:extLst>
                <a:ext uri="{28A0092B-C50C-407E-A947-70E740481C1C}">
                  <a14:useLocalDpi xmlns:a14="http://schemas.microsoft.com/office/drawing/2010/main" val="0"/>
                </a:ext>
              </a:extLst>
            </a:blip>
            <a:srcRect l="6292" t="57215" r="4283" b="18123"/>
            <a:stretch/>
          </p:blipFill>
          <p:spPr>
            <a:xfrm>
              <a:off x="4021716" y="2250606"/>
              <a:ext cx="3285353" cy="368864"/>
            </a:xfrm>
            <a:prstGeom prst="rect">
              <a:avLst/>
            </a:prstGeom>
            <a:ln>
              <a:noFill/>
            </a:ln>
          </p:spPr>
        </p:pic>
        <p:sp>
          <p:nvSpPr>
            <p:cNvPr id="32" name="Rounded Rectangle 31">
              <a:extLst>
                <a:ext uri="{FF2B5EF4-FFF2-40B4-BE49-F238E27FC236}">
                  <a16:creationId xmlns:a16="http://schemas.microsoft.com/office/drawing/2014/main" id="{CC182858-4160-D306-4A4F-69F444B9F180}"/>
                </a:ext>
              </a:extLst>
            </p:cNvPr>
            <p:cNvSpPr/>
            <p:nvPr/>
          </p:nvSpPr>
          <p:spPr bwMode="auto">
            <a:xfrm>
              <a:off x="8242881" y="2937592"/>
              <a:ext cx="1317775" cy="450000"/>
            </a:xfrm>
            <a:prstGeom prst="roundRect">
              <a:avLst>
                <a:gd name="adj" fmla="val 50000"/>
              </a:avLst>
            </a:prstGeom>
            <a:solidFill>
              <a:srgbClr val="3A4953"/>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0" rIns="108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600" b="1">
                  <a:solidFill>
                    <a:srgbClr val="FFFFFF"/>
                  </a:solidFill>
                  <a:latin typeface="Aptos" panose="020B0004020202020204" pitchFamily="34" charset="0"/>
                </a:rPr>
                <a:t>Encodings</a:t>
              </a:r>
              <a:endParaRPr kumimoji="0" lang="en-US" sz="1600" b="1" i="0" u="none" strike="noStrike" kern="1200" cap="none" spc="0" normalizeH="0" baseline="0" noProof="0">
                <a:ln>
                  <a:noFill/>
                </a:ln>
                <a:solidFill>
                  <a:srgbClr val="FFFFFF"/>
                </a:solidFill>
                <a:effectLst/>
                <a:uLnTx/>
                <a:uFillTx/>
                <a:latin typeface="Aptos" panose="020B0004020202020204" pitchFamily="34" charset="0"/>
              </a:endParaRPr>
            </a:p>
          </p:txBody>
        </p:sp>
        <p:cxnSp>
          <p:nvCxnSpPr>
            <p:cNvPr id="33" name="Straight Arrow Connector 32" descr="Arrow leading to tokens ">
              <a:extLst>
                <a:ext uri="{FF2B5EF4-FFF2-40B4-BE49-F238E27FC236}">
                  <a16:creationId xmlns:a16="http://schemas.microsoft.com/office/drawing/2014/main" id="{B3266CA0-4287-A283-0CFC-41F012FAA53D}"/>
                </a:ext>
                <a:ext uri="{C183D7F6-B498-43B3-948B-1728B52AA6E4}">
                  <adec:decorative xmlns:adec="http://schemas.microsoft.com/office/drawing/2017/decorative" val="0"/>
                </a:ext>
              </a:extLst>
            </p:cNvPr>
            <p:cNvCxnSpPr>
              <a:cxnSpLocks/>
            </p:cNvCxnSpPr>
            <p:nvPr/>
          </p:nvCxnSpPr>
          <p:spPr>
            <a:xfrm flipH="1">
              <a:off x="9671138" y="2782603"/>
              <a:ext cx="742026" cy="0"/>
            </a:xfrm>
            <a:prstGeom prst="straightConnector1">
              <a:avLst/>
            </a:prstGeom>
            <a:ln w="19050">
              <a:gradFill flip="none" rotWithShape="1">
                <a:gsLst>
                  <a:gs pos="0">
                    <a:srgbClr val="8DE971">
                      <a:alpha val="0"/>
                    </a:srgbClr>
                  </a:gs>
                  <a:gs pos="3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C6DD95C-B272-E419-3A9A-3B91486FE93D}"/>
                </a:ext>
              </a:extLst>
            </p:cNvPr>
            <p:cNvSpPr txBox="1"/>
            <p:nvPr/>
          </p:nvSpPr>
          <p:spPr>
            <a:xfrm>
              <a:off x="3984181" y="2664897"/>
              <a:ext cx="3460308" cy="292388"/>
            </a:xfrm>
            <a:prstGeom prst="rect">
              <a:avLst/>
            </a:prstGeom>
            <a:noFill/>
          </p:spPr>
          <p:txBody>
            <a:bodyPr wrap="square">
              <a:spAutoFit/>
            </a:bodyPr>
            <a:lstStyle/>
            <a:p>
              <a:pPr algn="l" rtl="0"/>
              <a:r>
                <a:rPr lang="en-US" sz="1300" b="0" i="0">
                  <a:solidFill>
                    <a:srgbClr val="353740"/>
                  </a:solidFill>
                  <a:effectLst/>
                  <a:latin typeface="Consolas" panose="020B0609020204030204" pitchFamily="49" charset="0"/>
                  <a:cs typeface="Consolas" panose="020B0609020204030204" pitchFamily="49" charset="0"/>
                </a:rPr>
                <a:t>7088 1417 110255 15634 27226 402 220</a:t>
              </a:r>
            </a:p>
          </p:txBody>
        </p:sp>
        <p:sp>
          <p:nvSpPr>
            <p:cNvPr id="37" name="Rectangle 36">
              <a:extLst>
                <a:ext uri="{FF2B5EF4-FFF2-40B4-BE49-F238E27FC236}">
                  <a16:creationId xmlns:a16="http://schemas.microsoft.com/office/drawing/2014/main" id="{026BDD28-CDAF-5557-DCA0-56362D37A7A1}"/>
                </a:ext>
              </a:extLst>
            </p:cNvPr>
            <p:cNvSpPr/>
            <p:nvPr/>
          </p:nvSpPr>
          <p:spPr>
            <a:xfrm>
              <a:off x="4010872" y="2250606"/>
              <a:ext cx="3433617" cy="686212"/>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544F7F8D-B851-ABB3-2FBF-8630C9D512A9}"/>
                </a:ext>
              </a:extLst>
            </p:cNvPr>
            <p:cNvSpPr txBox="1"/>
            <p:nvPr/>
          </p:nvSpPr>
          <p:spPr>
            <a:xfrm>
              <a:off x="8141934" y="2115579"/>
              <a:ext cx="1548000" cy="830997"/>
            </a:xfrm>
            <a:prstGeom prst="rect">
              <a:avLst/>
            </a:prstGeom>
            <a:noFill/>
          </p:spPr>
          <p:txBody>
            <a:bodyPr wrap="square">
              <a:spAutoFit/>
            </a:bodyPr>
            <a:lstStyle/>
            <a:p>
              <a:pPr algn="l" rtl="0"/>
              <a:r>
                <a:rPr lang="en-US" sz="1600" b="0" i="0">
                  <a:solidFill>
                    <a:srgbClr val="353740"/>
                  </a:solidFill>
                  <a:effectLst/>
                  <a:latin typeface="Consolas" panose="020B0609020204030204" pitchFamily="49" charset="0"/>
                  <a:cs typeface="Consolas" panose="020B0609020204030204" pitchFamily="49" charset="0"/>
                </a:rPr>
                <a:t>85417 139521</a:t>
              </a:r>
            </a:p>
            <a:p>
              <a:pPr algn="l" rtl="0"/>
              <a:r>
                <a:rPr lang="en-US" sz="1600" b="0" i="0">
                  <a:solidFill>
                    <a:srgbClr val="353740"/>
                  </a:solidFill>
                  <a:effectLst/>
                  <a:latin typeface="Consolas" panose="020B0609020204030204" pitchFamily="49" charset="0"/>
                  <a:cs typeface="Consolas" panose="020B0609020204030204" pitchFamily="49" charset="0"/>
                </a:rPr>
                <a:t>49243 98213</a:t>
              </a:r>
            </a:p>
            <a:p>
              <a:pPr algn="l" rtl="0"/>
              <a:r>
                <a:rPr lang="en-US" sz="1600" b="0" i="0">
                  <a:solidFill>
                    <a:srgbClr val="353740"/>
                  </a:solidFill>
                  <a:effectLst/>
                  <a:latin typeface="Consolas" panose="020B0609020204030204" pitchFamily="49" charset="0"/>
                  <a:cs typeface="Consolas" panose="020B0609020204030204" pitchFamily="49" charset="0"/>
                </a:rPr>
                <a:t>61745 175938</a:t>
              </a:r>
            </a:p>
          </p:txBody>
        </p:sp>
      </p:grpSp>
      <p:sp>
        <p:nvSpPr>
          <p:cNvPr id="45" name="TextBox 44">
            <a:extLst>
              <a:ext uri="{FF2B5EF4-FFF2-40B4-BE49-F238E27FC236}">
                <a16:creationId xmlns:a16="http://schemas.microsoft.com/office/drawing/2014/main" id="{D514F008-95CF-1849-CB52-50EBB4686C4C}"/>
              </a:ext>
            </a:extLst>
          </p:cNvPr>
          <p:cNvSpPr txBox="1"/>
          <p:nvPr/>
        </p:nvSpPr>
        <p:spPr>
          <a:xfrm>
            <a:off x="1205863" y="6389284"/>
            <a:ext cx="8465275" cy="369332"/>
          </a:xfrm>
          <a:prstGeom prst="rect">
            <a:avLst/>
          </a:prstGeom>
          <a:noFill/>
        </p:spPr>
        <p:txBody>
          <a:bodyPr wrap="square">
            <a:spAutoFit/>
          </a:bodyPr>
          <a:lstStyle/>
          <a:p>
            <a:r>
              <a:rPr lang="en-US">
                <a:hlinkClick r:id="rId5"/>
              </a:rPr>
              <a:t>https://magazine.sebastianraschka.com/p/understanding-multimodal-llms</a:t>
            </a:r>
            <a:endParaRPr lang="en-US"/>
          </a:p>
        </p:txBody>
      </p:sp>
      <p:sp>
        <p:nvSpPr>
          <p:cNvPr id="46" name="TextBox 45">
            <a:extLst>
              <a:ext uri="{FF2B5EF4-FFF2-40B4-BE49-F238E27FC236}">
                <a16:creationId xmlns:a16="http://schemas.microsoft.com/office/drawing/2014/main" id="{66CBACDD-82AC-16BB-D948-5090E12D8A7F}"/>
              </a:ext>
            </a:extLst>
          </p:cNvPr>
          <p:cNvSpPr txBox="1"/>
          <p:nvPr/>
        </p:nvSpPr>
        <p:spPr>
          <a:xfrm>
            <a:off x="1125180" y="1618509"/>
            <a:ext cx="10406743" cy="430887"/>
          </a:xfrm>
          <a:prstGeom prst="rect">
            <a:avLst/>
          </a:prstGeom>
          <a:noFill/>
        </p:spPr>
        <p:txBody>
          <a:bodyPr wrap="square" rtlCol="0">
            <a:spAutoFit/>
          </a:bodyPr>
          <a:lstStyle/>
          <a:p>
            <a:r>
              <a:rPr lang="en-US" sz="2200"/>
              <a:t>In addition to text, a multimodal LLM can accept images, sometimes video/audio.</a:t>
            </a:r>
          </a:p>
        </p:txBody>
      </p:sp>
    </p:spTree>
    <p:extLst>
      <p:ext uri="{BB962C8B-B14F-4D97-AF65-F5344CB8AC3E}">
        <p14:creationId xmlns:p14="http://schemas.microsoft.com/office/powerpoint/2010/main" val="258336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90299-76D2-E093-C2D7-B3DBF89BC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9229D-436D-0EA4-14CF-2BEBADC5E723}"/>
              </a:ext>
            </a:extLst>
          </p:cNvPr>
          <p:cNvSpPr>
            <a:spLocks noGrp="1"/>
          </p:cNvSpPr>
          <p:nvPr>
            <p:ph type="title"/>
          </p:nvPr>
        </p:nvSpPr>
        <p:spPr/>
        <p:txBody>
          <a:bodyPr/>
          <a:lstStyle/>
          <a:p>
            <a:r>
              <a:rPr lang="es-MX"/>
              <a:t>Multimodal LLMs on Azure/GitHub</a:t>
            </a:r>
          </a:p>
        </p:txBody>
      </p:sp>
      <p:graphicFrame>
        <p:nvGraphicFramePr>
          <p:cNvPr id="5" name="Table 4">
            <a:extLst>
              <a:ext uri="{FF2B5EF4-FFF2-40B4-BE49-F238E27FC236}">
                <a16:creationId xmlns:a16="http://schemas.microsoft.com/office/drawing/2014/main" id="{E6B0FDE3-E554-EC2D-DC66-A3C558B4DDF4}"/>
              </a:ext>
            </a:extLst>
          </p:cNvPr>
          <p:cNvGraphicFramePr>
            <a:graphicFrameLocks noGrp="1"/>
          </p:cNvGraphicFramePr>
          <p:nvPr>
            <p:extLst>
              <p:ext uri="{D42A27DB-BD31-4B8C-83A1-F6EECF244321}">
                <p14:modId xmlns:p14="http://schemas.microsoft.com/office/powerpoint/2010/main" val="3715329091"/>
              </p:ext>
            </p:extLst>
          </p:nvPr>
        </p:nvGraphicFramePr>
        <p:xfrm>
          <a:off x="1173481" y="1911976"/>
          <a:ext cx="10513422" cy="3412517"/>
        </p:xfrm>
        <a:graphic>
          <a:graphicData uri="http://schemas.openxmlformats.org/drawingml/2006/table">
            <a:tbl>
              <a:tblPr firstRow="1" bandRow="1">
                <a:tableStyleId>{5C22544A-7EE6-4342-B048-85BDC9FD1C3A}</a:tableStyleId>
              </a:tblPr>
              <a:tblGrid>
                <a:gridCol w="2628034">
                  <a:extLst>
                    <a:ext uri="{9D8B030D-6E8A-4147-A177-3AD203B41FA5}">
                      <a16:colId xmlns:a16="http://schemas.microsoft.com/office/drawing/2014/main" val="1383439416"/>
                    </a:ext>
                  </a:extLst>
                </a:gridCol>
                <a:gridCol w="3778829">
                  <a:extLst>
                    <a:ext uri="{9D8B030D-6E8A-4147-A177-3AD203B41FA5}">
                      <a16:colId xmlns:a16="http://schemas.microsoft.com/office/drawing/2014/main" val="2597956376"/>
                    </a:ext>
                  </a:extLst>
                </a:gridCol>
                <a:gridCol w="4106559">
                  <a:extLst>
                    <a:ext uri="{9D8B030D-6E8A-4147-A177-3AD203B41FA5}">
                      <a16:colId xmlns:a16="http://schemas.microsoft.com/office/drawing/2014/main" val="270009724"/>
                    </a:ext>
                  </a:extLst>
                </a:gridCol>
              </a:tblGrid>
              <a:tr h="775051">
                <a:tc>
                  <a:txBody>
                    <a:bodyPr/>
                    <a:lstStyle/>
                    <a:p>
                      <a:r>
                        <a:rPr lang="en-US" sz="2400"/>
                        <a:t>Creator</a:t>
                      </a:r>
                    </a:p>
                  </a:txBody>
                  <a:tcPr/>
                </a:tc>
                <a:tc>
                  <a:txBody>
                    <a:bodyPr/>
                    <a:lstStyle/>
                    <a:p>
                      <a:r>
                        <a:rPr lang="en-US" sz="2400"/>
                        <a:t>Models</a:t>
                      </a:r>
                    </a:p>
                  </a:txBody>
                  <a:tcPr/>
                </a:tc>
                <a:tc>
                  <a:txBody>
                    <a:bodyPr/>
                    <a:lstStyle/>
                    <a:p>
                      <a:r>
                        <a:rPr lang="en-US" sz="2400"/>
                        <a:t>How to access?</a:t>
                      </a:r>
                    </a:p>
                  </a:txBody>
                  <a:tcPr/>
                </a:tc>
                <a:extLst>
                  <a:ext uri="{0D108BD9-81ED-4DB2-BD59-A6C34878D82A}">
                    <a16:rowId xmlns:a16="http://schemas.microsoft.com/office/drawing/2014/main" val="1155747763"/>
                  </a:ext>
                </a:extLst>
              </a:tr>
              <a:tr h="991546">
                <a:tc>
                  <a:txBody>
                    <a:bodyPr/>
                    <a:lstStyle/>
                    <a:p>
                      <a:r>
                        <a:rPr lang="en-US" sz="2400" baseline="0"/>
                        <a:t>OpenAI</a:t>
                      </a:r>
                    </a:p>
                  </a:txBody>
                  <a:tcPr/>
                </a:tc>
                <a:tc>
                  <a:txBody>
                    <a:bodyPr/>
                    <a:lstStyle/>
                    <a:p>
                      <a:r>
                        <a:rPr lang="en-US" sz="2400" baseline="0"/>
                        <a:t>GPT-4o,</a:t>
                      </a:r>
                    </a:p>
                    <a:p>
                      <a:r>
                        <a:rPr lang="en-US" sz="2400" baseline="0"/>
                        <a:t>GPT-4o-mini</a:t>
                      </a:r>
                    </a:p>
                  </a:txBody>
                  <a:tcPr/>
                </a:tc>
                <a:tc>
                  <a:txBody>
                    <a:bodyPr/>
                    <a:lstStyle/>
                    <a:p>
                      <a:r>
                        <a:rPr lang="en-US" sz="2400" baseline="0"/>
                        <a:t>Azure OpenAI,</a:t>
                      </a:r>
                    </a:p>
                    <a:p>
                      <a:r>
                        <a:rPr lang="en-US" sz="2400" baseline="0"/>
                        <a:t>GitHub Models</a:t>
                      </a:r>
                    </a:p>
                  </a:txBody>
                  <a:tcPr/>
                </a:tc>
                <a:extLst>
                  <a:ext uri="{0D108BD9-81ED-4DB2-BD59-A6C34878D82A}">
                    <a16:rowId xmlns:a16="http://schemas.microsoft.com/office/drawing/2014/main" val="962200249"/>
                  </a:ext>
                </a:extLst>
              </a:tr>
              <a:tr h="653652">
                <a:tc>
                  <a:txBody>
                    <a:bodyPr/>
                    <a:lstStyle/>
                    <a:p>
                      <a:r>
                        <a:rPr lang="en-US" sz="2400" baseline="0"/>
                        <a:t>Microsoft</a:t>
                      </a:r>
                    </a:p>
                  </a:txBody>
                  <a:tcPr/>
                </a:tc>
                <a:tc>
                  <a:txBody>
                    <a:bodyPr/>
                    <a:lstStyle/>
                    <a:p>
                      <a:r>
                        <a:rPr lang="en-US" sz="2400" baseline="0"/>
                        <a:t>Phi3.5-vision,</a:t>
                      </a:r>
                    </a:p>
                    <a:p>
                      <a:r>
                        <a:rPr lang="en-US" sz="2400" baseline="0"/>
                        <a:t>Phi4-multimodal-instruct</a:t>
                      </a:r>
                    </a:p>
                  </a:txBody>
                  <a:tcPr/>
                </a:tc>
                <a:tc>
                  <a:txBody>
                    <a:bodyPr/>
                    <a:lstStyle/>
                    <a:p>
                      <a:r>
                        <a:rPr lang="en-US" sz="2400" baseline="0"/>
                        <a:t>Azure AI Services,</a:t>
                      </a:r>
                    </a:p>
                    <a:p>
                      <a:r>
                        <a:rPr lang="en-US" sz="2400" baseline="0"/>
                        <a:t>GitHub Models</a:t>
                      </a:r>
                    </a:p>
                  </a:txBody>
                  <a:tcPr/>
                </a:tc>
                <a:extLst>
                  <a:ext uri="{0D108BD9-81ED-4DB2-BD59-A6C34878D82A}">
                    <a16:rowId xmlns:a16="http://schemas.microsoft.com/office/drawing/2014/main" val="206518395"/>
                  </a:ext>
                </a:extLst>
              </a:tr>
              <a:tr h="653652">
                <a:tc>
                  <a:txBody>
                    <a:bodyPr/>
                    <a:lstStyle/>
                    <a:p>
                      <a:r>
                        <a:rPr lang="en-US" sz="2400" baseline="0"/>
                        <a:t>Meta</a:t>
                      </a:r>
                    </a:p>
                  </a:txBody>
                  <a:tcPr/>
                </a:tc>
                <a:tc>
                  <a:txBody>
                    <a:bodyPr/>
                    <a:lstStyle/>
                    <a:p>
                      <a:r>
                        <a:rPr lang="en-US" sz="2400" baseline="0"/>
                        <a:t>Llama-3.2-Vision-instruct</a:t>
                      </a:r>
                    </a:p>
                  </a:txBody>
                  <a:tcPr/>
                </a:tc>
                <a:tc>
                  <a:txBody>
                    <a:bodyPr/>
                    <a:lstStyle/>
                    <a:p>
                      <a:r>
                        <a:rPr lang="en-US" sz="2400" baseline="0"/>
                        <a:t>Azure AI Services,</a:t>
                      </a:r>
                    </a:p>
                    <a:p>
                      <a:r>
                        <a:rPr lang="en-US" sz="2400" baseline="0"/>
                        <a:t>GitHub Models</a:t>
                      </a:r>
                    </a:p>
                  </a:txBody>
                  <a:tcPr/>
                </a:tc>
                <a:extLst>
                  <a:ext uri="{0D108BD9-81ED-4DB2-BD59-A6C34878D82A}">
                    <a16:rowId xmlns:a16="http://schemas.microsoft.com/office/drawing/2014/main" val="1525414120"/>
                  </a:ext>
                </a:extLst>
              </a:tr>
            </a:tbl>
          </a:graphicData>
        </a:graphic>
      </p:graphicFrame>
      <p:sp>
        <p:nvSpPr>
          <p:cNvPr id="7" name="TextBox 6">
            <a:extLst>
              <a:ext uri="{FF2B5EF4-FFF2-40B4-BE49-F238E27FC236}">
                <a16:creationId xmlns:a16="http://schemas.microsoft.com/office/drawing/2014/main" id="{0088A1CD-C13B-6CFA-66C9-A0024B7FB71E}"/>
              </a:ext>
            </a:extLst>
          </p:cNvPr>
          <p:cNvSpPr txBox="1"/>
          <p:nvPr/>
        </p:nvSpPr>
        <p:spPr>
          <a:xfrm>
            <a:off x="1173481" y="5903914"/>
            <a:ext cx="4985098" cy="400110"/>
          </a:xfrm>
          <a:prstGeom prst="rect">
            <a:avLst/>
          </a:prstGeom>
          <a:noFill/>
        </p:spPr>
        <p:txBody>
          <a:bodyPr wrap="square">
            <a:spAutoFit/>
          </a:bodyPr>
          <a:lstStyle/>
          <a:p>
            <a:r>
              <a:rPr lang="en-US" sz="2000">
                <a:hlinkClick r:id="rId3"/>
              </a:rPr>
              <a:t>https://github.com/marketplace/models</a:t>
            </a:r>
            <a:endParaRPr lang="en-US" sz="2000"/>
          </a:p>
        </p:txBody>
      </p:sp>
      <p:sp>
        <p:nvSpPr>
          <p:cNvPr id="8" name="TextBox 7">
            <a:extLst>
              <a:ext uri="{FF2B5EF4-FFF2-40B4-BE49-F238E27FC236}">
                <a16:creationId xmlns:a16="http://schemas.microsoft.com/office/drawing/2014/main" id="{7A82D73A-6A6D-BD37-DFB9-FCBE71882E91}"/>
              </a:ext>
            </a:extLst>
          </p:cNvPr>
          <p:cNvSpPr txBox="1"/>
          <p:nvPr/>
        </p:nvSpPr>
        <p:spPr>
          <a:xfrm>
            <a:off x="1190620" y="6329469"/>
            <a:ext cx="7457803" cy="400110"/>
          </a:xfrm>
          <a:prstGeom prst="rect">
            <a:avLst/>
          </a:prstGeom>
          <a:noFill/>
        </p:spPr>
        <p:txBody>
          <a:bodyPr wrap="square">
            <a:spAutoFit/>
          </a:bodyPr>
          <a:lstStyle/>
          <a:p>
            <a:r>
              <a:rPr lang="en-US" sz="2000">
                <a:hlinkClick r:id="rId4"/>
              </a:rPr>
              <a:t>https://ai.azure.com/</a:t>
            </a:r>
            <a:endParaRPr lang="en-US" sz="2000"/>
          </a:p>
        </p:txBody>
      </p:sp>
      <p:sp>
        <p:nvSpPr>
          <p:cNvPr id="10" name="TextBox 9">
            <a:extLst>
              <a:ext uri="{FF2B5EF4-FFF2-40B4-BE49-F238E27FC236}">
                <a16:creationId xmlns:a16="http://schemas.microsoft.com/office/drawing/2014/main" id="{ED680352-E2B7-6036-09E6-7E78C189F9A8}"/>
              </a:ext>
            </a:extLst>
          </p:cNvPr>
          <p:cNvSpPr txBox="1"/>
          <p:nvPr/>
        </p:nvSpPr>
        <p:spPr>
          <a:xfrm>
            <a:off x="1173481" y="5478359"/>
            <a:ext cx="8486738" cy="400110"/>
          </a:xfrm>
          <a:prstGeom prst="rect">
            <a:avLst/>
          </a:prstGeom>
          <a:noFill/>
        </p:spPr>
        <p:txBody>
          <a:bodyPr wrap="square">
            <a:spAutoFit/>
          </a:bodyPr>
          <a:lstStyle/>
          <a:p>
            <a:r>
              <a:rPr lang="en-US" sz="2000">
                <a:hlinkClick r:id="rId5"/>
              </a:rPr>
              <a:t>https://azure.microsoft.com/products/ai-services/openai-service</a:t>
            </a:r>
            <a:endParaRPr lang="en-US" sz="2000"/>
          </a:p>
        </p:txBody>
      </p:sp>
    </p:spTree>
    <p:extLst>
      <p:ext uri="{BB962C8B-B14F-4D97-AF65-F5344CB8AC3E}">
        <p14:creationId xmlns:p14="http://schemas.microsoft.com/office/powerpoint/2010/main" val="1978908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FCAF7-AA53-B1D6-C896-909932CFB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4B355-527B-2248-FDC5-AE3650188283}"/>
              </a:ext>
            </a:extLst>
          </p:cNvPr>
          <p:cNvSpPr>
            <a:spLocks noGrp="1"/>
          </p:cNvSpPr>
          <p:nvPr>
            <p:ph type="title"/>
          </p:nvPr>
        </p:nvSpPr>
        <p:spPr/>
        <p:txBody>
          <a:bodyPr/>
          <a:lstStyle/>
          <a:p>
            <a:r>
              <a:rPr lang="es-MX"/>
              <a:t>Sending images with OpenAI SDK in Python</a:t>
            </a:r>
          </a:p>
        </p:txBody>
      </p:sp>
      <p:sp>
        <p:nvSpPr>
          <p:cNvPr id="3" name="Rectangle 2">
            <a:extLst>
              <a:ext uri="{FF2B5EF4-FFF2-40B4-BE49-F238E27FC236}">
                <a16:creationId xmlns:a16="http://schemas.microsoft.com/office/drawing/2014/main" id="{1066B1FB-9E8D-E8FC-8845-DC8FD6507DA6}"/>
              </a:ext>
            </a:extLst>
          </p:cNvPr>
          <p:cNvSpPr/>
          <p:nvPr/>
        </p:nvSpPr>
        <p:spPr>
          <a:xfrm>
            <a:off x="1140823" y="1783821"/>
            <a:ext cx="10533941" cy="4313794"/>
          </a:xfrm>
          <a:prstGeom prst="rect">
            <a:avLst/>
          </a:prstGeom>
          <a:solidFill>
            <a:schemeClr val="bg1">
              <a:lumMod val="9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91D949-7C06-2F0B-30B1-69D879D9BDB6}"/>
              </a:ext>
            </a:extLst>
          </p:cNvPr>
          <p:cNvSpPr txBox="1"/>
          <p:nvPr/>
        </p:nvSpPr>
        <p:spPr>
          <a:xfrm>
            <a:off x="1210492" y="1850298"/>
            <a:ext cx="10608590" cy="4247317"/>
          </a:xfrm>
          <a:prstGeom prst="rect">
            <a:avLst/>
          </a:prstGeom>
          <a:noFill/>
        </p:spPr>
        <p:txBody>
          <a:bodyPr wrap="square">
            <a:spAutoFit/>
          </a:bodyPr>
          <a:lstStyle/>
          <a:p>
            <a:r>
              <a:rPr lang="en-US" b="0">
                <a:solidFill>
                  <a:srgbClr val="000000"/>
                </a:solidFill>
                <a:effectLst/>
                <a:latin typeface="Consolas" panose="020B0609020204030204" pitchFamily="49" charset="0"/>
                <a:cs typeface="Consolas" panose="020B0609020204030204" pitchFamily="49" charset="0"/>
              </a:rPr>
              <a:t>messages = [{</a:t>
            </a:r>
          </a:p>
          <a:p>
            <a:r>
              <a:rPr lang="en-US" b="0">
                <a:solidFill>
                  <a:srgbClr val="000000"/>
                </a:solidFill>
                <a:effectLst/>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"role"</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"user"</a:t>
            </a:r>
            <a:r>
              <a:rPr lang="en-US" b="0">
                <a:solidFill>
                  <a:srgbClr val="000000"/>
                </a:solidFill>
                <a:effectLst/>
                <a:latin typeface="Consolas" panose="020B0609020204030204" pitchFamily="49" charset="0"/>
                <a:cs typeface="Consolas" panose="020B0609020204030204" pitchFamily="49" charset="0"/>
              </a:rPr>
              <a:t>,</a:t>
            </a:r>
          </a:p>
          <a:p>
            <a:r>
              <a:rPr lang="en-US">
                <a:solidFill>
                  <a:srgbClr val="000000"/>
                </a:solidFill>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"content"</a:t>
            </a:r>
            <a:r>
              <a:rPr lang="en-US" b="0">
                <a:solidFill>
                  <a:srgbClr val="000000"/>
                </a:solidFill>
                <a:effectLst/>
                <a:latin typeface="Consolas" panose="020B0609020204030204" pitchFamily="49" charset="0"/>
                <a:cs typeface="Consolas" panose="020B0609020204030204" pitchFamily="49" charset="0"/>
              </a:rPr>
              <a:t>: [</a:t>
            </a:r>
          </a:p>
          <a:p>
            <a:r>
              <a:rPr lang="en-US">
                <a:solidFill>
                  <a:srgbClr val="000000"/>
                </a:solidFill>
                <a:latin typeface="Consolas" panose="020B0609020204030204" pitchFamily="49" charset="0"/>
                <a:cs typeface="Consolas" panose="020B0609020204030204" pitchFamily="49" charset="0"/>
              </a:rPr>
              <a:t>    </a:t>
            </a:r>
            <a:r>
              <a:rPr lang="en-US" b="0">
                <a:solidFill>
                  <a:srgbClr val="000000"/>
                </a:solidFill>
                <a:effectLst/>
                <a:latin typeface="Consolas" panose="020B0609020204030204" pitchFamily="49" charset="0"/>
                <a:cs typeface="Consolas" panose="020B0609020204030204" pitchFamily="49" charset="0"/>
              </a:rPr>
              <a:t>{</a:t>
            </a:r>
            <a:r>
              <a:rPr lang="en-US" b="0">
                <a:solidFill>
                  <a:srgbClr val="A31515"/>
                </a:solidFill>
                <a:effectLst/>
                <a:latin typeface="Consolas" panose="020B0609020204030204" pitchFamily="49" charset="0"/>
                <a:cs typeface="Consolas" panose="020B0609020204030204" pitchFamily="49" charset="0"/>
              </a:rPr>
              <a:t>"type"</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"text"</a:t>
            </a:r>
            <a:r>
              <a:rPr lang="en-US" b="0">
                <a:solidFill>
                  <a:srgbClr val="000000"/>
                </a:solidFill>
                <a:effectLst/>
                <a:latin typeface="Consolas" panose="020B0609020204030204" pitchFamily="49" charset="0"/>
                <a:cs typeface="Consolas" panose="020B0609020204030204" pitchFamily="49" charset="0"/>
              </a:rPr>
              <a:t>,</a:t>
            </a:r>
          </a:p>
          <a:p>
            <a:r>
              <a:rPr lang="en-US">
                <a:solidFill>
                  <a:srgbClr val="000000"/>
                </a:solidFill>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"text"</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"Who is pictured in this thumbnail?"</a:t>
            </a:r>
            <a:r>
              <a:rPr lang="en-US" b="0">
                <a:solidFill>
                  <a:srgbClr val="000000"/>
                </a:solidFill>
                <a:effectLst/>
                <a:latin typeface="Consolas" panose="020B0609020204030204" pitchFamily="49" charset="0"/>
                <a:cs typeface="Consolas" panose="020B0609020204030204" pitchFamily="49" charset="0"/>
              </a:rPr>
              <a:t>,</a:t>
            </a:r>
          </a:p>
          <a:p>
            <a:r>
              <a:rPr lang="en-US">
                <a:solidFill>
                  <a:srgbClr val="000000"/>
                </a:solidFill>
                <a:latin typeface="Consolas" panose="020B0609020204030204" pitchFamily="49" charset="0"/>
                <a:cs typeface="Consolas" panose="020B0609020204030204" pitchFamily="49" charset="0"/>
              </a:rPr>
              <a:t>    </a:t>
            </a:r>
            <a:r>
              <a:rPr lang="en-US" b="0">
                <a:solidFill>
                  <a:srgbClr val="000000"/>
                </a:solidFill>
                <a:effectLst/>
                <a:latin typeface="Consolas" panose="020B0609020204030204" pitchFamily="49" charset="0"/>
                <a:cs typeface="Consolas" panose="020B0609020204030204" pitchFamily="49" charset="0"/>
              </a:rPr>
              <a:t>}, </a:t>
            </a:r>
          </a:p>
          <a:p>
            <a:r>
              <a:rPr lang="en-US">
                <a:solidFill>
                  <a:srgbClr val="000000"/>
                </a:solidFill>
                <a:latin typeface="Consolas" panose="020B0609020204030204" pitchFamily="49" charset="0"/>
                <a:cs typeface="Consolas" panose="020B0609020204030204" pitchFamily="49" charset="0"/>
              </a:rPr>
              <a:t>    </a:t>
            </a:r>
            <a:r>
              <a:rPr lang="en-US" b="0">
                <a:solidFill>
                  <a:srgbClr val="000000"/>
                </a:solidFill>
                <a:effectLst/>
                <a:latin typeface="Consolas" panose="020B0609020204030204" pitchFamily="49" charset="0"/>
                <a:cs typeface="Consolas" panose="020B0609020204030204" pitchFamily="49" charset="0"/>
              </a:rPr>
              <a:t>{</a:t>
            </a:r>
            <a:r>
              <a:rPr lang="en-US" b="0">
                <a:solidFill>
                  <a:srgbClr val="A31515"/>
                </a:solidFill>
                <a:effectLst/>
                <a:latin typeface="Consolas" panose="020B0609020204030204" pitchFamily="49" charset="0"/>
                <a:cs typeface="Consolas" panose="020B0609020204030204" pitchFamily="49" charset="0"/>
              </a:rPr>
              <a:t>"type"</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"image_url"</a:t>
            </a:r>
            <a:r>
              <a:rPr lang="en-US" b="0">
                <a:solidFill>
                  <a:srgbClr val="000000"/>
                </a:solidFill>
                <a:effectLst/>
                <a:latin typeface="Consolas" panose="020B0609020204030204" pitchFamily="49" charset="0"/>
                <a:cs typeface="Consolas" panose="020B0609020204030204" pitchFamily="49" charset="0"/>
              </a:rPr>
              <a:t>,</a:t>
            </a:r>
          </a:p>
          <a:p>
            <a:r>
              <a:rPr lang="en-US">
                <a:solidFill>
                  <a:srgbClr val="000000"/>
                </a:solidFill>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"image_url"</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"url"</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A31515"/>
                </a:solidFill>
                <a:effectLst/>
                <a:latin typeface="Consolas" panose="020B0609020204030204" pitchFamily="49" charset="0"/>
                <a:cs typeface="Consolas" panose="020B0609020204030204" pitchFamily="49" charset="0"/>
              </a:rPr>
              <a:t>"https://i.ytimg.com/vi/toR644E--w8/hq720.jpg"</a:t>
            </a:r>
            <a:r>
              <a:rPr lang="en-US" b="0">
                <a:solidFill>
                  <a:srgbClr val="000000"/>
                </a:solidFill>
                <a:effectLst/>
                <a:latin typeface="Consolas" panose="020B0609020204030204" pitchFamily="49" charset="0"/>
                <a:cs typeface="Consolas" panose="020B0609020204030204" pitchFamily="49" charset="0"/>
              </a:rPr>
              <a:t>}</a:t>
            </a:r>
          </a:p>
          <a:p>
            <a:r>
              <a:rPr lang="en-US">
                <a:solidFill>
                  <a:srgbClr val="000000"/>
                </a:solidFill>
                <a:latin typeface="Consolas" panose="020B0609020204030204" pitchFamily="49" charset="0"/>
                <a:cs typeface="Consolas" panose="020B0609020204030204" pitchFamily="49" charset="0"/>
              </a:rPr>
              <a:t>    </a:t>
            </a:r>
            <a:r>
              <a:rPr lang="en-US" b="0">
                <a:solidFill>
                  <a:srgbClr val="000000"/>
                </a:solidFill>
                <a:effectLst/>
                <a:latin typeface="Consolas" panose="020B0609020204030204" pitchFamily="49" charset="0"/>
                <a:cs typeface="Consolas" panose="020B0609020204030204" pitchFamily="49" charset="0"/>
              </a:rPr>
              <a:t>}],</a:t>
            </a:r>
          </a:p>
          <a:p>
            <a:r>
              <a:rPr lang="en-US" b="0">
                <a:solidFill>
                  <a:srgbClr val="000000"/>
                </a:solidFill>
                <a:effectLst/>
                <a:latin typeface="Consolas" panose="020B0609020204030204" pitchFamily="49" charset="0"/>
                <a:cs typeface="Consolas" panose="020B0609020204030204" pitchFamily="49" charset="0"/>
              </a:rPr>
              <a:t>   }</a:t>
            </a:r>
          </a:p>
          <a:p>
            <a:r>
              <a:rPr lang="en-US" b="0">
                <a:solidFill>
                  <a:srgbClr val="000000"/>
                </a:solidFill>
                <a:effectLst/>
                <a:latin typeface="Consolas" panose="020B0609020204030204" pitchFamily="49" charset="0"/>
                <a:cs typeface="Consolas" panose="020B0609020204030204" pitchFamily="49" charset="0"/>
              </a:rPr>
              <a:t>]</a:t>
            </a:r>
          </a:p>
          <a:p>
            <a:r>
              <a:rPr lang="en-US" b="0">
                <a:solidFill>
                  <a:srgbClr val="000000"/>
                </a:solidFill>
                <a:effectLst/>
                <a:latin typeface="Consolas" panose="020B0609020204030204" pitchFamily="49" charset="0"/>
                <a:cs typeface="Consolas" panose="020B0609020204030204" pitchFamily="49" charset="0"/>
              </a:rPr>
              <a:t>response = openai_client.chat.completions.create(</a:t>
            </a:r>
          </a:p>
          <a:p>
            <a:r>
              <a:rPr lang="en-US">
                <a:solidFill>
                  <a:srgbClr val="000000"/>
                </a:solidFill>
                <a:latin typeface="Consolas" panose="020B0609020204030204" pitchFamily="49" charset="0"/>
                <a:cs typeface="Consolas" panose="020B0609020204030204" pitchFamily="49" charset="0"/>
              </a:rPr>
              <a:t>  </a:t>
            </a:r>
            <a:r>
              <a:rPr lang="en-US" b="0">
                <a:solidFill>
                  <a:srgbClr val="001080"/>
                </a:solidFill>
                <a:effectLst/>
                <a:latin typeface="Consolas" panose="020B0609020204030204" pitchFamily="49" charset="0"/>
                <a:cs typeface="Consolas" panose="020B0609020204030204" pitchFamily="49" charset="0"/>
              </a:rPr>
              <a:t>model</a:t>
            </a:r>
            <a:r>
              <a:rPr lang="en-US" b="0">
                <a:solidFill>
                  <a:srgbClr val="000000"/>
                </a:solidFill>
                <a:effectLst/>
                <a:latin typeface="Consolas" panose="020B0609020204030204" pitchFamily="49" charset="0"/>
                <a:cs typeface="Consolas" panose="020B0609020204030204" pitchFamily="49" charset="0"/>
              </a:rPr>
              <a:t>=</a:t>
            </a:r>
            <a:r>
              <a:rPr lang="en-US" b="0">
                <a:solidFill>
                  <a:srgbClr val="A31515"/>
                </a:solidFill>
                <a:effectLst/>
                <a:latin typeface="Consolas" panose="020B0609020204030204" pitchFamily="49" charset="0"/>
                <a:cs typeface="Consolas" panose="020B0609020204030204" pitchFamily="49" charset="0"/>
              </a:rPr>
              <a:t>"gpt-4o"</a:t>
            </a:r>
            <a:r>
              <a:rPr lang="en-US">
                <a:solidFill>
                  <a:srgbClr val="000000"/>
                </a:solidFill>
                <a:latin typeface="Consolas" panose="020B0609020204030204" pitchFamily="49" charset="0"/>
                <a:cs typeface="Consolas" panose="020B0609020204030204" pitchFamily="49" charset="0"/>
              </a:rPr>
              <a:t>,</a:t>
            </a:r>
            <a:endParaRPr lang="en-US" b="0">
              <a:solidFill>
                <a:srgbClr val="000000"/>
              </a:solidFill>
              <a:effectLst/>
              <a:latin typeface="Consolas" panose="020B0609020204030204" pitchFamily="49" charset="0"/>
              <a:cs typeface="Consolas" panose="020B0609020204030204" pitchFamily="49" charset="0"/>
            </a:endParaRPr>
          </a:p>
          <a:p>
            <a:r>
              <a:rPr lang="en-US">
                <a:solidFill>
                  <a:srgbClr val="000000"/>
                </a:solidFill>
                <a:latin typeface="Consolas" panose="020B0609020204030204" pitchFamily="49" charset="0"/>
                <a:cs typeface="Consolas" panose="020B0609020204030204" pitchFamily="49" charset="0"/>
              </a:rPr>
              <a:t>  </a:t>
            </a:r>
            <a:r>
              <a:rPr lang="en-US" b="0">
                <a:solidFill>
                  <a:srgbClr val="001080"/>
                </a:solidFill>
                <a:effectLst/>
                <a:latin typeface="Consolas" panose="020B0609020204030204" pitchFamily="49" charset="0"/>
                <a:cs typeface="Consolas" panose="020B0609020204030204" pitchFamily="49" charset="0"/>
              </a:rPr>
              <a:t>messages</a:t>
            </a:r>
            <a:r>
              <a:rPr lang="en-US" b="0">
                <a:solidFill>
                  <a:srgbClr val="000000"/>
                </a:solidFill>
                <a:effectLst/>
                <a:latin typeface="Consolas" panose="020B0609020204030204" pitchFamily="49" charset="0"/>
                <a:cs typeface="Consolas" panose="020B0609020204030204" pitchFamily="49" charset="0"/>
              </a:rPr>
              <a:t>=messages</a:t>
            </a:r>
          </a:p>
          <a:p>
            <a:r>
              <a:rPr lang="en-US" b="0">
                <a:solidFill>
                  <a:srgbClr val="000000"/>
                </a:solidFill>
                <a:effectLst/>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A62ED7B8-263F-52CA-BF5D-098B269FAF33}"/>
              </a:ext>
            </a:extLst>
          </p:cNvPr>
          <p:cNvSpPr txBox="1"/>
          <p:nvPr/>
        </p:nvSpPr>
        <p:spPr>
          <a:xfrm>
            <a:off x="1119088" y="6177618"/>
            <a:ext cx="9775335" cy="461665"/>
          </a:xfrm>
          <a:prstGeom prst="rect">
            <a:avLst/>
          </a:prstGeom>
          <a:noFill/>
        </p:spPr>
        <p:txBody>
          <a:bodyPr wrap="square">
            <a:spAutoFit/>
          </a:bodyPr>
          <a:lstStyle/>
          <a:p>
            <a:r>
              <a:rPr lang="en-US" sz="2400">
                <a:hlinkClick r:id="rId2"/>
              </a:rPr>
              <a:t>https://aka.ms/chat-vision-app</a:t>
            </a:r>
            <a:r>
              <a:rPr lang="en-US" sz="2400"/>
              <a:t> : notebooks/chat_vision.ipynb </a:t>
            </a:r>
          </a:p>
        </p:txBody>
      </p:sp>
    </p:spTree>
    <p:extLst>
      <p:ext uri="{BB962C8B-B14F-4D97-AF65-F5344CB8AC3E}">
        <p14:creationId xmlns:p14="http://schemas.microsoft.com/office/powerpoint/2010/main" val="2397348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72B66-3C75-4837-FB95-2E894113A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D2546-F3E1-FE9A-6F4D-EF40ED86AC73}"/>
              </a:ext>
            </a:extLst>
          </p:cNvPr>
          <p:cNvSpPr>
            <a:spLocks noGrp="1"/>
          </p:cNvSpPr>
          <p:nvPr>
            <p:ph type="title"/>
          </p:nvPr>
        </p:nvSpPr>
        <p:spPr/>
        <p:txBody>
          <a:bodyPr/>
          <a:lstStyle/>
          <a:p>
            <a:r>
              <a:rPr lang="es-MX"/>
              <a:t>Sending images with base64-encoded URI</a:t>
            </a:r>
          </a:p>
        </p:txBody>
      </p:sp>
      <p:sp>
        <p:nvSpPr>
          <p:cNvPr id="3" name="Rectangle 2">
            <a:extLst>
              <a:ext uri="{FF2B5EF4-FFF2-40B4-BE49-F238E27FC236}">
                <a16:creationId xmlns:a16="http://schemas.microsoft.com/office/drawing/2014/main" id="{A00E5B8E-D7B5-FE86-108C-4E6A258DBB3F}"/>
              </a:ext>
            </a:extLst>
          </p:cNvPr>
          <p:cNvSpPr/>
          <p:nvPr/>
        </p:nvSpPr>
        <p:spPr>
          <a:xfrm>
            <a:off x="1140823" y="1783820"/>
            <a:ext cx="10533941" cy="4393797"/>
          </a:xfrm>
          <a:prstGeom prst="rect">
            <a:avLst/>
          </a:prstGeom>
          <a:solidFill>
            <a:schemeClr val="bg1">
              <a:lumMod val="9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5A1D8A-2F20-23C3-FD60-706527296BB8}"/>
              </a:ext>
            </a:extLst>
          </p:cNvPr>
          <p:cNvSpPr txBox="1"/>
          <p:nvPr/>
        </p:nvSpPr>
        <p:spPr>
          <a:xfrm>
            <a:off x="1210492" y="1850298"/>
            <a:ext cx="10608590" cy="4329390"/>
          </a:xfrm>
          <a:prstGeom prst="rect">
            <a:avLst/>
          </a:prstGeom>
          <a:noFill/>
        </p:spPr>
        <p:txBody>
          <a:bodyPr wrap="square">
            <a:spAutoFit/>
          </a:bodyPr>
          <a:lstStyle/>
          <a:p>
            <a:pPr>
              <a:lnSpc>
                <a:spcPts val="2025"/>
              </a:lnSpc>
              <a:buNone/>
            </a:pPr>
            <a:r>
              <a:rPr lang="en-US" sz="1600" b="0">
                <a:solidFill>
                  <a:srgbClr val="0000FF"/>
                </a:solidFill>
                <a:effectLst/>
                <a:latin typeface="Consolas" panose="020B0609020204030204" pitchFamily="49" charset="0"/>
                <a:cs typeface="Consolas" panose="020B0609020204030204" pitchFamily="49" charset="0"/>
              </a:rPr>
              <a:t>def</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795E26"/>
                </a:solidFill>
                <a:effectLst/>
                <a:latin typeface="Consolas" panose="020B0609020204030204" pitchFamily="49" charset="0"/>
                <a:cs typeface="Consolas" panose="020B0609020204030204" pitchFamily="49" charset="0"/>
              </a:rPr>
              <a:t>open_image_as_base64</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001080"/>
                </a:solidFill>
                <a:effectLst/>
                <a:latin typeface="Consolas" panose="020B0609020204030204" pitchFamily="49" charset="0"/>
                <a:cs typeface="Consolas" panose="020B0609020204030204" pitchFamily="49" charset="0"/>
              </a:rPr>
              <a:t>filename</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b="0">
                <a:solidFill>
                  <a:srgbClr val="AF00DB"/>
                </a:solidFill>
                <a:effectLst/>
                <a:latin typeface="Consolas" panose="020B0609020204030204" pitchFamily="49" charset="0"/>
                <a:cs typeface="Consolas" panose="020B0609020204030204" pitchFamily="49" charset="0"/>
              </a:rPr>
              <a:t>  with</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795E26"/>
                </a:solidFill>
                <a:effectLst/>
                <a:latin typeface="Consolas" panose="020B0609020204030204" pitchFamily="49" charset="0"/>
                <a:cs typeface="Consolas" panose="020B0609020204030204" pitchFamily="49" charset="0"/>
              </a:rPr>
              <a:t>open</a:t>
            </a:r>
            <a:r>
              <a:rPr lang="en-US" sz="1600" b="0">
                <a:solidFill>
                  <a:srgbClr val="000000"/>
                </a:solidFill>
                <a:effectLst/>
                <a:latin typeface="Consolas" panose="020B0609020204030204" pitchFamily="49" charset="0"/>
                <a:cs typeface="Consolas" panose="020B0609020204030204" pitchFamily="49" charset="0"/>
              </a:rPr>
              <a:t>(filename, </a:t>
            </a:r>
            <a:r>
              <a:rPr lang="en-US" sz="1600" b="0">
                <a:solidFill>
                  <a:srgbClr val="A31515"/>
                </a:solidFill>
                <a:effectLst/>
                <a:latin typeface="Consolas" panose="020B0609020204030204" pitchFamily="49" charset="0"/>
                <a:cs typeface="Consolas" panose="020B0609020204030204" pitchFamily="49" charset="0"/>
              </a:rPr>
              <a:t>"rb"</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F00DB"/>
                </a:solidFill>
                <a:effectLst/>
                <a:latin typeface="Consolas" panose="020B0609020204030204" pitchFamily="49" charset="0"/>
                <a:cs typeface="Consolas" panose="020B0609020204030204" pitchFamily="49" charset="0"/>
              </a:rPr>
              <a:t>as</a:t>
            </a:r>
            <a:r>
              <a:rPr lang="en-US" sz="1600" b="0">
                <a:solidFill>
                  <a:srgbClr val="000000"/>
                </a:solidFill>
                <a:effectLst/>
                <a:latin typeface="Consolas" panose="020B0609020204030204" pitchFamily="49" charset="0"/>
                <a:cs typeface="Consolas" panose="020B0609020204030204" pitchFamily="49" charset="0"/>
              </a:rPr>
              <a:t> image_file:</a:t>
            </a:r>
          </a:p>
          <a:p>
            <a:pPr>
              <a:lnSpc>
                <a:spcPts val="2025"/>
              </a:lnSpc>
              <a:buNone/>
            </a:pPr>
            <a:r>
              <a:rPr lang="en-US" sz="1600" b="0">
                <a:solidFill>
                  <a:srgbClr val="000000"/>
                </a:solidFill>
                <a:effectLst/>
                <a:latin typeface="Consolas" panose="020B0609020204030204" pitchFamily="49" charset="0"/>
                <a:cs typeface="Consolas" panose="020B0609020204030204" pitchFamily="49" charset="0"/>
              </a:rPr>
              <a:t>    image_data = image_file.read()</a:t>
            </a:r>
          </a:p>
          <a:p>
            <a:pPr>
              <a:lnSpc>
                <a:spcPts val="2025"/>
              </a:lnSpc>
              <a:buNone/>
            </a:pPr>
            <a:r>
              <a:rPr lang="en-US" sz="1600" b="0">
                <a:solidFill>
                  <a:srgbClr val="000000"/>
                </a:solidFill>
                <a:effectLst/>
                <a:latin typeface="Consolas" panose="020B0609020204030204" pitchFamily="49" charset="0"/>
                <a:cs typeface="Consolas" panose="020B0609020204030204" pitchFamily="49" charset="0"/>
              </a:rPr>
              <a:t>    image_base64 = base64.b64encode(image_data).decode(</a:t>
            </a:r>
            <a:r>
              <a:rPr lang="en-US" sz="1600" b="0">
                <a:solidFill>
                  <a:srgbClr val="A31515"/>
                </a:solidFill>
                <a:effectLst/>
                <a:latin typeface="Consolas" panose="020B0609020204030204" pitchFamily="49" charset="0"/>
                <a:cs typeface="Consolas" panose="020B0609020204030204" pitchFamily="49" charset="0"/>
              </a:rPr>
              <a:t>"utf-8"</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600" b="0">
                <a:solidFill>
                  <a:srgbClr val="AF00DB"/>
                </a:solidFill>
                <a:effectLst/>
                <a:latin typeface="Consolas" panose="020B0609020204030204" pitchFamily="49" charset="0"/>
                <a:cs typeface="Consolas" panose="020B0609020204030204" pitchFamily="49" charset="0"/>
              </a:rPr>
              <a:t>  return</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0000FF"/>
                </a:solidFill>
                <a:effectLst/>
                <a:latin typeface="Consolas" panose="020B0609020204030204" pitchFamily="49" charset="0"/>
                <a:cs typeface="Consolas" panose="020B0609020204030204" pitchFamily="49" charset="0"/>
              </a:rPr>
              <a:t>f</a:t>
            </a:r>
            <a:r>
              <a:rPr lang="en-US" sz="1600" b="0">
                <a:solidFill>
                  <a:srgbClr val="A31515"/>
                </a:solidFill>
                <a:effectLst/>
                <a:latin typeface="Consolas" panose="020B0609020204030204" pitchFamily="49" charset="0"/>
                <a:cs typeface="Consolas" panose="020B0609020204030204" pitchFamily="49" charset="0"/>
              </a:rPr>
              <a:t>"data:image/png;base64,</a:t>
            </a:r>
            <a:r>
              <a:rPr lang="en-US" sz="1600" b="0">
                <a:solidFill>
                  <a:srgbClr val="0000FF"/>
                </a:solidFill>
                <a:effectLst/>
                <a:latin typeface="Consolas" panose="020B0609020204030204" pitchFamily="49" charset="0"/>
                <a:cs typeface="Consolas" panose="020B0609020204030204" pitchFamily="49" charset="0"/>
              </a:rPr>
              <a:t>{</a:t>
            </a:r>
            <a:r>
              <a:rPr lang="en-US" sz="1600" b="0">
                <a:solidFill>
                  <a:srgbClr val="000000"/>
                </a:solidFill>
                <a:effectLst/>
                <a:latin typeface="Consolas" panose="020B0609020204030204" pitchFamily="49" charset="0"/>
                <a:cs typeface="Consolas" panose="020B0609020204030204" pitchFamily="49" charset="0"/>
              </a:rPr>
              <a:t>image_base64</a:t>
            </a:r>
            <a:r>
              <a:rPr lang="en-US" sz="1600" b="0">
                <a:solidFill>
                  <a:srgbClr val="0000FF"/>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a:t>
            </a:r>
            <a:endParaRPr lang="en-US" sz="1600" b="0">
              <a:solidFill>
                <a:srgbClr val="000000"/>
              </a:solidFill>
              <a:effectLst/>
              <a:latin typeface="Consolas" panose="020B0609020204030204" pitchFamily="49" charset="0"/>
              <a:cs typeface="Consolas" panose="020B0609020204030204" pitchFamily="49" charset="0"/>
            </a:endParaRPr>
          </a:p>
          <a:p>
            <a:endParaRPr lang="en-US" sz="1600" b="0">
              <a:solidFill>
                <a:srgbClr val="000000"/>
              </a:solidFill>
              <a:effectLst/>
              <a:latin typeface="Consolas" panose="020B0609020204030204" pitchFamily="49" charset="0"/>
              <a:cs typeface="Consolas" panose="020B0609020204030204" pitchFamily="49" charset="0"/>
            </a:endParaRPr>
          </a:p>
          <a:p>
            <a:r>
              <a:rPr lang="en-US" sz="1600" b="0">
                <a:solidFill>
                  <a:srgbClr val="000000"/>
                </a:solidFill>
                <a:effectLst/>
                <a:latin typeface="Consolas" panose="020B0609020204030204" pitchFamily="49" charset="0"/>
                <a:cs typeface="Consolas" panose="020B0609020204030204" pitchFamily="49" charset="0"/>
              </a:rPr>
              <a:t>messages = [{</a:t>
            </a:r>
          </a:p>
          <a:p>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"role"</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"user"</a:t>
            </a:r>
            <a:r>
              <a:rPr lang="en-US" sz="1600" b="0">
                <a:solidFill>
                  <a:srgbClr val="000000"/>
                </a:solidFill>
                <a:effectLst/>
                <a:latin typeface="Consolas" panose="020B0609020204030204" pitchFamily="49" charset="0"/>
                <a:cs typeface="Consolas" panose="020B0609020204030204" pitchFamily="49" charset="0"/>
              </a:rPr>
              <a:t>,</a:t>
            </a:r>
          </a:p>
          <a:p>
            <a:r>
              <a:rPr lang="en-US" sz="1600">
                <a:solidFill>
                  <a:srgbClr val="000000"/>
                </a:solidFill>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"content"</a:t>
            </a:r>
            <a:r>
              <a:rPr lang="en-US" sz="1600" b="0">
                <a:solidFill>
                  <a:srgbClr val="000000"/>
                </a:solidFill>
                <a:effectLst/>
                <a:latin typeface="Consolas" panose="020B0609020204030204" pitchFamily="49" charset="0"/>
                <a:cs typeface="Consolas" panose="020B0609020204030204" pitchFamily="49" charset="0"/>
              </a:rPr>
              <a:t>: [</a:t>
            </a:r>
          </a:p>
          <a:p>
            <a:r>
              <a:rPr lang="en-US" sz="1600">
                <a:solidFill>
                  <a:srgbClr val="000000"/>
                </a:solidFill>
                <a:latin typeface="Consolas" panose="020B0609020204030204" pitchFamily="49" charset="0"/>
                <a:cs typeface="Consolas" panose="020B0609020204030204" pitchFamily="49" charset="0"/>
              </a:rPr>
              <a:t>    </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"type"</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"text"</a:t>
            </a:r>
            <a:r>
              <a:rPr lang="en-US" sz="1600" b="0">
                <a:solidFill>
                  <a:srgbClr val="000000"/>
                </a:solidFill>
                <a:effectLst/>
                <a:latin typeface="Consolas" panose="020B0609020204030204" pitchFamily="49" charset="0"/>
                <a:cs typeface="Consolas" panose="020B0609020204030204" pitchFamily="49" charset="0"/>
              </a:rPr>
              <a:t>,</a:t>
            </a:r>
          </a:p>
          <a:p>
            <a:r>
              <a:rPr lang="en-US" sz="1600">
                <a:solidFill>
                  <a:srgbClr val="000000"/>
                </a:solidFill>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"text"</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"What animal is pictured?."</a:t>
            </a:r>
            <a:r>
              <a:rPr lang="en-US" sz="1600" b="0">
                <a:solidFill>
                  <a:srgbClr val="000000"/>
                </a:solidFill>
                <a:effectLst/>
                <a:latin typeface="Consolas" panose="020B0609020204030204" pitchFamily="49" charset="0"/>
                <a:cs typeface="Consolas" panose="020B0609020204030204" pitchFamily="49" charset="0"/>
              </a:rPr>
              <a:t>,</a:t>
            </a:r>
          </a:p>
          <a:p>
            <a:r>
              <a:rPr lang="en-US" sz="1600">
                <a:solidFill>
                  <a:srgbClr val="000000"/>
                </a:solidFill>
                <a:latin typeface="Consolas" panose="020B0609020204030204" pitchFamily="49" charset="0"/>
                <a:cs typeface="Consolas" panose="020B0609020204030204" pitchFamily="49" charset="0"/>
              </a:rPr>
              <a:t>    </a:t>
            </a:r>
            <a:r>
              <a:rPr lang="en-US" sz="1600" b="0">
                <a:solidFill>
                  <a:srgbClr val="000000"/>
                </a:solidFill>
                <a:effectLst/>
                <a:latin typeface="Consolas" panose="020B0609020204030204" pitchFamily="49" charset="0"/>
                <a:cs typeface="Consolas" panose="020B0609020204030204" pitchFamily="49" charset="0"/>
              </a:rPr>
              <a:t>}, </a:t>
            </a:r>
          </a:p>
          <a:p>
            <a:r>
              <a:rPr lang="en-US" sz="1600">
                <a:solidFill>
                  <a:srgbClr val="000000"/>
                </a:solidFill>
                <a:latin typeface="Consolas" panose="020B0609020204030204" pitchFamily="49" charset="0"/>
                <a:cs typeface="Consolas" panose="020B0609020204030204" pitchFamily="49" charset="0"/>
              </a:rPr>
              <a:t>    </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"type"</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"image_url"</a:t>
            </a:r>
            <a:r>
              <a:rPr lang="en-US" sz="1600" b="0">
                <a:solidFill>
                  <a:srgbClr val="000000"/>
                </a:solidFill>
                <a:effectLst/>
                <a:latin typeface="Consolas" panose="020B0609020204030204" pitchFamily="49" charset="0"/>
                <a:cs typeface="Consolas" panose="020B0609020204030204" pitchFamily="49" charset="0"/>
              </a:rPr>
              <a:t>,</a:t>
            </a:r>
          </a:p>
          <a:p>
            <a:r>
              <a:rPr lang="en-US" sz="1600">
                <a:solidFill>
                  <a:srgbClr val="000000"/>
                </a:solidFill>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"image_url"</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"url"</a:t>
            </a:r>
            <a:r>
              <a:rPr lang="en-US" sz="1600" b="0">
                <a:solidFill>
                  <a:srgbClr val="000000"/>
                </a:solidFill>
                <a:effectLst/>
                <a:latin typeface="Consolas" panose="020B0609020204030204" pitchFamily="49" charset="0"/>
                <a:cs typeface="Consolas" panose="020B0609020204030204" pitchFamily="49" charset="0"/>
              </a:rPr>
              <a:t>: open_image_as_base64(</a:t>
            </a:r>
            <a:r>
              <a:rPr lang="en-US" sz="1600" b="0">
                <a:solidFill>
                  <a:srgbClr val="A31515"/>
                </a:solidFill>
                <a:effectLst/>
                <a:latin typeface="Consolas" panose="020B0609020204030204" pitchFamily="49" charset="0"/>
                <a:cs typeface="Consolas" panose="020B0609020204030204" pitchFamily="49" charset="0"/>
              </a:rPr>
              <a:t>"ur.png"</a:t>
            </a:r>
            <a:r>
              <a:rPr lang="en-US" sz="1600" b="0">
                <a:solidFill>
                  <a:srgbClr val="000000"/>
                </a:solidFill>
                <a:effectLst/>
                <a:latin typeface="Consolas" panose="020B0609020204030204" pitchFamily="49" charset="0"/>
                <a:cs typeface="Consolas" panose="020B0609020204030204" pitchFamily="49" charset="0"/>
              </a:rPr>
              <a:t>)}</a:t>
            </a:r>
          </a:p>
          <a:p>
            <a:r>
              <a:rPr lang="en-US" sz="1600">
                <a:solidFill>
                  <a:srgbClr val="000000"/>
                </a:solidFill>
                <a:latin typeface="Consolas" panose="020B0609020204030204" pitchFamily="49" charset="0"/>
                <a:cs typeface="Consolas" panose="020B0609020204030204" pitchFamily="49" charset="0"/>
              </a:rPr>
              <a:t>    </a:t>
            </a:r>
            <a:r>
              <a:rPr lang="en-US" sz="1600" b="0">
                <a:solidFill>
                  <a:srgbClr val="000000"/>
                </a:solidFill>
                <a:effectLst/>
                <a:latin typeface="Consolas" panose="020B0609020204030204" pitchFamily="49" charset="0"/>
                <a:cs typeface="Consolas" panose="020B0609020204030204" pitchFamily="49" charset="0"/>
              </a:rPr>
              <a:t>}],</a:t>
            </a:r>
          </a:p>
          <a:p>
            <a:r>
              <a:rPr lang="en-US" sz="1600" b="0">
                <a:solidFill>
                  <a:srgbClr val="000000"/>
                </a:solidFill>
                <a:effectLst/>
                <a:latin typeface="Consolas" panose="020B0609020204030204" pitchFamily="49" charset="0"/>
                <a:cs typeface="Consolas" panose="020B0609020204030204" pitchFamily="49" charset="0"/>
              </a:rPr>
              <a:t>   }</a:t>
            </a:r>
          </a:p>
          <a:p>
            <a:r>
              <a:rPr lang="en-US" sz="1600" b="0">
                <a:solidFill>
                  <a:srgbClr val="000000"/>
                </a:solidFill>
                <a:effectLst/>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E3A469CE-1916-C0CE-A539-A61A4A38F61B}"/>
              </a:ext>
            </a:extLst>
          </p:cNvPr>
          <p:cNvSpPr txBox="1"/>
          <p:nvPr/>
        </p:nvSpPr>
        <p:spPr>
          <a:xfrm>
            <a:off x="1119088" y="6177618"/>
            <a:ext cx="10608590" cy="461665"/>
          </a:xfrm>
          <a:prstGeom prst="rect">
            <a:avLst/>
          </a:prstGeom>
          <a:noFill/>
        </p:spPr>
        <p:txBody>
          <a:bodyPr wrap="square">
            <a:spAutoFit/>
          </a:bodyPr>
          <a:lstStyle/>
          <a:p>
            <a:r>
              <a:rPr lang="en-US" sz="2400">
                <a:hlinkClick r:id="rId2"/>
              </a:rPr>
              <a:t>https://aka.ms/chat-vision-app</a:t>
            </a:r>
            <a:r>
              <a:rPr lang="en-US" sz="2400"/>
              <a:t> : notebooks/chat_vision.ipynb </a:t>
            </a:r>
          </a:p>
        </p:txBody>
      </p:sp>
    </p:spTree>
    <p:extLst>
      <p:ext uri="{BB962C8B-B14F-4D97-AF65-F5344CB8AC3E}">
        <p14:creationId xmlns:p14="http://schemas.microsoft.com/office/powerpoint/2010/main" val="1633441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BF7D3-AE48-3AB9-D6CD-99E6CD097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9B0AE-FF36-6FC2-AA12-CF2D13C03AF4}"/>
              </a:ext>
            </a:extLst>
          </p:cNvPr>
          <p:cNvSpPr>
            <a:spLocks noGrp="1"/>
          </p:cNvSpPr>
          <p:nvPr>
            <p:ph type="title"/>
          </p:nvPr>
        </p:nvSpPr>
        <p:spPr/>
        <p:txBody>
          <a:bodyPr/>
          <a:lstStyle/>
          <a:p>
            <a:r>
              <a:rPr lang="es-MX"/>
              <a:t>Popular use cases</a:t>
            </a:r>
          </a:p>
        </p:txBody>
      </p:sp>
      <p:sp>
        <p:nvSpPr>
          <p:cNvPr id="6" name="TextBox 5">
            <a:extLst>
              <a:ext uri="{FF2B5EF4-FFF2-40B4-BE49-F238E27FC236}">
                <a16:creationId xmlns:a16="http://schemas.microsoft.com/office/drawing/2014/main" id="{D339E858-D611-068B-2F0B-B902FF647885}"/>
              </a:ext>
            </a:extLst>
          </p:cNvPr>
          <p:cNvSpPr txBox="1"/>
          <p:nvPr/>
        </p:nvSpPr>
        <p:spPr>
          <a:xfrm>
            <a:off x="1119088" y="6177618"/>
            <a:ext cx="9435701" cy="461665"/>
          </a:xfrm>
          <a:prstGeom prst="rect">
            <a:avLst/>
          </a:prstGeom>
          <a:noFill/>
        </p:spPr>
        <p:txBody>
          <a:bodyPr wrap="square">
            <a:spAutoFit/>
          </a:bodyPr>
          <a:lstStyle/>
          <a:p>
            <a:r>
              <a:rPr lang="en-US" sz="2400">
                <a:hlinkClick r:id="rId2"/>
              </a:rPr>
              <a:t>https://aka.ms/chat-vision-app</a:t>
            </a:r>
            <a:r>
              <a:rPr lang="en-US" sz="2400"/>
              <a:t> : notebooks/chat_vision.ipynb </a:t>
            </a:r>
          </a:p>
        </p:txBody>
      </p:sp>
      <p:sp>
        <p:nvSpPr>
          <p:cNvPr id="5" name="TextBox 4">
            <a:extLst>
              <a:ext uri="{FF2B5EF4-FFF2-40B4-BE49-F238E27FC236}">
                <a16:creationId xmlns:a16="http://schemas.microsoft.com/office/drawing/2014/main" id="{5B05A251-4D54-A311-3980-06B76D0A4AEF}"/>
              </a:ext>
            </a:extLst>
          </p:cNvPr>
          <p:cNvSpPr txBox="1"/>
          <p:nvPr/>
        </p:nvSpPr>
        <p:spPr>
          <a:xfrm>
            <a:off x="1219200" y="1708160"/>
            <a:ext cx="10406743" cy="3785652"/>
          </a:xfrm>
          <a:prstGeom prst="rect">
            <a:avLst/>
          </a:prstGeom>
          <a:noFill/>
        </p:spPr>
        <p:txBody>
          <a:bodyPr wrap="square" rtlCol="0">
            <a:spAutoFit/>
          </a:bodyPr>
          <a:lstStyle/>
          <a:p>
            <a:r>
              <a:rPr lang="en-US" sz="2400" b="1"/>
              <a:t>Accessibility</a:t>
            </a:r>
          </a:p>
          <a:p>
            <a:pPr marL="285750" indent="-285750">
              <a:buFont typeface="Arial" panose="020B0604020202020204" pitchFamily="34" charset="0"/>
              <a:buChar char="•"/>
            </a:pPr>
            <a:r>
              <a:rPr lang="en-US" sz="2400"/>
              <a:t>Suggest alternative text for images</a:t>
            </a:r>
          </a:p>
          <a:p>
            <a:pPr marL="742950" lvl="1" indent="-285750">
              <a:buFont typeface="Arial" panose="020B0604020202020204" pitchFamily="34" charset="0"/>
              <a:buChar char="•"/>
            </a:pPr>
            <a:r>
              <a:rPr lang="en-US" sz="2400"/>
              <a:t>Example: Accessibility check for Powerpoint</a:t>
            </a:r>
          </a:p>
          <a:p>
            <a:pPr marL="285750" indent="-285750">
              <a:buFont typeface="Arial" panose="020B0604020202020204" pitchFamily="34" charset="0"/>
              <a:buChar char="•"/>
            </a:pPr>
            <a:r>
              <a:rPr lang="en-US" sz="2400"/>
              <a:t>Provide assistance for vision-impaired users</a:t>
            </a:r>
          </a:p>
          <a:p>
            <a:pPr marL="742950" lvl="1" indent="-285750">
              <a:buFont typeface="Arial" panose="020B0604020202020204" pitchFamily="34" charset="0"/>
              <a:buChar char="•"/>
            </a:pPr>
            <a:r>
              <a:rPr lang="en-US" sz="2400"/>
              <a:t>Example: Be my eyes mobile app</a:t>
            </a:r>
          </a:p>
          <a:p>
            <a:endParaRPr lang="en-US" sz="2400"/>
          </a:p>
          <a:p>
            <a:r>
              <a:rPr lang="en-US" sz="2400" b="1"/>
              <a:t>More efficient business processes</a:t>
            </a:r>
          </a:p>
          <a:p>
            <a:pPr marL="285750" indent="-285750">
              <a:buFont typeface="Arial" panose="020B0604020202020204" pitchFamily="34" charset="0"/>
              <a:buChar char="•"/>
            </a:pPr>
            <a:r>
              <a:rPr lang="en-US" sz="2400"/>
              <a:t>Insurance claims: Flag suspicious claims</a:t>
            </a:r>
          </a:p>
          <a:p>
            <a:pPr marL="285750" indent="-285750">
              <a:buFont typeface="Arial" panose="020B0604020202020204" pitchFamily="34" charset="0"/>
              <a:buChar char="•"/>
            </a:pPr>
            <a:r>
              <a:rPr lang="en-US" sz="2400"/>
              <a:t>Data analysis: Generate insights based on graphs and tables</a:t>
            </a:r>
          </a:p>
          <a:p>
            <a:pPr marL="285750" indent="-285750">
              <a:buFont typeface="Arial" panose="020B0604020202020204" pitchFamily="34" charset="0"/>
              <a:buChar char="•"/>
            </a:pPr>
            <a:r>
              <a:rPr lang="en-US" sz="2400"/>
              <a:t>Customer support: Answer questions about product images</a:t>
            </a:r>
          </a:p>
        </p:txBody>
      </p:sp>
    </p:spTree>
    <p:extLst>
      <p:ext uri="{BB962C8B-B14F-4D97-AF65-F5344CB8AC3E}">
        <p14:creationId xmlns:p14="http://schemas.microsoft.com/office/powerpoint/2010/main" val="2684800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28D98-2116-AAEB-1829-9C91CECCB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6EC83-DFC1-0E13-4A1C-FD1B334205CC}"/>
              </a:ext>
            </a:extLst>
          </p:cNvPr>
          <p:cNvSpPr>
            <a:spLocks noGrp="1"/>
          </p:cNvSpPr>
          <p:nvPr>
            <p:ph type="title"/>
          </p:nvPr>
        </p:nvSpPr>
        <p:spPr/>
        <p:txBody>
          <a:bodyPr/>
          <a:lstStyle/>
          <a:p>
            <a:r>
              <a:rPr lang="es-MX"/>
              <a:t>Sending documents that aren't images (yet)</a:t>
            </a:r>
          </a:p>
        </p:txBody>
      </p:sp>
      <p:sp>
        <p:nvSpPr>
          <p:cNvPr id="5" name="TextBox 4">
            <a:extLst>
              <a:ext uri="{FF2B5EF4-FFF2-40B4-BE49-F238E27FC236}">
                <a16:creationId xmlns:a16="http://schemas.microsoft.com/office/drawing/2014/main" id="{01148CCB-FEF1-E7D8-1271-D920FC7581E5}"/>
              </a:ext>
            </a:extLst>
          </p:cNvPr>
          <p:cNvSpPr txBox="1"/>
          <p:nvPr/>
        </p:nvSpPr>
        <p:spPr>
          <a:xfrm>
            <a:off x="1219200" y="1968136"/>
            <a:ext cx="10406743" cy="4154984"/>
          </a:xfrm>
          <a:prstGeom prst="rect">
            <a:avLst/>
          </a:prstGeom>
          <a:noFill/>
        </p:spPr>
        <p:txBody>
          <a:bodyPr wrap="square" rtlCol="0">
            <a:spAutoFit/>
          </a:bodyPr>
          <a:lstStyle/>
          <a:p>
            <a:r>
              <a:rPr lang="en-US" sz="2400"/>
              <a:t>Most vision models can only handle JPEG, PNG, and static GIF files,</a:t>
            </a:r>
          </a:p>
          <a:p>
            <a:r>
              <a:rPr lang="en-US" sz="2400"/>
              <a:t>but you may have visuals in non-image documents like PDFs.</a:t>
            </a:r>
          </a:p>
          <a:p>
            <a:endParaRPr lang="en-US" sz="2400"/>
          </a:p>
          <a:p>
            <a:r>
              <a:rPr lang="en-US" sz="2400"/>
              <a:t>Approaches:</a:t>
            </a:r>
          </a:p>
          <a:p>
            <a:endParaRPr lang="en-US" sz="2400"/>
          </a:p>
          <a:p>
            <a:pPr marL="457200" indent="-457200">
              <a:buFont typeface="+mj-lt"/>
              <a:buAutoNum type="arabicPeriod"/>
            </a:pPr>
            <a:r>
              <a:rPr lang="en-US" sz="2400"/>
              <a:t>Identify image part of document, crop, and save as image </a:t>
            </a:r>
            <a:r>
              <a:rPr lang="en-US" sz="2400">
                <a:hlinkClick r:id="rId2"/>
              </a:rPr>
              <a:t>https://aka.ms/document-intelligence-figure-extraction</a:t>
            </a:r>
            <a:endParaRPr lang="en-US" sz="2400"/>
          </a:p>
          <a:p>
            <a:pPr marL="457200" indent="-457200">
              <a:buFont typeface="+mj-lt"/>
              <a:buAutoNum type="arabicPeriod"/>
            </a:pPr>
            <a:r>
              <a:rPr lang="en-US" sz="2400"/>
              <a:t>Convert entire document to an image (See next slide)</a:t>
            </a:r>
          </a:p>
          <a:p>
            <a:pPr marL="457200" indent="-457200">
              <a:buFont typeface="+mj-lt"/>
              <a:buAutoNum type="arabicPeriod"/>
            </a:pPr>
            <a:endParaRPr lang="en-US" sz="2400"/>
          </a:p>
          <a:p>
            <a:pPr marL="457200" indent="-457200">
              <a:buFont typeface="+mj-lt"/>
              <a:buAutoNum type="arabicPeriod"/>
            </a:pPr>
            <a:endParaRPr lang="en-US" sz="2400"/>
          </a:p>
          <a:p>
            <a:r>
              <a:rPr lang="en-US" sz="2400"/>
              <a:t>You can use either Python libraries or hosted Azure services.</a:t>
            </a:r>
          </a:p>
        </p:txBody>
      </p:sp>
    </p:spTree>
    <p:extLst>
      <p:ext uri="{BB962C8B-B14F-4D97-AF65-F5344CB8AC3E}">
        <p14:creationId xmlns:p14="http://schemas.microsoft.com/office/powerpoint/2010/main" val="2635292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9A7-217B-A00B-FD1F-9D9B71BBB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3A4B6-82A5-D5A4-CDC9-BECFE0BDB79E}"/>
              </a:ext>
            </a:extLst>
          </p:cNvPr>
          <p:cNvSpPr>
            <a:spLocks noGrp="1"/>
          </p:cNvSpPr>
          <p:nvPr>
            <p:ph type="title"/>
          </p:nvPr>
        </p:nvSpPr>
        <p:spPr/>
        <p:txBody>
          <a:bodyPr/>
          <a:lstStyle/>
          <a:p>
            <a:r>
              <a:rPr lang="es-MX"/>
              <a:t>Converting PDFs to images</a:t>
            </a:r>
          </a:p>
        </p:txBody>
      </p:sp>
      <p:sp>
        <p:nvSpPr>
          <p:cNvPr id="5" name="TextBox 4">
            <a:extLst>
              <a:ext uri="{FF2B5EF4-FFF2-40B4-BE49-F238E27FC236}">
                <a16:creationId xmlns:a16="http://schemas.microsoft.com/office/drawing/2014/main" id="{297B0116-A4B3-174A-78D6-28B01675D6DB}"/>
              </a:ext>
            </a:extLst>
          </p:cNvPr>
          <p:cNvSpPr txBox="1"/>
          <p:nvPr/>
        </p:nvSpPr>
        <p:spPr>
          <a:xfrm>
            <a:off x="1184366" y="1698170"/>
            <a:ext cx="6261463" cy="4377352"/>
          </a:xfrm>
          <a:prstGeom prst="rect">
            <a:avLst/>
          </a:prstGeom>
          <a:solidFill>
            <a:schemeClr val="bg1">
              <a:lumMod val="95000"/>
            </a:schemeClr>
          </a:solidFill>
        </p:spPr>
        <p:txBody>
          <a:bodyPr wrap="square" rtlCol="0">
            <a:spAutoFit/>
          </a:bodyPr>
          <a:lstStyle/>
          <a:p>
            <a:pPr>
              <a:lnSpc>
                <a:spcPts val="2825"/>
              </a:lnSpc>
              <a:buNone/>
            </a:pPr>
            <a:r>
              <a:rPr lang="en-US" sz="2000" b="0">
                <a:solidFill>
                  <a:srgbClr val="AF00DB"/>
                </a:solidFill>
                <a:effectLst/>
                <a:latin typeface="Consolas" panose="020B0609020204030204" pitchFamily="49" charset="0"/>
                <a:cs typeface="Consolas" panose="020B0609020204030204" pitchFamily="49" charset="0"/>
              </a:rPr>
              <a:t>import</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267F99"/>
                </a:solidFill>
                <a:effectLst/>
                <a:latin typeface="Consolas" panose="020B0609020204030204" pitchFamily="49" charset="0"/>
                <a:cs typeface="Consolas" panose="020B0609020204030204" pitchFamily="49" charset="0"/>
              </a:rPr>
              <a:t>pymupdf</a:t>
            </a:r>
            <a:endParaRPr lang="en-US" sz="2000" b="0">
              <a:solidFill>
                <a:srgbClr val="000000"/>
              </a:solidFill>
              <a:effectLst/>
              <a:latin typeface="Consolas" panose="020B0609020204030204" pitchFamily="49" charset="0"/>
              <a:cs typeface="Consolas" panose="020B0609020204030204" pitchFamily="49" charset="0"/>
            </a:endParaRPr>
          </a:p>
          <a:p>
            <a:pPr>
              <a:lnSpc>
                <a:spcPts val="2825"/>
              </a:lnSpc>
              <a:buNone/>
            </a:pPr>
            <a:r>
              <a:rPr lang="en-US" sz="2000" b="0">
                <a:solidFill>
                  <a:srgbClr val="AF00DB"/>
                </a:solidFill>
                <a:effectLst/>
                <a:latin typeface="Consolas" panose="020B0609020204030204" pitchFamily="49" charset="0"/>
                <a:cs typeface="Consolas" panose="020B0609020204030204" pitchFamily="49" charset="0"/>
              </a:rPr>
              <a:t>from</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267F99"/>
                </a:solidFill>
                <a:effectLst/>
                <a:latin typeface="Consolas" panose="020B0609020204030204" pitchFamily="49" charset="0"/>
                <a:cs typeface="Consolas" panose="020B0609020204030204" pitchFamily="49" charset="0"/>
              </a:rPr>
              <a:t>PIL</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AF00DB"/>
                </a:solidFill>
                <a:effectLst/>
                <a:latin typeface="Consolas" panose="020B0609020204030204" pitchFamily="49" charset="0"/>
                <a:cs typeface="Consolas" panose="020B0609020204030204" pitchFamily="49" charset="0"/>
              </a:rPr>
              <a:t>import</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267F99"/>
                </a:solidFill>
                <a:effectLst/>
                <a:latin typeface="Consolas" panose="020B0609020204030204" pitchFamily="49" charset="0"/>
                <a:cs typeface="Consolas" panose="020B0609020204030204" pitchFamily="49" charset="0"/>
              </a:rPr>
              <a:t>Image</a:t>
            </a:r>
            <a:endParaRPr lang="en-US" sz="2000" b="0">
              <a:solidFill>
                <a:srgbClr val="000000"/>
              </a:solidFill>
              <a:effectLst/>
              <a:latin typeface="Consolas" panose="020B0609020204030204" pitchFamily="49" charset="0"/>
              <a:cs typeface="Consolas" panose="020B0609020204030204" pitchFamily="49" charset="0"/>
            </a:endParaRPr>
          </a:p>
          <a:p>
            <a:pPr>
              <a:lnSpc>
                <a:spcPts val="2825"/>
              </a:lnSpc>
              <a:buNone/>
            </a:pPr>
            <a:br>
              <a:rPr lang="en-US" sz="2000" b="0">
                <a:solidFill>
                  <a:srgbClr val="000000"/>
                </a:solidFill>
                <a:effectLst/>
                <a:latin typeface="Consolas" panose="020B0609020204030204" pitchFamily="49" charset="0"/>
                <a:cs typeface="Consolas" panose="020B0609020204030204" pitchFamily="49" charset="0"/>
              </a:rPr>
            </a:br>
            <a:r>
              <a:rPr lang="en-US" sz="2000" b="0">
                <a:solidFill>
                  <a:srgbClr val="001080"/>
                </a:solidFill>
                <a:effectLst/>
                <a:latin typeface="Consolas" panose="020B0609020204030204" pitchFamily="49" charset="0"/>
                <a:cs typeface="Consolas" panose="020B0609020204030204" pitchFamily="49" charset="0"/>
              </a:rPr>
              <a:t>filename</a:t>
            </a:r>
            <a:r>
              <a:rPr lang="en-US" sz="2000" b="0">
                <a:solidFill>
                  <a:srgbClr val="000000"/>
                </a:solidFill>
                <a:effectLst/>
                <a:latin typeface="Consolas" panose="020B0609020204030204" pitchFamily="49" charset="0"/>
                <a:cs typeface="Consolas" panose="020B0609020204030204" pitchFamily="49" charset="0"/>
              </a:rPr>
              <a:t> = </a:t>
            </a:r>
            <a:r>
              <a:rPr lang="en-US" sz="2000" b="0">
                <a:solidFill>
                  <a:srgbClr val="A31515"/>
                </a:solidFill>
                <a:effectLst/>
                <a:latin typeface="Consolas" panose="020B0609020204030204" pitchFamily="49" charset="0"/>
                <a:cs typeface="Consolas" panose="020B0609020204030204" pitchFamily="49" charset="0"/>
              </a:rPr>
              <a:t>"plants.pdf"</a:t>
            </a:r>
            <a:endParaRPr lang="en-US" sz="2000" b="0">
              <a:solidFill>
                <a:srgbClr val="000000"/>
              </a:solidFill>
              <a:effectLst/>
              <a:latin typeface="Consolas" panose="020B0609020204030204" pitchFamily="49" charset="0"/>
              <a:cs typeface="Consolas" panose="020B0609020204030204" pitchFamily="49" charset="0"/>
            </a:endParaRPr>
          </a:p>
          <a:p>
            <a:pPr>
              <a:lnSpc>
                <a:spcPts val="2825"/>
              </a:lnSpc>
              <a:buNone/>
            </a:pPr>
            <a:r>
              <a:rPr lang="en-US" sz="2000" b="0">
                <a:solidFill>
                  <a:srgbClr val="001080"/>
                </a:solidFill>
                <a:effectLst/>
                <a:latin typeface="Consolas" panose="020B0609020204030204" pitchFamily="49" charset="0"/>
                <a:cs typeface="Consolas" panose="020B0609020204030204" pitchFamily="49" charset="0"/>
              </a:rPr>
              <a:t>doc</a:t>
            </a:r>
            <a:r>
              <a:rPr lang="en-US" sz="2000" b="0">
                <a:solidFill>
                  <a:srgbClr val="000000"/>
                </a:solidFill>
                <a:effectLst/>
                <a:latin typeface="Consolas" panose="020B0609020204030204" pitchFamily="49" charset="0"/>
                <a:cs typeface="Consolas" panose="020B0609020204030204" pitchFamily="49" charset="0"/>
              </a:rPr>
              <a:t> = </a:t>
            </a:r>
            <a:r>
              <a:rPr lang="en-US" sz="2000" b="0">
                <a:solidFill>
                  <a:srgbClr val="267F99"/>
                </a:solidFill>
                <a:effectLst/>
                <a:latin typeface="Consolas" panose="020B0609020204030204" pitchFamily="49" charset="0"/>
                <a:cs typeface="Consolas" panose="020B0609020204030204" pitchFamily="49" charset="0"/>
              </a:rPr>
              <a:t>pymupdf</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open</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filename</a:t>
            </a:r>
            <a:r>
              <a:rPr lang="en-US" sz="2000" b="0">
                <a:solidFill>
                  <a:srgbClr val="000000"/>
                </a:solidFill>
                <a:effectLst/>
                <a:latin typeface="Consolas" panose="020B0609020204030204" pitchFamily="49" charset="0"/>
                <a:cs typeface="Consolas" panose="020B0609020204030204" pitchFamily="49" charset="0"/>
              </a:rPr>
              <a:t>)</a:t>
            </a:r>
          </a:p>
          <a:p>
            <a:pPr>
              <a:lnSpc>
                <a:spcPts val="2825"/>
              </a:lnSpc>
              <a:buNone/>
            </a:pPr>
            <a:r>
              <a:rPr lang="en-US" sz="2000" b="0">
                <a:solidFill>
                  <a:srgbClr val="AF00DB"/>
                </a:solidFill>
                <a:effectLst/>
                <a:latin typeface="Consolas" panose="020B0609020204030204" pitchFamily="49" charset="0"/>
                <a:cs typeface="Consolas" panose="020B0609020204030204" pitchFamily="49" charset="0"/>
              </a:rPr>
              <a:t>for</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001080"/>
                </a:solidFill>
                <a:effectLst/>
                <a:latin typeface="Consolas" panose="020B0609020204030204" pitchFamily="49" charset="0"/>
                <a:cs typeface="Consolas" panose="020B0609020204030204" pitchFamily="49" charset="0"/>
              </a:rPr>
              <a:t>i</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AF00DB"/>
                </a:solidFill>
                <a:effectLst/>
                <a:latin typeface="Consolas" panose="020B0609020204030204" pitchFamily="49" charset="0"/>
                <a:cs typeface="Consolas" panose="020B0609020204030204" pitchFamily="49" charset="0"/>
              </a:rPr>
              <a:t>in</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267F99"/>
                </a:solidFill>
                <a:effectLst/>
                <a:latin typeface="Consolas" panose="020B0609020204030204" pitchFamily="49" charset="0"/>
                <a:cs typeface="Consolas" panose="020B0609020204030204" pitchFamily="49" charset="0"/>
              </a:rPr>
              <a:t>range</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doc</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page_count</a:t>
            </a:r>
            <a:r>
              <a:rPr lang="en-US" sz="2000" b="0">
                <a:solidFill>
                  <a:srgbClr val="000000"/>
                </a:solidFill>
                <a:effectLst/>
                <a:latin typeface="Consolas" panose="020B0609020204030204" pitchFamily="49" charset="0"/>
                <a:cs typeface="Consolas" panose="020B0609020204030204" pitchFamily="49" charset="0"/>
              </a:rPr>
              <a:t>):</a:t>
            </a:r>
          </a:p>
          <a:p>
            <a:pPr>
              <a:lnSpc>
                <a:spcPts val="2825"/>
              </a:lnSpc>
              <a:buNone/>
            </a:pPr>
            <a:r>
              <a:rPr lang="en-US" sz="2000" b="0">
                <a:solidFill>
                  <a:srgbClr val="001080"/>
                </a:solidFill>
                <a:effectLst/>
                <a:latin typeface="Consolas" panose="020B0609020204030204" pitchFamily="49" charset="0"/>
                <a:cs typeface="Consolas" panose="020B0609020204030204" pitchFamily="49" charset="0"/>
              </a:rPr>
              <a:t>  doc</a:t>
            </a:r>
            <a:r>
              <a:rPr lang="en-US" sz="2000" b="0">
                <a:solidFill>
                  <a:srgbClr val="000000"/>
                </a:solidFill>
                <a:effectLst/>
                <a:latin typeface="Consolas" panose="020B0609020204030204" pitchFamily="49" charset="0"/>
                <a:cs typeface="Consolas" panose="020B0609020204030204" pitchFamily="49" charset="0"/>
              </a:rPr>
              <a:t> = </a:t>
            </a:r>
            <a:r>
              <a:rPr lang="en-US" sz="2000" b="0">
                <a:solidFill>
                  <a:srgbClr val="267F99"/>
                </a:solidFill>
                <a:effectLst/>
                <a:latin typeface="Consolas" panose="020B0609020204030204" pitchFamily="49" charset="0"/>
                <a:cs typeface="Consolas" panose="020B0609020204030204" pitchFamily="49" charset="0"/>
              </a:rPr>
              <a:t>pymupdf</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open</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filename</a:t>
            </a:r>
            <a:r>
              <a:rPr lang="en-US" sz="2000" b="0">
                <a:solidFill>
                  <a:srgbClr val="000000"/>
                </a:solidFill>
                <a:effectLst/>
                <a:latin typeface="Consolas" panose="020B0609020204030204" pitchFamily="49" charset="0"/>
                <a:cs typeface="Consolas" panose="020B0609020204030204" pitchFamily="49" charset="0"/>
              </a:rPr>
              <a:t>)</a:t>
            </a:r>
          </a:p>
          <a:p>
            <a:pPr>
              <a:lnSpc>
                <a:spcPts val="2825"/>
              </a:lnSpc>
              <a:buNone/>
            </a:pPr>
            <a:r>
              <a:rPr lang="en-US" sz="2000" b="0">
                <a:solidFill>
                  <a:srgbClr val="001080"/>
                </a:solidFill>
                <a:effectLst/>
                <a:latin typeface="Consolas" panose="020B0609020204030204" pitchFamily="49" charset="0"/>
                <a:cs typeface="Consolas" panose="020B0609020204030204" pitchFamily="49" charset="0"/>
              </a:rPr>
              <a:t>  page</a:t>
            </a:r>
            <a:r>
              <a:rPr lang="en-US" sz="2000" b="0">
                <a:solidFill>
                  <a:srgbClr val="000000"/>
                </a:solidFill>
                <a:effectLst/>
                <a:latin typeface="Consolas" panose="020B0609020204030204" pitchFamily="49" charset="0"/>
                <a:cs typeface="Consolas" panose="020B0609020204030204" pitchFamily="49" charset="0"/>
              </a:rPr>
              <a:t> = </a:t>
            </a:r>
            <a:r>
              <a:rPr lang="en-US" sz="2000" b="0">
                <a:solidFill>
                  <a:srgbClr val="001080"/>
                </a:solidFill>
                <a:effectLst/>
                <a:latin typeface="Consolas" panose="020B0609020204030204" pitchFamily="49" charset="0"/>
                <a:cs typeface="Consolas" panose="020B0609020204030204" pitchFamily="49" charset="0"/>
              </a:rPr>
              <a:t>doc</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795E26"/>
                </a:solidFill>
                <a:effectLst/>
                <a:latin typeface="Consolas" panose="020B0609020204030204" pitchFamily="49" charset="0"/>
                <a:cs typeface="Consolas" panose="020B0609020204030204" pitchFamily="49" charset="0"/>
              </a:rPr>
              <a:t>load_page</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i</a:t>
            </a:r>
            <a:r>
              <a:rPr lang="en-US" sz="2000" b="0">
                <a:solidFill>
                  <a:srgbClr val="000000"/>
                </a:solidFill>
                <a:effectLst/>
                <a:latin typeface="Consolas" panose="020B0609020204030204" pitchFamily="49" charset="0"/>
                <a:cs typeface="Consolas" panose="020B0609020204030204" pitchFamily="49" charset="0"/>
              </a:rPr>
              <a:t>)</a:t>
            </a:r>
          </a:p>
          <a:p>
            <a:pPr>
              <a:lnSpc>
                <a:spcPts val="2825"/>
              </a:lnSpc>
              <a:buNone/>
            </a:pPr>
            <a:r>
              <a:rPr lang="en-US" sz="2000" b="0">
                <a:solidFill>
                  <a:srgbClr val="001080"/>
                </a:solidFill>
                <a:effectLst/>
                <a:latin typeface="Consolas" panose="020B0609020204030204" pitchFamily="49" charset="0"/>
                <a:cs typeface="Consolas" panose="020B0609020204030204" pitchFamily="49" charset="0"/>
              </a:rPr>
              <a:t>  pix</a:t>
            </a:r>
            <a:r>
              <a:rPr lang="en-US" sz="2000" b="0">
                <a:solidFill>
                  <a:srgbClr val="000000"/>
                </a:solidFill>
                <a:effectLst/>
                <a:latin typeface="Consolas" panose="020B0609020204030204" pitchFamily="49" charset="0"/>
                <a:cs typeface="Consolas" panose="020B0609020204030204" pitchFamily="49" charset="0"/>
              </a:rPr>
              <a:t> = </a:t>
            </a:r>
            <a:r>
              <a:rPr lang="en-US" sz="2000" b="0">
                <a:solidFill>
                  <a:srgbClr val="001080"/>
                </a:solidFill>
                <a:effectLst/>
                <a:latin typeface="Consolas" panose="020B0609020204030204" pitchFamily="49" charset="0"/>
                <a:cs typeface="Consolas" panose="020B0609020204030204" pitchFamily="49" charset="0"/>
              </a:rPr>
              <a:t>page</a:t>
            </a:r>
            <a:r>
              <a:rPr lang="en-US" sz="2000" b="0">
                <a:solidFill>
                  <a:srgbClr val="000000"/>
                </a:solidFill>
                <a:effectLst/>
                <a:latin typeface="Consolas" panose="020B0609020204030204" pitchFamily="49" charset="0"/>
                <a:cs typeface="Consolas" panose="020B0609020204030204" pitchFamily="49" charset="0"/>
              </a:rPr>
              <a:t>.get_pixmap()</a:t>
            </a:r>
          </a:p>
          <a:p>
            <a:pPr>
              <a:lnSpc>
                <a:spcPts val="2825"/>
              </a:lnSpc>
              <a:buNone/>
            </a:pPr>
            <a:r>
              <a:rPr lang="en-US" sz="2000" b="0">
                <a:solidFill>
                  <a:srgbClr val="001080"/>
                </a:solidFill>
                <a:effectLst/>
                <a:latin typeface="Consolas" panose="020B0609020204030204" pitchFamily="49" charset="0"/>
                <a:cs typeface="Consolas" panose="020B0609020204030204" pitchFamily="49" charset="0"/>
              </a:rPr>
              <a:t>  original_img</a:t>
            </a:r>
            <a:r>
              <a:rPr lang="en-US" sz="2000" b="0">
                <a:solidFill>
                  <a:srgbClr val="000000"/>
                </a:solidFill>
                <a:effectLst/>
                <a:latin typeface="Consolas" panose="020B0609020204030204" pitchFamily="49" charset="0"/>
                <a:cs typeface="Consolas" panose="020B0609020204030204" pitchFamily="49" charset="0"/>
              </a:rPr>
              <a:t> = </a:t>
            </a:r>
            <a:r>
              <a:rPr lang="en-US" sz="2000" b="0">
                <a:solidFill>
                  <a:srgbClr val="267F99"/>
                </a:solidFill>
                <a:effectLst/>
                <a:latin typeface="Consolas" panose="020B0609020204030204" pitchFamily="49" charset="0"/>
                <a:cs typeface="Consolas" panose="020B0609020204030204" pitchFamily="49" charset="0"/>
              </a:rPr>
              <a:t>Image</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795E26"/>
                </a:solidFill>
                <a:effectLst/>
                <a:latin typeface="Consolas" panose="020B0609020204030204" pitchFamily="49" charset="0"/>
                <a:cs typeface="Consolas" panose="020B0609020204030204" pitchFamily="49" charset="0"/>
              </a:rPr>
              <a:t>frombytes</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A31515"/>
                </a:solidFill>
                <a:effectLst/>
                <a:latin typeface="Consolas" panose="020B0609020204030204" pitchFamily="49" charset="0"/>
                <a:cs typeface="Consolas" panose="020B0609020204030204" pitchFamily="49" charset="0"/>
              </a:rPr>
              <a:t>"RGB"</a:t>
            </a:r>
            <a:r>
              <a:rPr lang="en-US" sz="2000" b="0">
                <a:solidFill>
                  <a:srgbClr val="000000"/>
                </a:solidFill>
                <a:effectLst/>
                <a:latin typeface="Consolas" panose="020B0609020204030204" pitchFamily="49" charset="0"/>
                <a:cs typeface="Consolas" panose="020B0609020204030204" pitchFamily="49" charset="0"/>
              </a:rPr>
              <a:t>,</a:t>
            </a:r>
          </a:p>
          <a:p>
            <a:pPr>
              <a:lnSpc>
                <a:spcPts val="2825"/>
              </a:lnSpc>
              <a:buNone/>
            </a:pPr>
            <a:r>
              <a:rPr lang="en-US" sz="2000">
                <a:solidFill>
                  <a:srgbClr val="000000"/>
                </a:solidFill>
                <a:latin typeface="Consolas" panose="020B0609020204030204" pitchFamily="49" charset="0"/>
                <a:cs typeface="Consolas" panose="020B0609020204030204" pitchFamily="49" charset="0"/>
              </a:rPr>
              <a:t>   </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pix</a:t>
            </a:r>
            <a:r>
              <a:rPr lang="en-US" sz="2000" b="0">
                <a:solidFill>
                  <a:srgbClr val="000000"/>
                </a:solidFill>
                <a:effectLst/>
                <a:latin typeface="Consolas" panose="020B0609020204030204" pitchFamily="49" charset="0"/>
                <a:cs typeface="Consolas" panose="020B0609020204030204" pitchFamily="49" charset="0"/>
              </a:rPr>
              <a:t>.width, </a:t>
            </a:r>
            <a:r>
              <a:rPr lang="en-US" sz="2000" b="0">
                <a:solidFill>
                  <a:srgbClr val="001080"/>
                </a:solidFill>
                <a:effectLst/>
                <a:latin typeface="Consolas" panose="020B0609020204030204" pitchFamily="49" charset="0"/>
                <a:cs typeface="Consolas" panose="020B0609020204030204" pitchFamily="49" charset="0"/>
              </a:rPr>
              <a:t>pix</a:t>
            </a:r>
            <a:r>
              <a:rPr lang="en-US" sz="2000" b="0">
                <a:solidFill>
                  <a:srgbClr val="000000"/>
                </a:solidFill>
                <a:effectLst/>
                <a:latin typeface="Consolas" panose="020B0609020204030204" pitchFamily="49" charset="0"/>
                <a:cs typeface="Consolas" panose="020B0609020204030204" pitchFamily="49" charset="0"/>
              </a:rPr>
              <a:t>.height], </a:t>
            </a:r>
            <a:r>
              <a:rPr lang="en-US" sz="2000" b="0">
                <a:solidFill>
                  <a:srgbClr val="001080"/>
                </a:solidFill>
                <a:effectLst/>
                <a:latin typeface="Consolas" panose="020B0609020204030204" pitchFamily="49" charset="0"/>
                <a:cs typeface="Consolas" panose="020B0609020204030204" pitchFamily="49" charset="0"/>
              </a:rPr>
              <a:t>pix</a:t>
            </a:r>
            <a:r>
              <a:rPr lang="en-US" sz="2000" b="0">
                <a:solidFill>
                  <a:srgbClr val="000000"/>
                </a:solidFill>
                <a:effectLst/>
                <a:latin typeface="Consolas" panose="020B0609020204030204" pitchFamily="49" charset="0"/>
                <a:cs typeface="Consolas" panose="020B0609020204030204" pitchFamily="49" charset="0"/>
              </a:rPr>
              <a:t>.samples)</a:t>
            </a:r>
          </a:p>
          <a:p>
            <a:pPr>
              <a:lnSpc>
                <a:spcPts val="2825"/>
              </a:lnSpc>
            </a:pPr>
            <a:r>
              <a:rPr lang="en-US" sz="2000" b="0">
                <a:solidFill>
                  <a:srgbClr val="001080"/>
                </a:solidFill>
                <a:effectLst/>
                <a:latin typeface="Consolas" panose="020B0609020204030204" pitchFamily="49" charset="0"/>
                <a:cs typeface="Consolas" panose="020B0609020204030204" pitchFamily="49" charset="0"/>
              </a:rPr>
              <a:t>  original_img</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795E26"/>
                </a:solidFill>
                <a:effectLst/>
                <a:latin typeface="Consolas" panose="020B0609020204030204" pitchFamily="49" charset="0"/>
                <a:cs typeface="Consolas" panose="020B0609020204030204" pitchFamily="49" charset="0"/>
              </a:rPr>
              <a:t>save</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00FF"/>
                </a:solidFill>
                <a:effectLst/>
                <a:latin typeface="Consolas" panose="020B0609020204030204" pitchFamily="49" charset="0"/>
                <a:cs typeface="Consolas" panose="020B0609020204030204" pitchFamily="49" charset="0"/>
              </a:rPr>
              <a:t>f</a:t>
            </a:r>
            <a:r>
              <a:rPr lang="en-US" sz="2000" b="0">
                <a:solidFill>
                  <a:srgbClr val="A31515"/>
                </a:solidFill>
                <a:effectLst/>
                <a:latin typeface="Consolas" panose="020B0609020204030204" pitchFamily="49" charset="0"/>
                <a:cs typeface="Consolas" panose="020B0609020204030204" pitchFamily="49" charset="0"/>
              </a:rPr>
              <a:t>"page_</a:t>
            </a:r>
            <a:r>
              <a:rPr lang="en-US" sz="2000" b="0">
                <a:solidFill>
                  <a:srgbClr val="0000FF"/>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i</a:t>
            </a:r>
            <a:r>
              <a:rPr lang="en-US" sz="2000" b="0">
                <a:solidFill>
                  <a:srgbClr val="0000FF"/>
                </a:solidFill>
                <a:effectLst/>
                <a:latin typeface="Consolas" panose="020B0609020204030204" pitchFamily="49" charset="0"/>
                <a:cs typeface="Consolas" panose="020B0609020204030204" pitchFamily="49" charset="0"/>
              </a:rPr>
              <a:t>}</a:t>
            </a:r>
            <a:r>
              <a:rPr lang="en-US" sz="2000" b="0">
                <a:solidFill>
                  <a:srgbClr val="A31515"/>
                </a:solidFill>
                <a:effectLst/>
                <a:latin typeface="Consolas" panose="020B0609020204030204" pitchFamily="49" charset="0"/>
                <a:cs typeface="Consolas" panose="020B0609020204030204" pitchFamily="49" charset="0"/>
              </a:rPr>
              <a:t>.png"</a:t>
            </a:r>
            <a:r>
              <a:rPr lang="en-US" sz="2000" b="0">
                <a:solidFill>
                  <a:srgbClr val="000000"/>
                </a:solidFill>
                <a:effectLst/>
                <a:latin typeface="Consolas" panose="020B0609020204030204" pitchFamily="49" charset="0"/>
                <a:cs typeface="Consolas" panose="020B0609020204030204" pitchFamily="49" charset="0"/>
              </a:rPr>
              <a:t>)</a:t>
            </a:r>
          </a:p>
        </p:txBody>
      </p:sp>
      <p:sp>
        <p:nvSpPr>
          <p:cNvPr id="3" name="TextBox 2">
            <a:extLst>
              <a:ext uri="{FF2B5EF4-FFF2-40B4-BE49-F238E27FC236}">
                <a16:creationId xmlns:a16="http://schemas.microsoft.com/office/drawing/2014/main" id="{631DE408-DBE1-5FA6-0CCF-D8BEDA02991A}"/>
              </a:ext>
            </a:extLst>
          </p:cNvPr>
          <p:cNvSpPr txBox="1"/>
          <p:nvPr/>
        </p:nvSpPr>
        <p:spPr>
          <a:xfrm>
            <a:off x="1119088" y="6168909"/>
            <a:ext cx="9817489" cy="461665"/>
          </a:xfrm>
          <a:prstGeom prst="rect">
            <a:avLst/>
          </a:prstGeom>
          <a:noFill/>
        </p:spPr>
        <p:txBody>
          <a:bodyPr wrap="square">
            <a:spAutoFit/>
          </a:bodyPr>
          <a:lstStyle/>
          <a:p>
            <a:r>
              <a:rPr lang="en-US" sz="2400">
                <a:hlinkClick r:id="rId2"/>
              </a:rPr>
              <a:t>https://aka.ms/chat-vision-app</a:t>
            </a:r>
            <a:r>
              <a:rPr lang="en-US" sz="2400"/>
              <a:t> : notebooks/chat_pdf_images.ipynb </a:t>
            </a:r>
          </a:p>
        </p:txBody>
      </p:sp>
      <p:grpSp>
        <p:nvGrpSpPr>
          <p:cNvPr id="13" name="Group 12">
            <a:extLst>
              <a:ext uri="{FF2B5EF4-FFF2-40B4-BE49-F238E27FC236}">
                <a16:creationId xmlns:a16="http://schemas.microsoft.com/office/drawing/2014/main" id="{B5F0D226-6531-92EF-68DB-ED0DD23106C0}"/>
              </a:ext>
            </a:extLst>
          </p:cNvPr>
          <p:cNvGrpSpPr/>
          <p:nvPr/>
        </p:nvGrpSpPr>
        <p:grpSpPr>
          <a:xfrm>
            <a:off x="8939155" y="2039296"/>
            <a:ext cx="1931841" cy="2223289"/>
            <a:chOff x="2145858" y="866617"/>
            <a:chExt cx="1931841" cy="2223289"/>
          </a:xfrm>
        </p:grpSpPr>
        <p:sp>
          <p:nvSpPr>
            <p:cNvPr id="15" name="Text Placeholder 5">
              <a:extLst>
                <a:ext uri="{FF2B5EF4-FFF2-40B4-BE49-F238E27FC236}">
                  <a16:creationId xmlns:a16="http://schemas.microsoft.com/office/drawing/2014/main" id="{D8605BF1-706B-7658-7042-D0D199BBF124}"/>
                </a:ext>
              </a:extLst>
            </p:cNvPr>
            <p:cNvSpPr txBox="1">
              <a:spLocks/>
            </p:cNvSpPr>
            <p:nvPr/>
          </p:nvSpPr>
          <p:spPr>
            <a:xfrm>
              <a:off x="2145858" y="2424079"/>
              <a:ext cx="1931841" cy="665827"/>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b="1">
                  <a:ln w="3175">
                    <a:noFill/>
                  </a:ln>
                  <a:latin typeface="Segoe UI Semibold" panose="020B0502040204020203" pitchFamily="34" charset="0"/>
                  <a:cs typeface="Segoe UI Semibold" panose="020B0502040204020203" pitchFamily="34" charset="0"/>
                </a:rPr>
                <a:t>pymupdf</a:t>
              </a:r>
            </a:p>
          </p:txBody>
        </p:sp>
        <p:cxnSp>
          <p:nvCxnSpPr>
            <p:cNvPr id="17" name="Straight Arrow Connector 16">
              <a:extLst>
                <a:ext uri="{FF2B5EF4-FFF2-40B4-BE49-F238E27FC236}">
                  <a16:creationId xmlns:a16="http://schemas.microsoft.com/office/drawing/2014/main" id="{636701E9-FFA4-3F84-2E73-8FBD24AEF49F}"/>
                </a:ext>
                <a:ext uri="{C183D7F6-B498-43B3-948B-1728B52AA6E4}">
                  <adec:decorative xmlns:adec="http://schemas.microsoft.com/office/drawing/2017/decorative" val="1"/>
                </a:ext>
              </a:extLst>
            </p:cNvPr>
            <p:cNvCxnSpPr>
              <a:cxnSpLocks/>
            </p:cNvCxnSpPr>
            <p:nvPr/>
          </p:nvCxnSpPr>
          <p:spPr>
            <a:xfrm>
              <a:off x="3177360" y="866617"/>
              <a:ext cx="0" cy="451355"/>
            </a:xfrm>
            <a:prstGeom prst="straightConnector1">
              <a:avLst/>
            </a:prstGeom>
            <a:ln w="1905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370CEAEE-9E09-6699-6676-3A882F8374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8353" y="1478596"/>
              <a:ext cx="1151945" cy="883393"/>
            </a:xfrm>
            <a:prstGeom prst="rect">
              <a:avLst/>
            </a:prstGeom>
          </p:spPr>
        </p:pic>
      </p:grpSp>
      <p:pic>
        <p:nvPicPr>
          <p:cNvPr id="19" name="Graphic 18" descr="Document with solid fill">
            <a:extLst>
              <a:ext uri="{FF2B5EF4-FFF2-40B4-BE49-F238E27FC236}">
                <a16:creationId xmlns:a16="http://schemas.microsoft.com/office/drawing/2014/main" id="{C45A9070-973A-5231-B5E0-360C4F9B53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38075" y="507425"/>
            <a:ext cx="914400" cy="914400"/>
          </a:xfrm>
          <a:prstGeom prst="rect">
            <a:avLst/>
          </a:prstGeom>
        </p:spPr>
      </p:pic>
      <p:sp>
        <p:nvSpPr>
          <p:cNvPr id="20" name="Text Placeholder 5">
            <a:extLst>
              <a:ext uri="{FF2B5EF4-FFF2-40B4-BE49-F238E27FC236}">
                <a16:creationId xmlns:a16="http://schemas.microsoft.com/office/drawing/2014/main" id="{3BE1B3AF-EAAF-336C-D9A5-E01DFF1F4110}"/>
              </a:ext>
            </a:extLst>
          </p:cNvPr>
          <p:cNvSpPr txBox="1">
            <a:spLocks/>
          </p:cNvSpPr>
          <p:nvPr/>
        </p:nvSpPr>
        <p:spPr>
          <a:xfrm>
            <a:off x="9387063" y="1505856"/>
            <a:ext cx="1167189" cy="422337"/>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b="1">
                <a:ln w="3175">
                  <a:noFill/>
                </a:ln>
                <a:latin typeface="Segoe UI Semibold" panose="020B0502040204020203" pitchFamily="34" charset="0"/>
                <a:cs typeface="Segoe UI Semibold" panose="020B0502040204020203" pitchFamily="34" charset="0"/>
              </a:rPr>
              <a:t>PDF</a:t>
            </a:r>
          </a:p>
        </p:txBody>
      </p:sp>
      <p:cxnSp>
        <p:nvCxnSpPr>
          <p:cNvPr id="26" name="Straight Arrow Connector 25">
            <a:extLst>
              <a:ext uri="{FF2B5EF4-FFF2-40B4-BE49-F238E27FC236}">
                <a16:creationId xmlns:a16="http://schemas.microsoft.com/office/drawing/2014/main" id="{7A0A791E-5345-C15A-9539-204488341D9E}"/>
              </a:ext>
              <a:ext uri="{C183D7F6-B498-43B3-948B-1728B52AA6E4}">
                <adec:decorative xmlns:adec="http://schemas.microsoft.com/office/drawing/2017/decorative" val="1"/>
              </a:ext>
            </a:extLst>
          </p:cNvPr>
          <p:cNvCxnSpPr>
            <a:cxnSpLocks/>
          </p:cNvCxnSpPr>
          <p:nvPr/>
        </p:nvCxnSpPr>
        <p:spPr>
          <a:xfrm>
            <a:off x="9905075" y="4036907"/>
            <a:ext cx="0" cy="451355"/>
          </a:xfrm>
          <a:prstGeom prst="straightConnector1">
            <a:avLst/>
          </a:prstGeom>
          <a:ln w="1905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27" name="Text Placeholder 5">
            <a:extLst>
              <a:ext uri="{FF2B5EF4-FFF2-40B4-BE49-F238E27FC236}">
                <a16:creationId xmlns:a16="http://schemas.microsoft.com/office/drawing/2014/main" id="{EA87AD2F-1BEB-64F9-83AF-584CACEF3DB3}"/>
              </a:ext>
            </a:extLst>
          </p:cNvPr>
          <p:cNvSpPr txBox="1">
            <a:spLocks/>
          </p:cNvSpPr>
          <p:nvPr/>
        </p:nvSpPr>
        <p:spPr>
          <a:xfrm>
            <a:off x="9004736" y="5647454"/>
            <a:ext cx="1931841" cy="665827"/>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1800" b="1">
                <a:ln w="3175">
                  <a:noFill/>
                </a:ln>
                <a:latin typeface="Segoe UI Semibold" panose="020B0502040204020203" pitchFamily="34" charset="0"/>
                <a:cs typeface="Segoe UI Semibold" panose="020B0502040204020203" pitchFamily="34" charset="0"/>
              </a:rPr>
              <a:t>pillow</a:t>
            </a:r>
          </a:p>
        </p:txBody>
      </p:sp>
      <p:pic>
        <p:nvPicPr>
          <p:cNvPr id="1026" name="Picture 2" descr="Pillow logo">
            <a:extLst>
              <a:ext uri="{FF2B5EF4-FFF2-40B4-BE49-F238E27FC236}">
                <a16:creationId xmlns:a16="http://schemas.microsoft.com/office/drawing/2014/main" id="{9F497EF6-A107-0847-ECF2-C46A30E603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12499" y="4634610"/>
            <a:ext cx="985151" cy="993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94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3C026-BCE3-EEEB-1DC0-F220BBB99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E5DC6-B847-9C34-A755-F2DFB638A3FF}"/>
              </a:ext>
            </a:extLst>
          </p:cNvPr>
          <p:cNvSpPr>
            <a:spLocks noGrp="1"/>
          </p:cNvSpPr>
          <p:nvPr>
            <p:ph type="title"/>
          </p:nvPr>
        </p:nvSpPr>
        <p:spPr/>
        <p:txBody>
          <a:bodyPr/>
          <a:lstStyle/>
          <a:p>
            <a:r>
              <a:rPr lang="es-MX"/>
              <a:t>Multimodal LLMs for OCR?</a:t>
            </a:r>
          </a:p>
        </p:txBody>
      </p:sp>
      <p:sp>
        <p:nvSpPr>
          <p:cNvPr id="4" name="TextBox 3">
            <a:extLst>
              <a:ext uri="{FF2B5EF4-FFF2-40B4-BE49-F238E27FC236}">
                <a16:creationId xmlns:a16="http://schemas.microsoft.com/office/drawing/2014/main" id="{8F81ACF3-AFDD-B8BF-4B45-6AE210B5A032}"/>
              </a:ext>
            </a:extLst>
          </p:cNvPr>
          <p:cNvSpPr txBox="1"/>
          <p:nvPr/>
        </p:nvSpPr>
        <p:spPr>
          <a:xfrm>
            <a:off x="1158240" y="1783821"/>
            <a:ext cx="10805158" cy="1569660"/>
          </a:xfrm>
          <a:prstGeom prst="rect">
            <a:avLst/>
          </a:prstGeom>
          <a:noFill/>
        </p:spPr>
        <p:txBody>
          <a:bodyPr wrap="square" rtlCol="0">
            <a:spAutoFit/>
          </a:bodyPr>
          <a:lstStyle/>
          <a:p>
            <a:r>
              <a:rPr lang="en-US" sz="2400" b="1"/>
              <a:t>OCR = "Optical Character Recognition"</a:t>
            </a:r>
          </a:p>
          <a:p>
            <a:endParaRPr lang="en-US" sz="2400"/>
          </a:p>
          <a:p>
            <a:r>
              <a:rPr lang="en-US" sz="2400"/>
              <a:t>An OCR tool can extract text from an image, including handwritten text, using a machine learning model trained specifically for the task.</a:t>
            </a:r>
          </a:p>
        </p:txBody>
      </p:sp>
      <p:pic>
        <p:nvPicPr>
          <p:cNvPr id="1026" name="Picture 2" descr="Screenshot: Read OCR demo in Vision Studio.">
            <a:extLst>
              <a:ext uri="{FF2B5EF4-FFF2-40B4-BE49-F238E27FC236}">
                <a16:creationId xmlns:a16="http://schemas.microsoft.com/office/drawing/2014/main" id="{4F7505BC-0742-E040-5698-52A0A68231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4" t="45340" r="34617" b="9144"/>
          <a:stretch/>
        </p:blipFill>
        <p:spPr bwMode="auto">
          <a:xfrm>
            <a:off x="8334797" y="647908"/>
            <a:ext cx="3026422" cy="162595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89C44C0-665E-4A14-C98A-48DFF16DF3EC}"/>
              </a:ext>
            </a:extLst>
          </p:cNvPr>
          <p:cNvSpPr txBox="1"/>
          <p:nvPr/>
        </p:nvSpPr>
        <p:spPr>
          <a:xfrm>
            <a:off x="1158240" y="3660165"/>
            <a:ext cx="10502383" cy="2677656"/>
          </a:xfrm>
          <a:prstGeom prst="rect">
            <a:avLst/>
          </a:prstGeom>
          <a:noFill/>
        </p:spPr>
        <p:txBody>
          <a:bodyPr wrap="square">
            <a:spAutoFit/>
          </a:bodyPr>
          <a:lstStyle/>
          <a:p>
            <a:r>
              <a:rPr lang="en-US" sz="2400"/>
              <a:t>Many multimodal LLMs can be used for OCR, but:</a:t>
            </a:r>
          </a:p>
          <a:p>
            <a:pPr marL="342900" indent="-342900">
              <a:buFont typeface="Arial" panose="020B0604020202020204" pitchFamily="34" charset="0"/>
              <a:buChar char="•"/>
            </a:pPr>
            <a:r>
              <a:rPr lang="en-US" sz="2400"/>
              <a:t>A multimodal LLM is </a:t>
            </a:r>
            <a:r>
              <a:rPr lang="en-US" sz="2400" b="1"/>
              <a:t>generative</a:t>
            </a:r>
            <a:r>
              <a:rPr lang="en-US" sz="2400"/>
              <a:t>, so it can hallucinate text that isn't there</a:t>
            </a:r>
          </a:p>
          <a:p>
            <a:pPr marL="342900" indent="-342900">
              <a:buFont typeface="Arial" panose="020B0604020202020204" pitchFamily="34" charset="0"/>
              <a:buChar char="•"/>
            </a:pPr>
            <a:r>
              <a:rPr lang="en-US" sz="2400"/>
              <a:t>An OCR tool is only </a:t>
            </a:r>
            <a:r>
              <a:rPr lang="en-US" sz="2400" b="1"/>
              <a:t>extractive</a:t>
            </a:r>
            <a:r>
              <a:rPr lang="en-US" sz="2400"/>
              <a:t>, so it can make mistakes but not hallucinate</a:t>
            </a:r>
          </a:p>
          <a:p>
            <a:endParaRPr lang="en-US" sz="2400"/>
          </a:p>
          <a:p>
            <a:r>
              <a:rPr lang="en-US" sz="2400"/>
              <a:t>For OCR, also consider Azure AI OCR and Azure Document Intelligence.</a:t>
            </a:r>
          </a:p>
          <a:p>
            <a:r>
              <a:rPr lang="en-US" sz="2400">
                <a:hlinkClick r:id="rId3"/>
              </a:rPr>
              <a:t>https://learn.microsoft.com/azure/ai-services/computer-vision/overview-ocr</a:t>
            </a:r>
            <a:endParaRPr lang="en-US" sz="2400"/>
          </a:p>
          <a:p>
            <a:r>
              <a:rPr lang="en-US" sz="2400">
                <a:hlinkClick r:id="rId4"/>
              </a:rPr>
              <a:t>https://learn.microsoft.com/azure/ai-services/document-intelligence/overview</a:t>
            </a:r>
            <a:endParaRPr lang="en-US" sz="2400"/>
          </a:p>
        </p:txBody>
      </p:sp>
    </p:spTree>
    <p:extLst>
      <p:ext uri="{BB962C8B-B14F-4D97-AF65-F5344CB8AC3E}">
        <p14:creationId xmlns:p14="http://schemas.microsoft.com/office/powerpoint/2010/main" val="3806026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D7DF8-F332-52A9-7661-C04A1F6FB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2AD0F-DD37-743B-AEFA-E3F7BB522FAB}"/>
              </a:ext>
            </a:extLst>
          </p:cNvPr>
          <p:cNvSpPr>
            <a:spLocks noGrp="1"/>
          </p:cNvSpPr>
          <p:nvPr>
            <p:ph type="title"/>
          </p:nvPr>
        </p:nvSpPr>
        <p:spPr/>
        <p:txBody>
          <a:bodyPr/>
          <a:lstStyle/>
          <a:p>
            <a:r>
              <a:rPr lang="es-MX"/>
              <a:t>Building apps with vision models</a:t>
            </a:r>
          </a:p>
        </p:txBody>
      </p:sp>
    </p:spTree>
    <p:extLst>
      <p:ext uri="{BB962C8B-B14F-4D97-AF65-F5344CB8AC3E}">
        <p14:creationId xmlns:p14="http://schemas.microsoft.com/office/powerpoint/2010/main" val="26849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9411E-15D5-1EE8-C7A1-851526F74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D694A-A61C-A1DF-B956-65E2541F1F39}"/>
              </a:ext>
            </a:extLst>
          </p:cNvPr>
          <p:cNvSpPr>
            <a:spLocks noGrp="1"/>
          </p:cNvSpPr>
          <p:nvPr>
            <p:ph type="title"/>
          </p:nvPr>
        </p:nvSpPr>
        <p:spPr/>
        <p:txBody>
          <a:bodyPr/>
          <a:lstStyle/>
          <a:p>
            <a:r>
              <a:rPr lang="es-MX"/>
              <a:t>Open-source template: chat with vision</a:t>
            </a:r>
          </a:p>
        </p:txBody>
      </p:sp>
      <p:sp>
        <p:nvSpPr>
          <p:cNvPr id="6" name="TextBox 5">
            <a:extLst>
              <a:ext uri="{FF2B5EF4-FFF2-40B4-BE49-F238E27FC236}">
                <a16:creationId xmlns:a16="http://schemas.microsoft.com/office/drawing/2014/main" id="{186F9198-9DC5-D240-332E-2AE87E94C0CF}"/>
              </a:ext>
            </a:extLst>
          </p:cNvPr>
          <p:cNvSpPr txBox="1"/>
          <p:nvPr/>
        </p:nvSpPr>
        <p:spPr>
          <a:xfrm>
            <a:off x="6938698" y="1734509"/>
            <a:ext cx="5181586" cy="4524315"/>
          </a:xfrm>
          <a:prstGeom prst="rect">
            <a:avLst/>
          </a:prstGeom>
          <a:noFill/>
        </p:spPr>
        <p:txBody>
          <a:bodyPr wrap="square" rtlCol="0">
            <a:spAutoFit/>
          </a:bodyPr>
          <a:lstStyle/>
          <a:p>
            <a:r>
              <a:rPr lang="en-US" sz="2400"/>
              <a:t>Azure OpenAI with gpt-4o</a:t>
            </a:r>
          </a:p>
          <a:p>
            <a:r>
              <a:rPr lang="en-US" sz="2400"/>
              <a:t>Python backend (Quart)</a:t>
            </a:r>
          </a:p>
          <a:p>
            <a:endParaRPr lang="en-US" sz="2400"/>
          </a:p>
          <a:p>
            <a:endParaRPr lang="en-US" sz="2400"/>
          </a:p>
          <a:p>
            <a:endParaRPr lang="en-US" sz="2400"/>
          </a:p>
          <a:p>
            <a:endParaRPr lang="en-US" sz="2400"/>
          </a:p>
          <a:p>
            <a:r>
              <a:rPr lang="en-US" sz="2400"/>
              <a:t>Repo:</a:t>
            </a:r>
          </a:p>
          <a:p>
            <a:r>
              <a:rPr lang="en-US" sz="2400">
                <a:hlinkClick r:id="rId2"/>
              </a:rPr>
              <a:t>https://aka.ms/chat-vision-app</a:t>
            </a:r>
            <a:endParaRPr lang="en-US" sz="2400"/>
          </a:p>
          <a:p>
            <a:endParaRPr lang="en-US" sz="2400"/>
          </a:p>
          <a:p>
            <a:r>
              <a:rPr lang="en-US" sz="2400"/>
              <a:t>Demo:</a:t>
            </a:r>
          </a:p>
          <a:p>
            <a:r>
              <a:rPr lang="en-US" sz="2400">
                <a:hlinkClick r:id="rId3"/>
              </a:rPr>
              <a:t>https://aka.ms/chat-vision-app/demo</a:t>
            </a:r>
            <a:endParaRPr lang="en-US" sz="2400"/>
          </a:p>
          <a:p>
            <a:endParaRPr lang="en-US" sz="2400"/>
          </a:p>
        </p:txBody>
      </p:sp>
      <p:pic>
        <p:nvPicPr>
          <p:cNvPr id="8" name="Picture 7" descr="A screenshot of a computer&#10;&#10;AI-generated content may be incorrect.">
            <a:extLst>
              <a:ext uri="{FF2B5EF4-FFF2-40B4-BE49-F238E27FC236}">
                <a16:creationId xmlns:a16="http://schemas.microsoft.com/office/drawing/2014/main" id="{68D00DF5-1679-A0F6-6FD2-9A80ACE8F7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3187" y="1734509"/>
            <a:ext cx="5641741" cy="4500983"/>
          </a:xfrm>
          <a:prstGeom prst="rect">
            <a:avLst/>
          </a:prstGeom>
          <a:ln>
            <a:solidFill>
              <a:schemeClr val="tx1"/>
            </a:solidFill>
          </a:ln>
        </p:spPr>
      </p:pic>
    </p:spTree>
    <p:extLst>
      <p:ext uri="{BB962C8B-B14F-4D97-AF65-F5344CB8AC3E}">
        <p14:creationId xmlns:p14="http://schemas.microsoft.com/office/powerpoint/2010/main" val="1298505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70D83-782A-A3CA-9A64-047267E2D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DE2BF-8943-0E0B-BB1A-962FB5346414}"/>
              </a:ext>
            </a:extLst>
          </p:cNvPr>
          <p:cNvSpPr>
            <a:spLocks noGrp="1"/>
          </p:cNvSpPr>
          <p:nvPr>
            <p:ph type="title"/>
          </p:nvPr>
        </p:nvSpPr>
        <p:spPr/>
        <p:txBody>
          <a:bodyPr/>
          <a:lstStyle/>
          <a:p>
            <a:r>
              <a:rPr lang="es-MX"/>
              <a:t>Chat with vision: Flow</a:t>
            </a:r>
          </a:p>
        </p:txBody>
      </p:sp>
      <p:grpSp>
        <p:nvGrpSpPr>
          <p:cNvPr id="5" name="Group 4">
            <a:extLst>
              <a:ext uri="{FF2B5EF4-FFF2-40B4-BE49-F238E27FC236}">
                <a16:creationId xmlns:a16="http://schemas.microsoft.com/office/drawing/2014/main" id="{CB3E3B94-1612-E32A-5DE8-9FCD84E29890}"/>
              </a:ext>
            </a:extLst>
          </p:cNvPr>
          <p:cNvGrpSpPr/>
          <p:nvPr/>
        </p:nvGrpSpPr>
        <p:grpSpPr>
          <a:xfrm>
            <a:off x="1249614" y="1795230"/>
            <a:ext cx="3239517" cy="4747054"/>
            <a:chOff x="491968" y="1481635"/>
            <a:chExt cx="3239517" cy="4747054"/>
          </a:xfrm>
        </p:grpSpPr>
        <p:pic>
          <p:nvPicPr>
            <p:cNvPr id="7" name="Graphic 13">
              <a:extLst>
                <a:ext uri="{FF2B5EF4-FFF2-40B4-BE49-F238E27FC236}">
                  <a16:creationId xmlns:a16="http://schemas.microsoft.com/office/drawing/2014/main" id="{84DFEC0C-45B0-36AC-ACB8-74D04C3509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7372" y="4160798"/>
              <a:ext cx="1187142" cy="1229691"/>
            </a:xfrm>
            <a:prstGeom prst="rect">
              <a:avLst/>
            </a:prstGeom>
          </p:spPr>
        </p:pic>
        <p:sp>
          <p:nvSpPr>
            <p:cNvPr id="8" name="Text Placeholder 5">
              <a:extLst>
                <a:ext uri="{FF2B5EF4-FFF2-40B4-BE49-F238E27FC236}">
                  <a16:creationId xmlns:a16="http://schemas.microsoft.com/office/drawing/2014/main" id="{188775B3-F21B-33B4-9153-D5CF440EA683}"/>
                </a:ext>
              </a:extLst>
            </p:cNvPr>
            <p:cNvSpPr txBox="1">
              <a:spLocks/>
            </p:cNvSpPr>
            <p:nvPr/>
          </p:nvSpPr>
          <p:spPr>
            <a:xfrm>
              <a:off x="656287" y="5392549"/>
              <a:ext cx="1442546" cy="836140"/>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2000">
                  <a:latin typeface="+mj-lt"/>
                  <a:cs typeface="Segoe UI Semilight"/>
                </a:rPr>
                <a:t>User</a:t>
              </a:r>
              <a:endParaRPr lang="en-US"/>
            </a:p>
            <a:p>
              <a:pPr marL="0" indent="0" algn="ctr" defTabSz="1865484">
                <a:buNone/>
                <a:defRPr/>
              </a:pPr>
              <a:r>
                <a:rPr lang="en-US" sz="2000">
                  <a:latin typeface="+mj-lt"/>
                  <a:cs typeface="Segoe UI Semilight"/>
                </a:rPr>
                <a:t>Question</a:t>
              </a:r>
              <a:endParaRPr lang="en-US" sz="2000">
                <a:cs typeface="Segoe UI Semilight"/>
              </a:endParaRPr>
            </a:p>
          </p:txBody>
        </p:sp>
        <p:grpSp>
          <p:nvGrpSpPr>
            <p:cNvPr id="9" name="Group 8">
              <a:extLst>
                <a:ext uri="{FF2B5EF4-FFF2-40B4-BE49-F238E27FC236}">
                  <a16:creationId xmlns:a16="http://schemas.microsoft.com/office/drawing/2014/main" id="{65AB207B-63C2-B245-28DE-96FFB9E15A0F}"/>
                </a:ext>
              </a:extLst>
            </p:cNvPr>
            <p:cNvGrpSpPr/>
            <p:nvPr/>
          </p:nvGrpSpPr>
          <p:grpSpPr>
            <a:xfrm>
              <a:off x="491968" y="1481635"/>
              <a:ext cx="3239517" cy="2423545"/>
              <a:chOff x="491707" y="2602365"/>
              <a:chExt cx="5078205" cy="3888593"/>
            </a:xfrm>
          </p:grpSpPr>
          <p:sp>
            <p:nvSpPr>
              <p:cNvPr id="11" name="Speech Bubble: Rectangle with Corners Rounded 7">
                <a:extLst>
                  <a:ext uri="{FF2B5EF4-FFF2-40B4-BE49-F238E27FC236}">
                    <a16:creationId xmlns:a16="http://schemas.microsoft.com/office/drawing/2014/main" id="{5D89C4A9-769D-82E7-F7D6-C84817C46F70}"/>
                  </a:ext>
                </a:extLst>
              </p:cNvPr>
              <p:cNvSpPr/>
              <p:nvPr/>
            </p:nvSpPr>
            <p:spPr bwMode="auto">
              <a:xfrm>
                <a:off x="491707" y="2602365"/>
                <a:ext cx="5078205" cy="3888593"/>
              </a:xfrm>
              <a:prstGeom prst="wedgeRoundRectCallout">
                <a:avLst>
                  <a:gd name="adj1" fmla="val -21980"/>
                  <a:gd name="adj2" fmla="val 60579"/>
                  <a:gd name="adj3" fmla="val 16667"/>
                </a:avLst>
              </a:prstGeom>
              <a:solidFill>
                <a:schemeClr val="accent5">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2" name="Text Placeholder 5">
                <a:extLst>
                  <a:ext uri="{FF2B5EF4-FFF2-40B4-BE49-F238E27FC236}">
                    <a16:creationId xmlns:a16="http://schemas.microsoft.com/office/drawing/2014/main" id="{4D2747E5-4258-0792-3C2D-5EE5982FC678}"/>
                  </a:ext>
                </a:extLst>
              </p:cNvPr>
              <p:cNvSpPr txBox="1">
                <a:spLocks/>
              </p:cNvSpPr>
              <p:nvPr/>
            </p:nvSpPr>
            <p:spPr>
              <a:xfrm>
                <a:off x="739794" y="2741647"/>
                <a:ext cx="4522961" cy="760133"/>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defTabSz="1865484">
                  <a:buNone/>
                  <a:defRPr/>
                </a:pPr>
                <a:r>
                  <a:rPr lang="en-US" sz="2000">
                    <a:latin typeface="Segoe UI"/>
                    <a:cs typeface="Segoe UI Semilight"/>
                  </a:rPr>
                  <a:t>Alligators or crocodiles?</a:t>
                </a:r>
                <a:endParaRPr lang="en-US" sz="2000">
                  <a:latin typeface="Segoe UI"/>
                  <a:cs typeface="Segoe UI"/>
                </a:endParaRPr>
              </a:p>
            </p:txBody>
          </p:sp>
        </p:grpSp>
        <p:pic>
          <p:nvPicPr>
            <p:cNvPr id="10" name="Picture 9" descr="A group of crocodiles on the ground&#10;&#10;Description automatically generated">
              <a:extLst>
                <a:ext uri="{FF2B5EF4-FFF2-40B4-BE49-F238E27FC236}">
                  <a16:creationId xmlns:a16="http://schemas.microsoft.com/office/drawing/2014/main" id="{81A9012A-B05D-76A1-06B4-35155C8928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841" y="2060428"/>
              <a:ext cx="2355460" cy="1572269"/>
            </a:xfrm>
            <a:prstGeom prst="rect">
              <a:avLst/>
            </a:prstGeom>
          </p:spPr>
        </p:pic>
      </p:grpSp>
      <p:grpSp>
        <p:nvGrpSpPr>
          <p:cNvPr id="13" name="Group 12">
            <a:extLst>
              <a:ext uri="{FF2B5EF4-FFF2-40B4-BE49-F238E27FC236}">
                <a16:creationId xmlns:a16="http://schemas.microsoft.com/office/drawing/2014/main" id="{2723FEF0-14E3-537C-D4CD-D895AC598A77}"/>
              </a:ext>
            </a:extLst>
          </p:cNvPr>
          <p:cNvGrpSpPr/>
          <p:nvPr/>
        </p:nvGrpSpPr>
        <p:grpSpPr>
          <a:xfrm>
            <a:off x="8679963" y="1341120"/>
            <a:ext cx="2675329" cy="1033682"/>
            <a:chOff x="9290153" y="3784028"/>
            <a:chExt cx="2675329" cy="1033682"/>
          </a:xfrm>
        </p:grpSpPr>
        <p:sp>
          <p:nvSpPr>
            <p:cNvPr id="14" name="Speech Bubble: Rectangle with Corners Rounded 18">
              <a:extLst>
                <a:ext uri="{FF2B5EF4-FFF2-40B4-BE49-F238E27FC236}">
                  <a16:creationId xmlns:a16="http://schemas.microsoft.com/office/drawing/2014/main" id="{A0D629AA-7D5E-6F1B-AA97-88FE896F2193}"/>
                </a:ext>
              </a:extLst>
            </p:cNvPr>
            <p:cNvSpPr/>
            <p:nvPr/>
          </p:nvSpPr>
          <p:spPr bwMode="auto">
            <a:xfrm>
              <a:off x="9290153" y="3784028"/>
              <a:ext cx="2675329" cy="1033682"/>
            </a:xfrm>
            <a:prstGeom prst="wedgeRoundRectCallout">
              <a:avLst>
                <a:gd name="adj1" fmla="val -35486"/>
                <a:gd name="adj2" fmla="val 88595"/>
                <a:gd name="adj3" fmla="val 16667"/>
              </a:avLst>
            </a:prstGeom>
            <a:solidFill>
              <a:schemeClr val="accent5">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5" name="TextBox 12">
              <a:extLst>
                <a:ext uri="{FF2B5EF4-FFF2-40B4-BE49-F238E27FC236}">
                  <a16:creationId xmlns:a16="http://schemas.microsoft.com/office/drawing/2014/main" id="{F4224204-5F63-BE66-29CC-7DAC834F63ED}"/>
                </a:ext>
              </a:extLst>
            </p:cNvPr>
            <p:cNvSpPr txBox="1"/>
            <p:nvPr/>
          </p:nvSpPr>
          <p:spPr>
            <a:xfrm>
              <a:off x="9465745" y="3870476"/>
              <a:ext cx="2324144" cy="830997"/>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r>
                <a:rPr lang="en-US" sz="1800">
                  <a:latin typeface="Segoe UI"/>
                  <a:ea typeface="Menlo"/>
                  <a:cs typeface="Menlo"/>
                </a:rPr>
                <a:t>Those appear to be crocodiles, based on their V-shaped snouts.</a:t>
              </a:r>
              <a:endParaRPr lang="en-US" sz="1800" baseline="30000">
                <a:latin typeface="Segoe UI"/>
                <a:cs typeface="Segoe UI"/>
              </a:endParaRPr>
            </a:p>
          </p:txBody>
        </p:sp>
      </p:grpSp>
      <p:grpSp>
        <p:nvGrpSpPr>
          <p:cNvPr id="18" name="Group 17">
            <a:extLst>
              <a:ext uri="{FF2B5EF4-FFF2-40B4-BE49-F238E27FC236}">
                <a16:creationId xmlns:a16="http://schemas.microsoft.com/office/drawing/2014/main" id="{72E25D92-99B5-0A1E-A507-1F250222763A}"/>
              </a:ext>
            </a:extLst>
          </p:cNvPr>
          <p:cNvGrpSpPr/>
          <p:nvPr/>
        </p:nvGrpSpPr>
        <p:grpSpPr>
          <a:xfrm>
            <a:off x="4780558" y="2792082"/>
            <a:ext cx="2493207" cy="2033890"/>
            <a:chOff x="4053083" y="1481635"/>
            <a:chExt cx="2493207" cy="2033890"/>
          </a:xfrm>
        </p:grpSpPr>
        <p:sp>
          <p:nvSpPr>
            <p:cNvPr id="19" name="Arrow: Right 10">
              <a:extLst>
                <a:ext uri="{FF2B5EF4-FFF2-40B4-BE49-F238E27FC236}">
                  <a16:creationId xmlns:a16="http://schemas.microsoft.com/office/drawing/2014/main" id="{95FFC6BB-6C82-A4AA-BAB7-655942DE3AD4}"/>
                </a:ext>
              </a:extLst>
            </p:cNvPr>
            <p:cNvSpPr/>
            <p:nvPr/>
          </p:nvSpPr>
          <p:spPr bwMode="auto">
            <a:xfrm>
              <a:off x="4053083" y="2555429"/>
              <a:ext cx="947365" cy="293302"/>
            </a:xfrm>
            <a:prstGeom prst="rightArrow">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0" name="Arrow: Right 10">
              <a:extLst>
                <a:ext uri="{FF2B5EF4-FFF2-40B4-BE49-F238E27FC236}">
                  <a16:creationId xmlns:a16="http://schemas.microsoft.com/office/drawing/2014/main" id="{01D7ACE7-FC59-9EE8-F5AA-0E9FD9EDA933}"/>
                </a:ext>
              </a:extLst>
            </p:cNvPr>
            <p:cNvSpPr/>
            <p:nvPr/>
          </p:nvSpPr>
          <p:spPr bwMode="auto">
            <a:xfrm>
              <a:off x="4053084" y="1630842"/>
              <a:ext cx="947364" cy="293302"/>
            </a:xfrm>
            <a:prstGeom prst="rightArrow">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21" name="Graphic 20" descr="Server with solid fill">
              <a:extLst>
                <a:ext uri="{FF2B5EF4-FFF2-40B4-BE49-F238E27FC236}">
                  <a16:creationId xmlns:a16="http://schemas.microsoft.com/office/drawing/2014/main" id="{72097CBC-BE53-3CC2-CEDB-56CCDDFB07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96294" y="1481635"/>
              <a:ext cx="1549996" cy="1549996"/>
            </a:xfrm>
            <a:prstGeom prst="rect">
              <a:avLst/>
            </a:prstGeom>
          </p:spPr>
        </p:pic>
        <p:sp>
          <p:nvSpPr>
            <p:cNvPr id="22" name="Text Placeholder 5">
              <a:extLst>
                <a:ext uri="{FF2B5EF4-FFF2-40B4-BE49-F238E27FC236}">
                  <a16:creationId xmlns:a16="http://schemas.microsoft.com/office/drawing/2014/main" id="{C32CD1AC-DBAA-B5F9-3F2C-189DF70EE386}"/>
                </a:ext>
              </a:extLst>
            </p:cNvPr>
            <p:cNvSpPr txBox="1">
              <a:spLocks/>
            </p:cNvSpPr>
            <p:nvPr/>
          </p:nvSpPr>
          <p:spPr>
            <a:xfrm>
              <a:off x="5170714" y="3053860"/>
              <a:ext cx="1179237" cy="461665"/>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2000">
                  <a:latin typeface="+mj-lt"/>
                  <a:cs typeface="Segoe UI Semilight"/>
                </a:rPr>
                <a:t>Backend</a:t>
              </a:r>
              <a:endParaRPr lang="en-US" sz="2000">
                <a:cs typeface="Arial"/>
              </a:endParaRPr>
            </a:p>
          </p:txBody>
        </p:sp>
      </p:grpSp>
      <p:grpSp>
        <p:nvGrpSpPr>
          <p:cNvPr id="23" name="Group 22">
            <a:extLst>
              <a:ext uri="{FF2B5EF4-FFF2-40B4-BE49-F238E27FC236}">
                <a16:creationId xmlns:a16="http://schemas.microsoft.com/office/drawing/2014/main" id="{45310A86-18EF-0434-E84D-A8D12058592D}"/>
              </a:ext>
            </a:extLst>
          </p:cNvPr>
          <p:cNvGrpSpPr/>
          <p:nvPr/>
        </p:nvGrpSpPr>
        <p:grpSpPr>
          <a:xfrm>
            <a:off x="7331268" y="2935148"/>
            <a:ext cx="2686360" cy="1994668"/>
            <a:chOff x="6603793" y="1624701"/>
            <a:chExt cx="2686360" cy="1994668"/>
          </a:xfrm>
        </p:grpSpPr>
        <p:sp>
          <p:nvSpPr>
            <p:cNvPr id="24" name="Text Placeholder 5">
              <a:extLst>
                <a:ext uri="{FF2B5EF4-FFF2-40B4-BE49-F238E27FC236}">
                  <a16:creationId xmlns:a16="http://schemas.microsoft.com/office/drawing/2014/main" id="{9BE4B902-1913-DED2-83CF-6A51C8285751}"/>
                </a:ext>
              </a:extLst>
            </p:cNvPr>
            <p:cNvSpPr txBox="1">
              <a:spLocks/>
            </p:cNvSpPr>
            <p:nvPr/>
          </p:nvSpPr>
          <p:spPr>
            <a:xfrm>
              <a:off x="7498287" y="3127314"/>
              <a:ext cx="1791866" cy="492055"/>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2000">
                  <a:latin typeface="+mj-lt"/>
                  <a:cs typeface="Segoe UI Semilight"/>
                </a:rPr>
                <a:t>LLM</a:t>
              </a:r>
              <a:endParaRPr lang="en-US" sz="2000">
                <a:cs typeface="Arial"/>
              </a:endParaRPr>
            </a:p>
          </p:txBody>
        </p:sp>
        <p:pic>
          <p:nvPicPr>
            <p:cNvPr id="25" name="Graphic 2">
              <a:extLst>
                <a:ext uri="{FF2B5EF4-FFF2-40B4-BE49-F238E27FC236}">
                  <a16:creationId xmlns:a16="http://schemas.microsoft.com/office/drawing/2014/main" id="{7C75E628-775F-1015-C39A-0917377FBBD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03542" y="1624701"/>
              <a:ext cx="1308830" cy="1384122"/>
            </a:xfrm>
            <a:prstGeom prst="rect">
              <a:avLst/>
            </a:prstGeom>
          </p:spPr>
        </p:pic>
        <p:sp>
          <p:nvSpPr>
            <p:cNvPr id="26" name="Arrow: Right 10">
              <a:extLst>
                <a:ext uri="{FF2B5EF4-FFF2-40B4-BE49-F238E27FC236}">
                  <a16:creationId xmlns:a16="http://schemas.microsoft.com/office/drawing/2014/main" id="{DE5C55A6-E3CB-8B48-DAD7-93EE64960A62}"/>
                </a:ext>
              </a:extLst>
            </p:cNvPr>
            <p:cNvSpPr/>
            <p:nvPr/>
          </p:nvSpPr>
          <p:spPr bwMode="auto">
            <a:xfrm>
              <a:off x="6603793" y="2555429"/>
              <a:ext cx="947365" cy="293302"/>
            </a:xfrm>
            <a:prstGeom prst="rightArrow">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7" name="Arrow: Right 10">
              <a:extLst>
                <a:ext uri="{FF2B5EF4-FFF2-40B4-BE49-F238E27FC236}">
                  <a16:creationId xmlns:a16="http://schemas.microsoft.com/office/drawing/2014/main" id="{08351D05-C57E-E7D8-BD1D-B9ED9294F38F}"/>
                </a:ext>
              </a:extLst>
            </p:cNvPr>
            <p:cNvSpPr/>
            <p:nvPr/>
          </p:nvSpPr>
          <p:spPr bwMode="auto">
            <a:xfrm>
              <a:off x="6603794" y="1630842"/>
              <a:ext cx="947364" cy="293302"/>
            </a:xfrm>
            <a:prstGeom prst="rightArrow">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20683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C0CE-4EC8-150F-B389-351A73A56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7DBD12-33BC-CCD7-3B73-B3E1E8240C26}"/>
              </a:ext>
            </a:extLst>
          </p:cNvPr>
          <p:cNvSpPr>
            <a:spLocks noGrp="1"/>
          </p:cNvSpPr>
          <p:nvPr>
            <p:ph type="title"/>
          </p:nvPr>
        </p:nvSpPr>
        <p:spPr/>
        <p:txBody>
          <a:bodyPr/>
          <a:lstStyle/>
          <a:p>
            <a:r>
              <a:rPr lang="es-MX"/>
              <a:t>Chat with vision: App architecture</a:t>
            </a:r>
          </a:p>
        </p:txBody>
      </p:sp>
      <p:grpSp>
        <p:nvGrpSpPr>
          <p:cNvPr id="34" name="Group 33">
            <a:extLst>
              <a:ext uri="{FF2B5EF4-FFF2-40B4-BE49-F238E27FC236}">
                <a16:creationId xmlns:a16="http://schemas.microsoft.com/office/drawing/2014/main" id="{89F26F2B-8440-2646-C189-217900948A2C}"/>
              </a:ext>
            </a:extLst>
          </p:cNvPr>
          <p:cNvGrpSpPr/>
          <p:nvPr/>
        </p:nvGrpSpPr>
        <p:grpSpPr>
          <a:xfrm>
            <a:off x="5752626" y="1871453"/>
            <a:ext cx="5188522" cy="1974043"/>
            <a:chOff x="5752626" y="1871453"/>
            <a:chExt cx="5188522" cy="1974043"/>
          </a:xfrm>
        </p:grpSpPr>
        <p:sp>
          <p:nvSpPr>
            <p:cNvPr id="35" name="Content Placeholder 4">
              <a:extLst>
                <a:ext uri="{FF2B5EF4-FFF2-40B4-BE49-F238E27FC236}">
                  <a16:creationId xmlns:a16="http://schemas.microsoft.com/office/drawing/2014/main" id="{2CC3D782-3128-D569-F5B6-54618B38350F}"/>
                </a:ext>
              </a:extLst>
            </p:cNvPr>
            <p:cNvSpPr txBox="1">
              <a:spLocks/>
            </p:cNvSpPr>
            <p:nvPr/>
          </p:nvSpPr>
          <p:spPr>
            <a:xfrm>
              <a:off x="6333184" y="1871453"/>
              <a:ext cx="3933484" cy="8894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accent1">
                      <a:lumMod val="60000"/>
                      <a:lumOff val="40000"/>
                    </a:schemeClr>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Font typeface="Wingdings" panose="05000000000000000000" pitchFamily="2" charset="2"/>
                <a:buNone/>
              </a:pPr>
              <a:r>
                <a:rPr lang="en-US" sz="2400" b="1">
                  <a:solidFill>
                    <a:schemeClr val="tx1"/>
                  </a:solidFill>
                  <a:latin typeface="Segoe UI Semibold" panose="020B0502040204020203" pitchFamily="34" charset="0"/>
                  <a:cs typeface="Segoe UI Semibold" panose="020B0502040204020203" pitchFamily="34" charset="0"/>
                </a:rPr>
                <a:t>Python backend</a:t>
              </a:r>
            </a:p>
            <a:p>
              <a:pPr marL="0" indent="0" algn="ctr">
                <a:spcAft>
                  <a:spcPts val="600"/>
                </a:spcAft>
                <a:buFont typeface="Wingdings" panose="05000000000000000000" pitchFamily="2" charset="2"/>
                <a:buNone/>
              </a:pPr>
              <a:r>
                <a:rPr lang="en-US" sz="2400">
                  <a:solidFill>
                    <a:schemeClr val="tx1"/>
                  </a:solidFill>
                  <a:latin typeface="Segoe UI" panose="020B0502040204020203" pitchFamily="34" charset="0"/>
                </a:rPr>
                <a:t>(Quart, </a:t>
              </a:r>
              <a:r>
                <a:rPr lang="en-US" sz="2400" err="1">
                  <a:solidFill>
                    <a:schemeClr val="tx1"/>
                  </a:solidFill>
                  <a:latin typeface="Segoe UI" panose="020B0502040204020203" pitchFamily="34" charset="0"/>
                </a:rPr>
                <a:t>Uvicorn</a:t>
              </a:r>
              <a:r>
                <a:rPr lang="en-US" sz="2400">
                  <a:solidFill>
                    <a:schemeClr val="tx1"/>
                  </a:solidFill>
                  <a:latin typeface="Segoe UI" panose="020B0502040204020203" pitchFamily="34" charset="0"/>
                </a:rPr>
                <a:t>)</a:t>
              </a:r>
            </a:p>
          </p:txBody>
        </p:sp>
        <p:sp>
          <p:nvSpPr>
            <p:cNvPr id="36" name="TextBox 35">
              <a:extLst>
                <a:ext uri="{FF2B5EF4-FFF2-40B4-BE49-F238E27FC236}">
                  <a16:creationId xmlns:a16="http://schemas.microsoft.com/office/drawing/2014/main" id="{C82F53A5-6E98-9084-B8A0-C5E66387EF63}"/>
                </a:ext>
              </a:extLst>
            </p:cNvPr>
            <p:cNvSpPr txBox="1"/>
            <p:nvPr/>
          </p:nvSpPr>
          <p:spPr>
            <a:xfrm>
              <a:off x="7467734" y="2934145"/>
              <a:ext cx="3473414" cy="646331"/>
            </a:xfrm>
            <a:prstGeom prst="rect">
              <a:avLst/>
            </a:prstGeom>
            <a:solidFill>
              <a:schemeClr val="bg1">
                <a:lumMod val="95000"/>
              </a:schemeClr>
            </a:solidFill>
          </p:spPr>
          <p:txBody>
            <a:bodyPr wrap="square" rtlCol="0">
              <a:spAutoFit/>
            </a:bodyPr>
            <a:lstStyle/>
            <a:p>
              <a:r>
                <a:rPr lang="en-US" i="1">
                  <a:latin typeface="Consolas" panose="020B0609020204030204" pitchFamily="49" charset="0"/>
                  <a:cs typeface="Consolas" panose="020B0609020204030204" pitchFamily="49" charset="0"/>
                </a:rPr>
                <a:t>@bp.post("/chat/stream")</a:t>
              </a:r>
              <a:endParaRPr lang="en-US">
                <a:latin typeface="Consolas" panose="020B0609020204030204" pitchFamily="49" charset="0"/>
                <a:cs typeface="Consolas" panose="020B0609020204030204" pitchFamily="49" charset="0"/>
              </a:endParaRPr>
            </a:p>
            <a:p>
              <a:r>
                <a:rPr lang="en-US">
                  <a:latin typeface="Consolas" panose="020B0609020204030204" pitchFamily="49" charset="0"/>
                  <a:cs typeface="Consolas" panose="020B0609020204030204" pitchFamily="49" charset="0"/>
                </a:rPr>
                <a:t>async def chat_handler()</a:t>
              </a:r>
            </a:p>
          </p:txBody>
        </p:sp>
        <p:cxnSp>
          <p:nvCxnSpPr>
            <p:cNvPr id="37" name="Straight Arrow Connector 36">
              <a:extLst>
                <a:ext uri="{FF2B5EF4-FFF2-40B4-BE49-F238E27FC236}">
                  <a16:creationId xmlns:a16="http://schemas.microsoft.com/office/drawing/2014/main" id="{D1D00C4B-6BA3-B344-8921-F49A735C58D5}"/>
                </a:ext>
              </a:extLst>
            </p:cNvPr>
            <p:cNvCxnSpPr>
              <a:cxnSpLocks/>
            </p:cNvCxnSpPr>
            <p:nvPr/>
          </p:nvCxnSpPr>
          <p:spPr>
            <a:xfrm>
              <a:off x="5752626" y="3420578"/>
              <a:ext cx="1715108"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7AEAA49E-1685-005B-E170-1151E8289ADA}"/>
                </a:ext>
              </a:extLst>
            </p:cNvPr>
            <p:cNvSpPr txBox="1"/>
            <p:nvPr/>
          </p:nvSpPr>
          <p:spPr>
            <a:xfrm>
              <a:off x="5767480" y="3476164"/>
              <a:ext cx="1887373" cy="369332"/>
            </a:xfrm>
            <a:prstGeom prst="rect">
              <a:avLst/>
            </a:prstGeom>
            <a:noFill/>
          </p:spPr>
          <p:txBody>
            <a:bodyPr wrap="square">
              <a:spAutoFit/>
            </a:bodyPr>
            <a:lstStyle/>
            <a:p>
              <a:r>
                <a:rPr lang="en-US">
                  <a:solidFill>
                    <a:schemeClr val="tx1"/>
                  </a:solidFill>
                  <a:latin typeface="Aptos" panose="020B0004020202020204" pitchFamily="34" charset="0"/>
                </a:rPr>
                <a:t>base64 image +</a:t>
              </a:r>
            </a:p>
          </p:txBody>
        </p:sp>
      </p:grpSp>
      <p:sp>
        <p:nvSpPr>
          <p:cNvPr id="40" name="Content Placeholder 4">
            <a:extLst>
              <a:ext uri="{FF2B5EF4-FFF2-40B4-BE49-F238E27FC236}">
                <a16:creationId xmlns:a16="http://schemas.microsoft.com/office/drawing/2014/main" id="{77B79BCF-CB3D-7CA2-CEFB-7BFC67F1DB34}"/>
              </a:ext>
            </a:extLst>
          </p:cNvPr>
          <p:cNvSpPr txBox="1">
            <a:spLocks/>
          </p:cNvSpPr>
          <p:nvPr/>
        </p:nvSpPr>
        <p:spPr>
          <a:xfrm>
            <a:off x="1824066" y="1871453"/>
            <a:ext cx="2844600" cy="8894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accent1">
                    <a:lumMod val="60000"/>
                    <a:lumOff val="40000"/>
                  </a:schemeClr>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Font typeface="Wingdings" panose="05000000000000000000" pitchFamily="2" charset="2"/>
              <a:buNone/>
            </a:pPr>
            <a:r>
              <a:rPr lang="en-US" sz="2400" b="1">
                <a:solidFill>
                  <a:schemeClr val="tx1"/>
                </a:solidFill>
                <a:latin typeface="Segoe UI Semibold" panose="020B0502040204020203" pitchFamily="34" charset="0"/>
                <a:cs typeface="Segoe UI Semibold" panose="020B0502040204020203" pitchFamily="34" charset="0"/>
              </a:rPr>
              <a:t>Frontend</a:t>
            </a:r>
          </a:p>
          <a:p>
            <a:pPr marL="0" indent="0" algn="ctr">
              <a:spcAft>
                <a:spcPts val="600"/>
              </a:spcAft>
              <a:buFont typeface="Wingdings" panose="05000000000000000000" pitchFamily="2" charset="2"/>
              <a:buNone/>
            </a:pPr>
            <a:r>
              <a:rPr lang="en-US" sz="2400">
                <a:solidFill>
                  <a:schemeClr val="tx1"/>
                </a:solidFill>
                <a:latin typeface="Segoe UI" panose="020B0502040204020203" pitchFamily="34" charset="0"/>
              </a:rPr>
              <a:t>(HTML, JavaScript)</a:t>
            </a:r>
          </a:p>
        </p:txBody>
      </p:sp>
      <p:grpSp>
        <p:nvGrpSpPr>
          <p:cNvPr id="42" name="Group 41">
            <a:extLst>
              <a:ext uri="{FF2B5EF4-FFF2-40B4-BE49-F238E27FC236}">
                <a16:creationId xmlns:a16="http://schemas.microsoft.com/office/drawing/2014/main" id="{EB315A6D-0B7C-E7C7-5EA8-486107A767E0}"/>
              </a:ext>
            </a:extLst>
          </p:cNvPr>
          <p:cNvGrpSpPr/>
          <p:nvPr/>
        </p:nvGrpSpPr>
        <p:grpSpPr>
          <a:xfrm>
            <a:off x="8428856" y="3580476"/>
            <a:ext cx="1548000" cy="893022"/>
            <a:chOff x="8428856" y="3580476"/>
            <a:chExt cx="1548000" cy="893022"/>
          </a:xfrm>
        </p:grpSpPr>
        <p:cxnSp>
          <p:nvCxnSpPr>
            <p:cNvPr id="43" name="Straight Arrow Connector 42">
              <a:extLst>
                <a:ext uri="{FF2B5EF4-FFF2-40B4-BE49-F238E27FC236}">
                  <a16:creationId xmlns:a16="http://schemas.microsoft.com/office/drawing/2014/main" id="{D4339EFD-E9BA-81B8-C5B1-4CA3401ABCDA}"/>
                </a:ext>
              </a:extLst>
            </p:cNvPr>
            <p:cNvCxnSpPr>
              <a:cxnSpLocks/>
            </p:cNvCxnSpPr>
            <p:nvPr/>
          </p:nvCxnSpPr>
          <p:spPr>
            <a:xfrm>
              <a:off x="9202856" y="3580476"/>
              <a:ext cx="0" cy="397164"/>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4" name="Rectangle: Rounded Corners 10">
              <a:extLst>
                <a:ext uri="{FF2B5EF4-FFF2-40B4-BE49-F238E27FC236}">
                  <a16:creationId xmlns:a16="http://schemas.microsoft.com/office/drawing/2014/main" id="{CD33DC83-1379-28B1-710B-25C77AE3CEF4}"/>
                </a:ext>
              </a:extLst>
            </p:cNvPr>
            <p:cNvSpPr/>
            <p:nvPr/>
          </p:nvSpPr>
          <p:spPr bwMode="auto">
            <a:xfrm>
              <a:off x="8428856" y="3980115"/>
              <a:ext cx="1548000" cy="493383"/>
            </a:xfrm>
            <a:prstGeom prst="roundRect">
              <a:avLst>
                <a:gd name="adj" fmla="val 50000"/>
              </a:avLst>
            </a:prstGeom>
            <a:solidFill>
              <a:schemeClr val="accent5"/>
            </a:solidFill>
            <a:ln w="63897" cap="flat">
              <a:noFill/>
              <a:prstDash val="solid"/>
              <a:miter/>
            </a:ln>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a:ln w="3175">
                    <a:noFill/>
                  </a:ln>
                  <a:gradFill>
                    <a:gsLst>
                      <a:gs pos="28000">
                        <a:srgbClr val="FFFFFF"/>
                      </a:gs>
                      <a:gs pos="53147">
                        <a:srgbClr val="FFFFFF"/>
                      </a:gs>
                    </a:gsLst>
                    <a:path path="circle">
                      <a:fillToRect l="100000" b="100000"/>
                    </a:path>
                  </a:gradFill>
                  <a:effectLst/>
                  <a:uLnTx/>
                  <a:uFillTx/>
                  <a:latin typeface="Aptos" panose="020B0004020202020204" pitchFamily="34" charset="0"/>
                  <a:cs typeface="Segoe UI"/>
                </a:rPr>
                <a:t>Model</a:t>
              </a:r>
              <a:endParaRPr kumimoji="0" lang="en-US" sz="1800" b="1" i="0" u="none" strike="noStrike" kern="1200" cap="none" spc="0" normalizeH="0" baseline="0" noProof="0">
                <a:ln w="3175">
                  <a:noFill/>
                </a:ln>
                <a:gradFill>
                  <a:gsLst>
                    <a:gs pos="28000">
                      <a:srgbClr val="FFFFFF"/>
                    </a:gs>
                    <a:gs pos="53147">
                      <a:srgbClr val="FFFFFF"/>
                    </a:gs>
                  </a:gsLst>
                  <a:path path="circle">
                    <a:fillToRect l="100000" b="100000"/>
                  </a:path>
                </a:gradFill>
                <a:effectLst/>
                <a:uLnTx/>
                <a:uFillTx/>
                <a:latin typeface="Aptos" panose="020B0004020202020204" pitchFamily="34" charset="0"/>
                <a:cs typeface="Segoe UI"/>
              </a:endParaRPr>
            </a:p>
          </p:txBody>
        </p:sp>
      </p:grpSp>
      <p:sp>
        <p:nvSpPr>
          <p:cNvPr id="46" name="TextBox 45">
            <a:extLst>
              <a:ext uri="{FF2B5EF4-FFF2-40B4-BE49-F238E27FC236}">
                <a16:creationId xmlns:a16="http://schemas.microsoft.com/office/drawing/2014/main" id="{CB5069CD-89DE-0361-75C9-C4D23DC448C9}"/>
              </a:ext>
            </a:extLst>
          </p:cNvPr>
          <p:cNvSpPr txBox="1"/>
          <p:nvPr/>
        </p:nvSpPr>
        <p:spPr>
          <a:xfrm>
            <a:off x="5817416" y="4738602"/>
            <a:ext cx="2156152" cy="369332"/>
          </a:xfrm>
          <a:prstGeom prst="rect">
            <a:avLst/>
          </a:prstGeom>
          <a:noFill/>
        </p:spPr>
        <p:txBody>
          <a:bodyPr wrap="square">
            <a:spAutoFit/>
          </a:bodyPr>
          <a:lstStyle/>
          <a:p>
            <a:r>
              <a:rPr lang="en-US" sz="1800">
                <a:solidFill>
                  <a:schemeClr val="tx1"/>
                </a:solidFill>
                <a:latin typeface="Segoe UI" panose="020B0502040204020203" pitchFamily="34" charset="0"/>
              </a:rPr>
              <a:t>Streamed response</a:t>
            </a:r>
            <a:endParaRPr lang="en-US"/>
          </a:p>
        </p:txBody>
      </p:sp>
      <p:sp>
        <p:nvSpPr>
          <p:cNvPr id="47" name="TextBox 46">
            <a:extLst>
              <a:ext uri="{FF2B5EF4-FFF2-40B4-BE49-F238E27FC236}">
                <a16:creationId xmlns:a16="http://schemas.microsoft.com/office/drawing/2014/main" id="{6E8FE5B7-2F8F-710F-7205-82A2CB7301F5}"/>
              </a:ext>
            </a:extLst>
          </p:cNvPr>
          <p:cNvSpPr txBox="1"/>
          <p:nvPr/>
        </p:nvSpPr>
        <p:spPr>
          <a:xfrm>
            <a:off x="5898922" y="5240962"/>
            <a:ext cx="3310284" cy="1400383"/>
          </a:xfrm>
          <a:prstGeom prst="rect">
            <a:avLst/>
          </a:prstGeom>
          <a:solidFill>
            <a:schemeClr val="bg1">
              <a:lumMod val="95000"/>
            </a:schemeClr>
          </a:solidFill>
        </p:spPr>
        <p:txBody>
          <a:bodyPr wrap="square">
            <a:spAutoFit/>
          </a:bodyPr>
          <a:lstStyle/>
          <a:p>
            <a:r>
              <a:rPr lang="en-US" sz="1700">
                <a:latin typeface="Consolas" panose="020B0609020204030204" pitchFamily="49" charset="0"/>
                <a:cs typeface="Consolas" panose="020B0609020204030204" pitchFamily="49" charset="0"/>
              </a:rPr>
              <a:t>Transfer-Encoding: Chunked</a:t>
            </a:r>
          </a:p>
          <a:p>
            <a:r>
              <a:rPr lang="en-US" sz="1700">
                <a:latin typeface="Consolas" panose="020B0609020204030204" pitchFamily="49" charset="0"/>
                <a:cs typeface="Consolas" panose="020B0609020204030204" pitchFamily="49" charset="0"/>
              </a:rPr>
              <a:t>{"content": "He"}</a:t>
            </a:r>
          </a:p>
          <a:p>
            <a:r>
              <a:rPr lang="en-US" sz="1700">
                <a:latin typeface="Consolas" panose="020B0609020204030204" pitchFamily="49" charset="0"/>
                <a:cs typeface="Consolas" panose="020B0609020204030204" pitchFamily="49" charset="0"/>
              </a:rPr>
              <a:t>{"content": "llo"}</a:t>
            </a:r>
          </a:p>
          <a:p>
            <a:r>
              <a:rPr lang="en-US" sz="1700">
                <a:latin typeface="Consolas" panose="020B0609020204030204" pitchFamily="49" charset="0"/>
                <a:cs typeface="Consolas" panose="020B0609020204030204" pitchFamily="49" charset="0"/>
              </a:rPr>
              <a:t>{"content":  "It's"}</a:t>
            </a:r>
          </a:p>
          <a:p>
            <a:r>
              <a:rPr lang="en-US" sz="1700">
                <a:latin typeface="Consolas" panose="020B0609020204030204" pitchFamily="49" charset="0"/>
                <a:cs typeface="Consolas" panose="020B0609020204030204" pitchFamily="49" charset="0"/>
              </a:rPr>
              <a:t>{"content": "me"}</a:t>
            </a:r>
          </a:p>
        </p:txBody>
      </p:sp>
      <p:cxnSp>
        <p:nvCxnSpPr>
          <p:cNvPr id="49" name="Straight Arrow Connector 69">
            <a:extLst>
              <a:ext uri="{FF2B5EF4-FFF2-40B4-BE49-F238E27FC236}">
                <a16:creationId xmlns:a16="http://schemas.microsoft.com/office/drawing/2014/main" id="{6C32F2D9-87B6-C9A3-5E9A-F26BBC0479DD}"/>
              </a:ext>
            </a:extLst>
          </p:cNvPr>
          <p:cNvCxnSpPr>
            <a:cxnSpLocks/>
          </p:cNvCxnSpPr>
          <p:nvPr/>
        </p:nvCxnSpPr>
        <p:spPr>
          <a:xfrm rot="10800000" flipV="1">
            <a:off x="5817416" y="4479848"/>
            <a:ext cx="3391790" cy="628086"/>
          </a:xfrm>
          <a:prstGeom prst="bentConnector3">
            <a:avLst>
              <a:gd name="adj1" fmla="val -414"/>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pic>
        <p:nvPicPr>
          <p:cNvPr id="51" name="Picture 50" descr="A group of crocodiles on the ground&#10;&#10;AI-generated content may be incorrect.">
            <a:extLst>
              <a:ext uri="{FF2B5EF4-FFF2-40B4-BE49-F238E27FC236}">
                <a16:creationId xmlns:a16="http://schemas.microsoft.com/office/drawing/2014/main" id="{BF19A9CE-5B1A-0281-C33C-057FBA9BC16B}"/>
              </a:ext>
            </a:extLst>
          </p:cNvPr>
          <p:cNvPicPr>
            <a:picLocks noChangeAspect="1"/>
          </p:cNvPicPr>
          <p:nvPr/>
        </p:nvPicPr>
        <p:blipFill>
          <a:blip r:embed="rId3">
            <a:extLst>
              <a:ext uri="{28A0092B-C50C-407E-A947-70E740481C1C}">
                <a14:useLocalDpi xmlns:a14="http://schemas.microsoft.com/office/drawing/2010/main" val="0"/>
              </a:ext>
            </a:extLst>
          </a:blip>
          <a:srcRect l="2803" t="3743" r="3979" b="59231"/>
          <a:stretch/>
        </p:blipFill>
        <p:spPr>
          <a:xfrm>
            <a:off x="1348148" y="2898529"/>
            <a:ext cx="4336034" cy="1647346"/>
          </a:xfrm>
          <a:prstGeom prst="rect">
            <a:avLst/>
          </a:prstGeom>
          <a:ln>
            <a:noFill/>
          </a:ln>
        </p:spPr>
      </p:pic>
      <p:pic>
        <p:nvPicPr>
          <p:cNvPr id="53" name="Picture 52" descr="A screenshot of a computer&#10;&#10;AI-generated content may be incorrect.">
            <a:extLst>
              <a:ext uri="{FF2B5EF4-FFF2-40B4-BE49-F238E27FC236}">
                <a16:creationId xmlns:a16="http://schemas.microsoft.com/office/drawing/2014/main" id="{F5215696-EA52-98A8-501E-F315DDBCBB64}"/>
              </a:ext>
            </a:extLst>
          </p:cNvPr>
          <p:cNvPicPr>
            <a:picLocks noChangeAspect="1"/>
          </p:cNvPicPr>
          <p:nvPr/>
        </p:nvPicPr>
        <p:blipFill>
          <a:blip r:embed="rId4">
            <a:extLst>
              <a:ext uri="{28A0092B-C50C-407E-A947-70E740481C1C}">
                <a14:useLocalDpi xmlns:a14="http://schemas.microsoft.com/office/drawing/2010/main" val="0"/>
              </a:ext>
            </a:extLst>
          </a:blip>
          <a:srcRect l="3561" t="3699" r="3905" b="55896"/>
          <a:stretch/>
        </p:blipFill>
        <p:spPr>
          <a:xfrm>
            <a:off x="1348148" y="5205526"/>
            <a:ext cx="4411760" cy="1226850"/>
          </a:xfrm>
          <a:prstGeom prst="rect">
            <a:avLst/>
          </a:prstGeom>
          <a:ln>
            <a:solidFill>
              <a:schemeClr val="tx1"/>
            </a:solidFill>
          </a:ln>
        </p:spPr>
      </p:pic>
      <p:pic>
        <p:nvPicPr>
          <p:cNvPr id="54" name="Picture 53" descr="A group of crocodiles on the ground&#10;&#10;AI-generated content may be incorrect.">
            <a:extLst>
              <a:ext uri="{FF2B5EF4-FFF2-40B4-BE49-F238E27FC236}">
                <a16:creationId xmlns:a16="http://schemas.microsoft.com/office/drawing/2014/main" id="{4B1A1EA8-125B-3A8B-D72D-1D86D3E2A3E1}"/>
              </a:ext>
            </a:extLst>
          </p:cNvPr>
          <p:cNvPicPr>
            <a:picLocks noChangeAspect="1"/>
          </p:cNvPicPr>
          <p:nvPr/>
        </p:nvPicPr>
        <p:blipFill>
          <a:blip r:embed="rId3">
            <a:extLst>
              <a:ext uri="{28A0092B-C50C-407E-A947-70E740481C1C}">
                <a14:useLocalDpi xmlns:a14="http://schemas.microsoft.com/office/drawing/2010/main" val="0"/>
              </a:ext>
            </a:extLst>
          </a:blip>
          <a:srcRect l="2530" t="84743" r="4249" b="6956"/>
          <a:stretch/>
        </p:blipFill>
        <p:spPr>
          <a:xfrm>
            <a:off x="1348148" y="4545875"/>
            <a:ext cx="4336034" cy="369332"/>
          </a:xfrm>
          <a:prstGeom prst="rect">
            <a:avLst/>
          </a:prstGeom>
          <a:ln>
            <a:noFill/>
          </a:ln>
        </p:spPr>
      </p:pic>
      <p:sp>
        <p:nvSpPr>
          <p:cNvPr id="55" name="Rectangle 54">
            <a:extLst>
              <a:ext uri="{FF2B5EF4-FFF2-40B4-BE49-F238E27FC236}">
                <a16:creationId xmlns:a16="http://schemas.microsoft.com/office/drawing/2014/main" id="{F7C21AEF-D2AA-2981-2BF3-99D0A8F9FC3F}"/>
              </a:ext>
            </a:extLst>
          </p:cNvPr>
          <p:cNvSpPr/>
          <p:nvPr/>
        </p:nvSpPr>
        <p:spPr>
          <a:xfrm>
            <a:off x="1348148" y="2898529"/>
            <a:ext cx="4336034" cy="2024739"/>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9BC13CD8-0E51-76CE-997F-DD5FF6E81CBF}"/>
              </a:ext>
            </a:extLst>
          </p:cNvPr>
          <p:cNvSpPr txBox="1"/>
          <p:nvPr/>
        </p:nvSpPr>
        <p:spPr>
          <a:xfrm>
            <a:off x="5789669" y="3789910"/>
            <a:ext cx="1697084" cy="369332"/>
          </a:xfrm>
          <a:prstGeom prst="rect">
            <a:avLst/>
          </a:prstGeom>
          <a:noFill/>
        </p:spPr>
        <p:txBody>
          <a:bodyPr wrap="square">
            <a:spAutoFit/>
          </a:bodyPr>
          <a:lstStyle/>
          <a:p>
            <a:r>
              <a:rPr lang="en-US">
                <a:latin typeface="Aptos" panose="020B0004020202020204" pitchFamily="34" charset="0"/>
              </a:rPr>
              <a:t>u</a:t>
            </a:r>
            <a:r>
              <a:rPr lang="en-US">
                <a:solidFill>
                  <a:schemeClr val="tx1"/>
                </a:solidFill>
                <a:latin typeface="Aptos" panose="020B0004020202020204" pitchFamily="34" charset="0"/>
              </a:rPr>
              <a:t>ser question</a:t>
            </a:r>
          </a:p>
        </p:txBody>
      </p:sp>
    </p:spTree>
    <p:extLst>
      <p:ext uri="{BB962C8B-B14F-4D97-AF65-F5344CB8AC3E}">
        <p14:creationId xmlns:p14="http://schemas.microsoft.com/office/powerpoint/2010/main" val="3363732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EFF10-8F52-5D9C-9658-ED35BE4BB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4CE16-41E8-E351-D8ED-559037F18EBE}"/>
              </a:ext>
            </a:extLst>
          </p:cNvPr>
          <p:cNvSpPr>
            <a:spLocks noGrp="1"/>
          </p:cNvSpPr>
          <p:nvPr>
            <p:ph type="title"/>
          </p:nvPr>
        </p:nvSpPr>
        <p:spPr/>
        <p:txBody>
          <a:bodyPr/>
          <a:lstStyle/>
          <a:p>
            <a:r>
              <a:rPr lang="es-MX"/>
              <a:t>Encoding images in frontend (Simplified)</a:t>
            </a:r>
          </a:p>
        </p:txBody>
      </p:sp>
      <p:sp>
        <p:nvSpPr>
          <p:cNvPr id="5" name="TextBox 4">
            <a:extLst>
              <a:ext uri="{FF2B5EF4-FFF2-40B4-BE49-F238E27FC236}">
                <a16:creationId xmlns:a16="http://schemas.microsoft.com/office/drawing/2014/main" id="{A5BF7D45-EC7A-0ABF-AB5A-4FB95811DDB8}"/>
              </a:ext>
            </a:extLst>
          </p:cNvPr>
          <p:cNvSpPr txBox="1"/>
          <p:nvPr/>
        </p:nvSpPr>
        <p:spPr>
          <a:xfrm>
            <a:off x="1184366" y="1698170"/>
            <a:ext cx="10232571" cy="4452501"/>
          </a:xfrm>
          <a:prstGeom prst="rect">
            <a:avLst/>
          </a:prstGeom>
          <a:solidFill>
            <a:schemeClr val="bg1">
              <a:lumMod val="95000"/>
            </a:schemeClr>
          </a:solidFill>
        </p:spPr>
        <p:txBody>
          <a:bodyPr wrap="square" rtlCol="0">
            <a:spAutoFit/>
          </a:bodyPr>
          <a:lstStyle/>
          <a:p>
            <a:pPr>
              <a:lnSpc>
                <a:spcPts val="2025"/>
              </a:lnSpc>
              <a:buNone/>
            </a:pPr>
            <a:r>
              <a:rPr lang="en-US" sz="1700" b="0">
                <a:solidFill>
                  <a:srgbClr val="0000FF"/>
                </a:solidFill>
                <a:effectLst/>
                <a:latin typeface="Consolas" panose="020B0609020204030204" pitchFamily="49" charset="0"/>
                <a:cs typeface="Consolas" panose="020B0609020204030204" pitchFamily="49" charset="0"/>
              </a:rPr>
              <a:t>const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795E26"/>
                </a:solidFill>
                <a:effectLst/>
                <a:latin typeface="Consolas" panose="020B0609020204030204" pitchFamily="49" charset="0"/>
                <a:cs typeface="Consolas" panose="020B0609020204030204" pitchFamily="49" charset="0"/>
              </a:rPr>
              <a:t>toBase64</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001080"/>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00FF"/>
                </a:solidFill>
                <a:effectLst/>
                <a:latin typeface="Consolas" panose="020B0609020204030204" pitchFamily="49" charset="0"/>
                <a:cs typeface="Consolas" panose="020B0609020204030204" pitchFamily="49" charset="0"/>
              </a:rPr>
              <a:t>=&gt;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00FF"/>
                </a:solidFill>
                <a:effectLst/>
                <a:latin typeface="Consolas" panose="020B0609020204030204" pitchFamily="49" charset="0"/>
                <a:cs typeface="Consolas" panose="020B0609020204030204" pitchFamily="49" charset="0"/>
              </a:rPr>
              <a:t>new</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267F99"/>
                </a:solidFill>
                <a:effectLst/>
                <a:latin typeface="Consolas" panose="020B0609020204030204" pitchFamily="49" charset="0"/>
                <a:cs typeface="Consolas" panose="020B0609020204030204" pitchFamily="49" charset="0"/>
              </a:rPr>
              <a:t>Promise</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795E26"/>
                </a:solidFill>
                <a:effectLst/>
                <a:latin typeface="Consolas" panose="020B0609020204030204" pitchFamily="49" charset="0"/>
                <a:cs typeface="Consolas" panose="020B0609020204030204" pitchFamily="49" charset="0"/>
              </a:rPr>
              <a:t>resolve</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795E26"/>
                </a:solidFill>
                <a:effectLst/>
                <a:latin typeface="Consolas" panose="020B0609020204030204" pitchFamily="49" charset="0"/>
                <a:cs typeface="Consolas" panose="020B0609020204030204" pitchFamily="49" charset="0"/>
              </a:rPr>
              <a:t>reject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00FF"/>
                </a:solidFill>
                <a:effectLst/>
                <a:latin typeface="Consolas" panose="020B0609020204030204" pitchFamily="49" charset="0"/>
                <a:cs typeface="Consolas" panose="020B0609020204030204" pitchFamily="49" charset="0"/>
              </a:rPr>
              <a:t>=&gt;</a:t>
            </a:r>
            <a:r>
              <a:rPr lang="en-US" sz="1700" b="0">
                <a:solidFill>
                  <a:srgbClr val="000000"/>
                </a:solidFill>
                <a:effectLst/>
                <a:latin typeface="Consolas" panose="020B0609020204030204" pitchFamily="49" charset="0"/>
                <a:cs typeface="Consolas" panose="020B0609020204030204" pitchFamily="49" charset="0"/>
              </a:rPr>
              <a:t> {</a:t>
            </a:r>
          </a:p>
          <a:p>
            <a:pPr>
              <a:lnSpc>
                <a:spcPts val="2025"/>
              </a:lnSpc>
              <a:buNone/>
            </a:pPr>
            <a:r>
              <a:rPr lang="en-US" sz="1700" b="0">
                <a:solidFill>
                  <a:srgbClr val="0000FF"/>
                </a:solidFill>
                <a:effectLst/>
                <a:latin typeface="Consolas" panose="020B0609020204030204" pitchFamily="49" charset="0"/>
                <a:cs typeface="Consolas" panose="020B0609020204030204" pitchFamily="49" charset="0"/>
              </a:rPr>
              <a:t>  const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70C1"/>
                </a:solidFill>
                <a:effectLst/>
                <a:latin typeface="Consolas" panose="020B0609020204030204" pitchFamily="49" charset="0"/>
                <a:cs typeface="Consolas" panose="020B0609020204030204" pitchFamily="49" charset="0"/>
              </a:rPr>
              <a:t>reader</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0000FF"/>
                </a:solidFill>
                <a:effectLst/>
                <a:latin typeface="Consolas" panose="020B0609020204030204" pitchFamily="49" charset="0"/>
                <a:cs typeface="Consolas" panose="020B0609020204030204" pitchFamily="49" charset="0"/>
              </a:rPr>
              <a:t>new</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267F99"/>
                </a:solidFill>
                <a:effectLst/>
                <a:latin typeface="Consolas" panose="020B0609020204030204" pitchFamily="49" charset="0"/>
                <a:cs typeface="Consolas" panose="020B0609020204030204" pitchFamily="49" charset="0"/>
              </a:rPr>
              <a:t>FileReader</a:t>
            </a: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700" b="0">
                <a:solidFill>
                  <a:srgbClr val="0070C1"/>
                </a:solidFill>
                <a:effectLst/>
                <a:latin typeface="Consolas" panose="020B0609020204030204" pitchFamily="49" charset="0"/>
                <a:cs typeface="Consolas" panose="020B0609020204030204" pitchFamily="49" charset="0"/>
              </a:rPr>
              <a:t>  reader</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795E26"/>
                </a:solidFill>
                <a:effectLst/>
                <a:latin typeface="Consolas" panose="020B0609020204030204" pitchFamily="49" charset="0"/>
                <a:cs typeface="Consolas" panose="020B0609020204030204" pitchFamily="49" charset="0"/>
              </a:rPr>
              <a:t>readAsDataURL</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1080"/>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700" b="0">
                <a:solidFill>
                  <a:srgbClr val="0070C1"/>
                </a:solidFill>
                <a:effectLst/>
                <a:latin typeface="Consolas" panose="020B0609020204030204" pitchFamily="49" charset="0"/>
                <a:cs typeface="Consolas" panose="020B0609020204030204" pitchFamily="49" charset="0"/>
              </a:rPr>
              <a:t>  reader</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795E26"/>
                </a:solidFill>
                <a:effectLst/>
                <a:latin typeface="Consolas" panose="020B0609020204030204" pitchFamily="49" charset="0"/>
                <a:cs typeface="Consolas" panose="020B0609020204030204" pitchFamily="49" charset="0"/>
              </a:rPr>
              <a:t>onload</a:t>
            </a:r>
            <a:r>
              <a:rPr lang="en-US" sz="1700" b="0">
                <a:solidFill>
                  <a:srgbClr val="000000"/>
                </a:solidFill>
                <a:effectLst/>
                <a:latin typeface="Consolas" panose="020B0609020204030204" pitchFamily="49" charset="0"/>
                <a:cs typeface="Consolas" panose="020B0609020204030204" pitchFamily="49" charset="0"/>
              </a:rPr>
              <a:t> = () </a:t>
            </a:r>
            <a:r>
              <a:rPr lang="en-US" sz="1700" b="0">
                <a:solidFill>
                  <a:srgbClr val="0000FF"/>
                </a:solidFill>
                <a:effectLst/>
                <a:latin typeface="Consolas" panose="020B0609020204030204" pitchFamily="49" charset="0"/>
                <a:cs typeface="Consolas" panose="020B0609020204030204" pitchFamily="49" charset="0"/>
              </a:rPr>
              <a:t>=&gt;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795E26"/>
                </a:solidFill>
                <a:effectLst/>
                <a:latin typeface="Consolas" panose="020B0609020204030204" pitchFamily="49" charset="0"/>
                <a:cs typeface="Consolas" panose="020B0609020204030204" pitchFamily="49" charset="0"/>
              </a:rPr>
              <a:t>resolve</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70C1"/>
                </a:solidFill>
                <a:effectLst/>
                <a:latin typeface="Consolas" panose="020B0609020204030204" pitchFamily="49" charset="0"/>
                <a:cs typeface="Consolas" panose="020B0609020204030204" pitchFamily="49" charset="0"/>
              </a:rPr>
              <a:t>reader</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1080"/>
                </a:solidFill>
                <a:effectLst/>
                <a:latin typeface="Consolas" panose="020B0609020204030204" pitchFamily="49" charset="0"/>
                <a:cs typeface="Consolas" panose="020B0609020204030204" pitchFamily="49" charset="0"/>
              </a:rPr>
              <a:t>result</a:t>
            </a: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700" b="0">
                <a:solidFill>
                  <a:srgbClr val="0070C1"/>
                </a:solidFill>
                <a:effectLst/>
                <a:latin typeface="Consolas" panose="020B0609020204030204" pitchFamily="49" charset="0"/>
                <a:cs typeface="Consolas" panose="020B0609020204030204" pitchFamily="49" charset="0"/>
              </a:rPr>
              <a:t>  reader</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795E26"/>
                </a:solidFill>
                <a:effectLst/>
                <a:latin typeface="Consolas" panose="020B0609020204030204" pitchFamily="49" charset="0"/>
                <a:cs typeface="Consolas" panose="020B0609020204030204" pitchFamily="49" charset="0"/>
              </a:rPr>
              <a:t>onerror</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795E26"/>
                </a:solidFill>
                <a:effectLst/>
                <a:latin typeface="Consolas" panose="020B0609020204030204" pitchFamily="49" charset="0"/>
                <a:cs typeface="Consolas" panose="020B0609020204030204" pitchFamily="49" charset="0"/>
              </a:rPr>
              <a:t>reject</a:t>
            </a: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pPr>
            <a:endParaRPr lang="en-US" sz="1700">
              <a:solidFill>
                <a:srgbClr val="000000"/>
              </a:solidFill>
              <a:latin typeface="Consolas" panose="020B0609020204030204" pitchFamily="49" charset="0"/>
              <a:cs typeface="Consolas" panose="020B0609020204030204" pitchFamily="49" charset="0"/>
            </a:endParaRPr>
          </a:p>
          <a:p>
            <a:pPr>
              <a:lnSpc>
                <a:spcPts val="2025"/>
              </a:lnSpc>
            </a:pPr>
            <a:r>
              <a:rPr lang="en-US" sz="1700" b="0">
                <a:solidFill>
                  <a:srgbClr val="0070C1"/>
                </a:solidFill>
                <a:effectLst/>
                <a:latin typeface="Consolas" panose="020B0609020204030204" pitchFamily="49" charset="0"/>
                <a:cs typeface="Consolas" panose="020B0609020204030204" pitchFamily="49" charset="0"/>
              </a:rPr>
              <a:t>form</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795E26"/>
                </a:solidFill>
                <a:effectLst/>
                <a:latin typeface="Consolas" panose="020B0609020204030204" pitchFamily="49" charset="0"/>
                <a:cs typeface="Consolas" panose="020B0609020204030204" pitchFamily="49" charset="0"/>
              </a:rPr>
              <a:t>addEventListener</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A31515"/>
                </a:solidFill>
                <a:effectLst/>
                <a:latin typeface="Consolas" panose="020B0609020204030204" pitchFamily="49" charset="0"/>
                <a:cs typeface="Consolas" panose="020B0609020204030204" pitchFamily="49" charset="0"/>
              </a:rPr>
              <a:t>"submit"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00FF"/>
                </a:solidFill>
                <a:effectLst/>
                <a:latin typeface="Consolas" panose="020B0609020204030204" pitchFamily="49" charset="0"/>
                <a:cs typeface="Consolas" panose="020B0609020204030204" pitchFamily="49" charset="0"/>
              </a:rPr>
              <a:t>async</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00FF"/>
                </a:solidFill>
                <a:effectLst/>
                <a:latin typeface="Consolas" panose="020B0609020204030204" pitchFamily="49" charset="0"/>
                <a:cs typeface="Consolas" panose="020B0609020204030204" pitchFamily="49" charset="0"/>
              </a:rPr>
              <a:t>function</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1080"/>
                </a:solidFill>
                <a:effectLst/>
                <a:latin typeface="Consolas" panose="020B0609020204030204" pitchFamily="49" charset="0"/>
                <a:cs typeface="Consolas" panose="020B0609020204030204" pitchFamily="49" charset="0"/>
              </a:rPr>
              <a:t>e</a:t>
            </a:r>
            <a:r>
              <a:rPr lang="en-US" sz="1700" b="0">
                <a:solidFill>
                  <a:srgbClr val="000000"/>
                </a:solidFill>
                <a:effectLst/>
                <a:latin typeface="Consolas" panose="020B0609020204030204" pitchFamily="49" charset="0"/>
                <a:cs typeface="Consolas" panose="020B0609020204030204" pitchFamily="49" charset="0"/>
              </a:rPr>
              <a:t>) {</a:t>
            </a:r>
          </a:p>
          <a:p>
            <a:pPr>
              <a:lnSpc>
                <a:spcPts val="2025"/>
              </a:lnSpc>
              <a:buNone/>
            </a:pPr>
            <a:r>
              <a:rPr lang="en-US" sz="1700" b="0">
                <a:solidFill>
                  <a:srgbClr val="0000FF"/>
                </a:solidFill>
                <a:effectLst/>
                <a:latin typeface="Consolas" panose="020B0609020204030204" pitchFamily="49" charset="0"/>
                <a:cs typeface="Consolas" panose="020B0609020204030204" pitchFamily="49" charset="0"/>
              </a:rPr>
              <a:t>  const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70C1"/>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001080"/>
                </a:solidFill>
                <a:effectLst/>
                <a:latin typeface="Consolas" panose="020B0609020204030204" pitchFamily="49" charset="0"/>
                <a:cs typeface="Consolas" panose="020B0609020204030204" pitchFamily="49" charset="0"/>
              </a:rPr>
              <a:t>document</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795E26"/>
                </a:solidFill>
                <a:effectLst/>
                <a:latin typeface="Consolas" panose="020B0609020204030204" pitchFamily="49" charset="0"/>
                <a:cs typeface="Consolas" panose="020B0609020204030204" pitchFamily="49" charset="0"/>
              </a:rPr>
              <a:t>getElementById</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A31515"/>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1080"/>
                </a:solidFill>
                <a:effectLst/>
                <a:latin typeface="Consolas" panose="020B0609020204030204" pitchFamily="49" charset="0"/>
                <a:cs typeface="Consolas" panose="020B0609020204030204" pitchFamily="49" charset="0"/>
              </a:rPr>
              <a:t>files</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98658"/>
                </a:solidFill>
                <a:effectLst/>
                <a:latin typeface="Consolas" panose="020B0609020204030204" pitchFamily="49" charset="0"/>
                <a:cs typeface="Consolas" panose="020B0609020204030204" pitchFamily="49" charset="0"/>
              </a:rPr>
              <a:t>0</a:t>
            </a: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700" b="0">
                <a:solidFill>
                  <a:srgbClr val="0000FF"/>
                </a:solidFill>
                <a:effectLst/>
                <a:latin typeface="Consolas" panose="020B0609020204030204" pitchFamily="49" charset="0"/>
                <a:cs typeface="Consolas" panose="020B0609020204030204" pitchFamily="49" charset="0"/>
              </a:rPr>
              <a:t>  const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70C1"/>
                </a:solidFill>
                <a:effectLst/>
                <a:latin typeface="Consolas" panose="020B0609020204030204" pitchFamily="49" charset="0"/>
                <a:cs typeface="Consolas" panose="020B0609020204030204" pitchFamily="49" charset="0"/>
              </a:rPr>
              <a:t>fileData</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0070C1"/>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AF00DB"/>
                </a:solidFill>
                <a:effectLst/>
                <a:latin typeface="Consolas" panose="020B0609020204030204" pitchFamily="49" charset="0"/>
                <a:cs typeface="Consolas" panose="020B0609020204030204" pitchFamily="49" charset="0"/>
              </a:rPr>
              <a:t>await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795E26"/>
                </a:solidFill>
                <a:effectLst/>
                <a:latin typeface="Consolas" panose="020B0609020204030204" pitchFamily="49" charset="0"/>
                <a:cs typeface="Consolas" panose="020B0609020204030204" pitchFamily="49" charset="0"/>
              </a:rPr>
              <a:t>toBase64</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70C1"/>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0000FF"/>
                </a:solidFill>
                <a:effectLst/>
                <a:latin typeface="Consolas" panose="020B0609020204030204" pitchFamily="49" charset="0"/>
                <a:cs typeface="Consolas" panose="020B0609020204030204" pitchFamily="49" charset="0"/>
              </a:rPr>
              <a:t>null</a:t>
            </a: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700" b="0">
                <a:solidFill>
                  <a:srgbClr val="000000"/>
                </a:solidFill>
                <a:effectLst/>
                <a:latin typeface="Consolas" panose="020B0609020204030204" pitchFamily="49" charset="0"/>
                <a:cs typeface="Consolas" panose="020B0609020204030204" pitchFamily="49" charset="0"/>
              </a:rPr>
              <a:t>  </a:t>
            </a:r>
          </a:p>
          <a:p>
            <a:pPr>
              <a:lnSpc>
                <a:spcPts val="2025"/>
              </a:lnSpc>
            </a:pPr>
            <a:r>
              <a:rPr lang="en-US" sz="1700">
                <a:solidFill>
                  <a:srgbClr val="000000"/>
                </a:solidFill>
                <a:latin typeface="Consolas" panose="020B0609020204030204" pitchFamily="49" charset="0"/>
                <a:cs typeface="Consolas" panose="020B0609020204030204" pitchFamily="49" charset="0"/>
              </a:rPr>
              <a:t>  </a:t>
            </a:r>
            <a:r>
              <a:rPr lang="en-US" sz="1700" b="0">
                <a:solidFill>
                  <a:srgbClr val="008000"/>
                </a:solidFill>
                <a:effectLst/>
                <a:latin typeface="Consolas" panose="020B0609020204030204" pitchFamily="49" charset="0"/>
                <a:cs typeface="Consolas" panose="020B0609020204030204" pitchFamily="49" charset="0"/>
              </a:rPr>
              <a:t>// Get all messages and send with file to backend</a:t>
            </a:r>
            <a:endParaRPr lang="en-US" sz="1700" b="0">
              <a:solidFill>
                <a:srgbClr val="000000"/>
              </a:solidFill>
              <a:effectLst/>
              <a:latin typeface="Consolas" panose="020B0609020204030204" pitchFamily="49" charset="0"/>
              <a:cs typeface="Consolas" panose="020B0609020204030204" pitchFamily="49" charset="0"/>
            </a:endParaRPr>
          </a:p>
          <a:p>
            <a:pPr>
              <a:lnSpc>
                <a:spcPts val="2025"/>
              </a:lnSpc>
              <a:buNone/>
            </a:pPr>
            <a:r>
              <a:rPr lang="en-US" sz="1700" b="0">
                <a:solidFill>
                  <a:srgbClr val="0000FF"/>
                </a:solidFill>
                <a:effectLst/>
                <a:latin typeface="Consolas" panose="020B0609020204030204" pitchFamily="49" charset="0"/>
                <a:cs typeface="Consolas" panose="020B0609020204030204" pitchFamily="49" charset="0"/>
              </a:rPr>
              <a:t>  const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70C1"/>
                </a:solidFill>
                <a:effectLst/>
                <a:latin typeface="Consolas" panose="020B0609020204030204" pitchFamily="49" charset="0"/>
                <a:cs typeface="Consolas" panose="020B0609020204030204" pitchFamily="49" charset="0"/>
              </a:rPr>
              <a:t>result</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AF00DB"/>
                </a:solidFill>
                <a:effectLst/>
                <a:latin typeface="Consolas" panose="020B0609020204030204" pitchFamily="49" charset="0"/>
                <a:cs typeface="Consolas" panose="020B0609020204030204" pitchFamily="49" charset="0"/>
              </a:rPr>
              <a:t>await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70C1"/>
                </a:solidFill>
                <a:effectLst/>
                <a:latin typeface="Consolas" panose="020B0609020204030204" pitchFamily="49" charset="0"/>
                <a:cs typeface="Consolas" panose="020B0609020204030204" pitchFamily="49" charset="0"/>
              </a:rPr>
              <a:t>client</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795E26"/>
                </a:solidFill>
                <a:effectLst/>
                <a:latin typeface="Consolas" panose="020B0609020204030204" pitchFamily="49" charset="0"/>
                <a:cs typeface="Consolas" panose="020B0609020204030204" pitchFamily="49" charset="0"/>
              </a:rPr>
              <a:t>getStreamedCompletion</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70C1"/>
                </a:solidFill>
                <a:effectLst/>
                <a:latin typeface="Consolas" panose="020B0609020204030204" pitchFamily="49" charset="0"/>
                <a:cs typeface="Consolas" panose="020B0609020204030204" pitchFamily="49" charset="0"/>
              </a:rPr>
              <a:t>messages</a:t>
            </a:r>
            <a:r>
              <a:rPr lang="en-US" sz="1700" b="0">
                <a:solidFill>
                  <a:srgbClr val="000000"/>
                </a:solidFill>
                <a:effectLst/>
                <a:latin typeface="Consolas" panose="020B0609020204030204" pitchFamily="49" charset="0"/>
                <a:cs typeface="Consolas" panose="020B0609020204030204" pitchFamily="49" charset="0"/>
              </a:rPr>
              <a:t>, {</a:t>
            </a:r>
          </a:p>
          <a:p>
            <a:pPr>
              <a:lnSpc>
                <a:spcPts val="2025"/>
              </a:lnSpc>
              <a:buNone/>
            </a:pPr>
            <a:r>
              <a:rPr lang="en-US" sz="1700" b="0">
                <a:solidFill>
                  <a:srgbClr val="001080"/>
                </a:solidFill>
                <a:effectLst/>
                <a:latin typeface="Consolas" panose="020B0609020204030204" pitchFamily="49" charset="0"/>
                <a:cs typeface="Consolas" panose="020B0609020204030204" pitchFamily="49" charset="0"/>
              </a:rPr>
              <a:t>    context:</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1080"/>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70C1"/>
                </a:solidFill>
                <a:effectLst/>
                <a:latin typeface="Consolas" panose="020B0609020204030204" pitchFamily="49" charset="0"/>
                <a:cs typeface="Consolas" panose="020B0609020204030204" pitchFamily="49" charset="0"/>
              </a:rPr>
              <a:t>fileData</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1080"/>
                </a:solidFill>
                <a:effectLst/>
                <a:latin typeface="Consolas" panose="020B0609020204030204" pitchFamily="49" charset="0"/>
                <a:cs typeface="Consolas" panose="020B0609020204030204" pitchFamily="49" charset="0"/>
              </a:rPr>
              <a:t>file_name:</a:t>
            </a:r>
            <a:r>
              <a:rPr lang="en-US" sz="1700" b="0">
                <a:solidFill>
                  <a:srgbClr val="000000"/>
                </a:solidFill>
                <a:effectLst/>
                <a:latin typeface="Consolas" panose="020B0609020204030204" pitchFamily="49" charset="0"/>
                <a:cs typeface="Consolas" panose="020B0609020204030204" pitchFamily="49" charset="0"/>
              </a:rPr>
              <a:t> </a:t>
            </a:r>
            <a:r>
              <a:rPr lang="en-US" sz="1700" b="0">
                <a:solidFill>
                  <a:srgbClr val="0070C1"/>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0070C1"/>
                </a:solidFill>
                <a:effectLst/>
                <a:latin typeface="Consolas" panose="020B0609020204030204" pitchFamily="49" charset="0"/>
                <a:cs typeface="Consolas" panose="020B0609020204030204" pitchFamily="49" charset="0"/>
              </a:rPr>
              <a:t>file</a:t>
            </a:r>
            <a:r>
              <a:rPr lang="en-US" sz="1700" b="0">
                <a:solidFill>
                  <a:srgbClr val="000000"/>
                </a:solidFill>
                <a:effectLst/>
                <a:latin typeface="Consolas" panose="020B0609020204030204" pitchFamily="49" charset="0"/>
                <a:cs typeface="Consolas" panose="020B0609020204030204" pitchFamily="49" charset="0"/>
              </a:rPr>
              <a:t>.</a:t>
            </a:r>
            <a:r>
              <a:rPr lang="en-US" sz="1700" b="0">
                <a:solidFill>
                  <a:srgbClr val="001080"/>
                </a:solidFill>
                <a:effectLst/>
                <a:latin typeface="Consolas" panose="020B0609020204030204" pitchFamily="49" charset="0"/>
                <a:cs typeface="Consolas" panose="020B0609020204030204" pitchFamily="49" charset="0"/>
              </a:rPr>
              <a:t>name</a:t>
            </a:r>
            <a:r>
              <a:rPr lang="en-US" sz="1700" b="0">
                <a:solidFill>
                  <a:srgbClr val="000000"/>
                </a:solidFill>
                <a:effectLst/>
                <a:latin typeface="Consolas" panose="020B0609020204030204" pitchFamily="49" charset="0"/>
                <a:cs typeface="Consolas" panose="020B0609020204030204" pitchFamily="49" charset="0"/>
              </a:rPr>
              <a:t> : </a:t>
            </a:r>
            <a:r>
              <a:rPr lang="en-US" sz="1700" b="0">
                <a:solidFill>
                  <a:srgbClr val="0000FF"/>
                </a:solidFill>
                <a:effectLst/>
                <a:latin typeface="Consolas" panose="020B0609020204030204" pitchFamily="49" charset="0"/>
                <a:cs typeface="Consolas" panose="020B0609020204030204" pitchFamily="49" charset="0"/>
              </a:rPr>
              <a:t>null</a:t>
            </a:r>
            <a:r>
              <a:rPr lang="en-US" sz="17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700" b="0">
                <a:solidFill>
                  <a:srgbClr val="000000"/>
                </a:solidFill>
                <a:effectLst/>
                <a:latin typeface="Consolas" panose="020B0609020204030204" pitchFamily="49" charset="0"/>
                <a:cs typeface="Consolas" panose="020B0609020204030204" pitchFamily="49" charset="0"/>
              </a:rPr>
              <a:t>  });</a:t>
            </a:r>
            <a:endParaRPr lang="en-US" sz="1700">
              <a:solidFill>
                <a:srgbClr val="000000"/>
              </a:solidFill>
              <a:latin typeface="Consolas" panose="020B0609020204030204" pitchFamily="49" charset="0"/>
              <a:cs typeface="Consolas" panose="020B0609020204030204" pitchFamily="49" charset="0"/>
            </a:endParaRPr>
          </a:p>
          <a:p>
            <a:pPr>
              <a:lnSpc>
                <a:spcPts val="2025"/>
              </a:lnSpc>
            </a:pPr>
            <a:endParaRPr lang="en-US" sz="1700" b="0">
              <a:solidFill>
                <a:srgbClr val="000000"/>
              </a:solidFill>
              <a:effectLst/>
              <a:latin typeface="Consolas" panose="020B0609020204030204" pitchFamily="49" charset="0"/>
              <a:cs typeface="Consolas" panose="020B0609020204030204" pitchFamily="49" charset="0"/>
            </a:endParaRPr>
          </a:p>
          <a:p>
            <a:pPr>
              <a:lnSpc>
                <a:spcPts val="2025"/>
              </a:lnSpc>
            </a:pPr>
            <a:r>
              <a:rPr lang="en-US" sz="1700">
                <a:solidFill>
                  <a:srgbClr val="000000"/>
                </a:solidFill>
                <a:latin typeface="Consolas" panose="020B0609020204030204" pitchFamily="49" charset="0"/>
                <a:cs typeface="Consolas" panose="020B0609020204030204" pitchFamily="49" charset="0"/>
              </a:rPr>
              <a:t>  </a:t>
            </a:r>
            <a:r>
              <a:rPr lang="en-US" sz="1700" b="0">
                <a:solidFill>
                  <a:srgbClr val="008000"/>
                </a:solidFill>
                <a:effectLst/>
                <a:latin typeface="Consolas" panose="020B0609020204030204" pitchFamily="49" charset="0"/>
                <a:cs typeface="Consolas" panose="020B0609020204030204" pitchFamily="49" charset="0"/>
              </a:rPr>
              <a:t>// ...</a:t>
            </a:r>
            <a:endParaRPr lang="en-US" sz="1700" b="0">
              <a:solidFill>
                <a:srgbClr val="000000"/>
              </a:solidFill>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2093F509-9044-3EC7-E6EE-033F72FB1285}"/>
              </a:ext>
            </a:extLst>
          </p:cNvPr>
          <p:cNvSpPr txBox="1"/>
          <p:nvPr/>
        </p:nvSpPr>
        <p:spPr>
          <a:xfrm>
            <a:off x="1184366" y="6245510"/>
            <a:ext cx="10398034" cy="461665"/>
          </a:xfrm>
          <a:prstGeom prst="rect">
            <a:avLst/>
          </a:prstGeom>
          <a:noFill/>
        </p:spPr>
        <p:txBody>
          <a:bodyPr wrap="square">
            <a:spAutoFit/>
          </a:bodyPr>
          <a:lstStyle/>
          <a:p>
            <a:r>
              <a:rPr lang="en-US" sz="2400">
                <a:hlinkClick r:id="rId2"/>
              </a:rPr>
              <a:t>https://aka.ms/chat-vision-app</a:t>
            </a:r>
            <a:r>
              <a:rPr lang="en-US" sz="2400"/>
              <a:t> : src/quartapp/templates/index.html</a:t>
            </a:r>
          </a:p>
        </p:txBody>
      </p:sp>
    </p:spTree>
    <p:extLst>
      <p:ext uri="{BB962C8B-B14F-4D97-AF65-F5344CB8AC3E}">
        <p14:creationId xmlns:p14="http://schemas.microsoft.com/office/powerpoint/2010/main" val="300959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495B-56CF-C966-8BA8-4237ED991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08C13-5B35-7BD5-DA74-EF6D36BF903F}"/>
              </a:ext>
            </a:extLst>
          </p:cNvPr>
          <p:cNvSpPr>
            <a:spLocks noGrp="1"/>
          </p:cNvSpPr>
          <p:nvPr>
            <p:ph type="title"/>
          </p:nvPr>
        </p:nvSpPr>
        <p:spPr/>
        <p:txBody>
          <a:bodyPr/>
          <a:lstStyle/>
          <a:p>
            <a:r>
              <a:rPr lang="es-MX"/>
              <a:t>Handling images in backend (Simplified)</a:t>
            </a:r>
          </a:p>
        </p:txBody>
      </p:sp>
      <p:sp>
        <p:nvSpPr>
          <p:cNvPr id="5" name="TextBox 4">
            <a:extLst>
              <a:ext uri="{FF2B5EF4-FFF2-40B4-BE49-F238E27FC236}">
                <a16:creationId xmlns:a16="http://schemas.microsoft.com/office/drawing/2014/main" id="{84898A8F-0574-4807-F7D7-7E1B5F68D327}"/>
              </a:ext>
            </a:extLst>
          </p:cNvPr>
          <p:cNvSpPr txBox="1"/>
          <p:nvPr/>
        </p:nvSpPr>
        <p:spPr>
          <a:xfrm>
            <a:off x="1184366" y="1698170"/>
            <a:ext cx="10232571" cy="4441152"/>
          </a:xfrm>
          <a:prstGeom prst="rect">
            <a:avLst/>
          </a:prstGeom>
          <a:solidFill>
            <a:schemeClr val="bg1">
              <a:lumMod val="95000"/>
            </a:schemeClr>
          </a:solidFill>
        </p:spPr>
        <p:txBody>
          <a:bodyPr wrap="square" rtlCol="0">
            <a:spAutoFit/>
          </a:bodyPr>
          <a:lstStyle/>
          <a:p>
            <a:pPr>
              <a:lnSpc>
                <a:spcPts val="2025"/>
              </a:lnSpc>
              <a:buNone/>
            </a:pPr>
            <a:r>
              <a:rPr lang="en-US" sz="1600" b="0">
                <a:solidFill>
                  <a:srgbClr val="795E26"/>
                </a:solidFill>
                <a:effectLst/>
                <a:latin typeface="Consolas" panose="020B0609020204030204" pitchFamily="49" charset="0"/>
                <a:cs typeface="Consolas" panose="020B0609020204030204" pitchFamily="49" charset="0"/>
              </a:rPr>
              <a:t>@</a:t>
            </a:r>
            <a:r>
              <a:rPr lang="en-US" sz="1600" b="0">
                <a:solidFill>
                  <a:srgbClr val="001080"/>
                </a:solidFill>
                <a:effectLst/>
                <a:latin typeface="Consolas" panose="020B0609020204030204" pitchFamily="49" charset="0"/>
                <a:cs typeface="Consolas" panose="020B0609020204030204" pitchFamily="49" charset="0"/>
              </a:rPr>
              <a:t>bp</a:t>
            </a:r>
            <a:r>
              <a:rPr lang="en-US" sz="1600" b="0">
                <a:solidFill>
                  <a:srgbClr val="795E26"/>
                </a:solidFill>
                <a:effectLst/>
                <a:latin typeface="Consolas" panose="020B0609020204030204" pitchFamily="49" charset="0"/>
                <a:cs typeface="Consolas" panose="020B0609020204030204" pitchFamily="49" charset="0"/>
              </a:rPr>
              <a:t>.post</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"/chat/stream"</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b="0">
                <a:solidFill>
                  <a:srgbClr val="0000FF"/>
                </a:solidFill>
                <a:effectLst/>
                <a:latin typeface="Consolas" panose="020B0609020204030204" pitchFamily="49" charset="0"/>
                <a:cs typeface="Consolas" panose="020B0609020204030204" pitchFamily="49" charset="0"/>
              </a:rPr>
              <a:t>async</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0000FF"/>
                </a:solidFill>
                <a:effectLst/>
                <a:latin typeface="Consolas" panose="020B0609020204030204" pitchFamily="49" charset="0"/>
                <a:cs typeface="Consolas" panose="020B0609020204030204" pitchFamily="49" charset="0"/>
              </a:rPr>
              <a:t>def</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795E26"/>
                </a:solidFill>
                <a:effectLst/>
                <a:latin typeface="Consolas" panose="020B0609020204030204" pitchFamily="49" charset="0"/>
                <a:cs typeface="Consolas" panose="020B0609020204030204" pitchFamily="49" charset="0"/>
              </a:rPr>
              <a:t>chat_handler</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b="0">
                <a:solidFill>
                  <a:srgbClr val="001080"/>
                </a:solidFill>
                <a:effectLst/>
                <a:latin typeface="Consolas" panose="020B0609020204030204" pitchFamily="49" charset="0"/>
                <a:cs typeface="Consolas" panose="020B0609020204030204" pitchFamily="49" charset="0"/>
              </a:rPr>
              <a:t>  request_json</a:t>
            </a:r>
            <a:r>
              <a:rPr lang="en-US" sz="1600" b="0">
                <a:solidFill>
                  <a:srgbClr val="000000"/>
                </a:solidFill>
                <a:effectLst/>
                <a:latin typeface="Consolas" panose="020B0609020204030204" pitchFamily="49" charset="0"/>
                <a:cs typeface="Consolas" panose="020B0609020204030204" pitchFamily="49" charset="0"/>
              </a:rPr>
              <a:t> = </a:t>
            </a:r>
            <a:r>
              <a:rPr lang="en-US" sz="1600" b="0">
                <a:solidFill>
                  <a:srgbClr val="AF00DB"/>
                </a:solidFill>
                <a:effectLst/>
                <a:latin typeface="Consolas" panose="020B0609020204030204" pitchFamily="49" charset="0"/>
                <a:cs typeface="Consolas" panose="020B0609020204030204" pitchFamily="49" charset="0"/>
              </a:rPr>
              <a:t>await</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request</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795E26"/>
                </a:solidFill>
                <a:effectLst/>
                <a:latin typeface="Consolas" panose="020B0609020204030204" pitchFamily="49" charset="0"/>
                <a:cs typeface="Consolas" panose="020B0609020204030204" pitchFamily="49" charset="0"/>
              </a:rPr>
              <a:t>get_json</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b="0">
                <a:solidFill>
                  <a:srgbClr val="001080"/>
                </a:solidFill>
                <a:effectLst/>
                <a:latin typeface="Consolas" panose="020B0609020204030204" pitchFamily="49" charset="0"/>
                <a:cs typeface="Consolas" panose="020B0609020204030204" pitchFamily="49" charset="0"/>
              </a:rPr>
              <a:t>  request_messages</a:t>
            </a:r>
            <a:r>
              <a:rPr lang="en-US" sz="1600" b="0">
                <a:solidFill>
                  <a:srgbClr val="000000"/>
                </a:solidFill>
                <a:effectLst/>
                <a:latin typeface="Consolas" panose="020B0609020204030204" pitchFamily="49" charset="0"/>
                <a:cs typeface="Consolas" panose="020B0609020204030204" pitchFamily="49" charset="0"/>
              </a:rPr>
              <a:t> = </a:t>
            </a:r>
            <a:r>
              <a:rPr lang="en-US" sz="1600" b="0">
                <a:solidFill>
                  <a:srgbClr val="001080"/>
                </a:solidFill>
                <a:effectLst/>
                <a:latin typeface="Consolas" panose="020B0609020204030204" pitchFamily="49" charset="0"/>
                <a:cs typeface="Consolas" panose="020B0609020204030204" pitchFamily="49" charset="0"/>
              </a:rPr>
              <a:t>request_json</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"messages"</a:t>
            </a:r>
            <a:r>
              <a:rPr lang="en-US" sz="1600" b="0">
                <a:solidFill>
                  <a:srgbClr val="000000"/>
                </a:solidFill>
                <a:effectLst/>
                <a:latin typeface="Consolas" panose="020B0609020204030204" pitchFamily="49" charset="0"/>
                <a:cs typeface="Consolas" panose="020B0609020204030204" pitchFamily="49" charset="0"/>
              </a:rPr>
              <a:t>] </a:t>
            </a:r>
          </a:p>
          <a:p>
            <a:pPr>
              <a:lnSpc>
                <a:spcPts val="2025"/>
              </a:lnSpc>
              <a:buNone/>
            </a:pPr>
            <a:r>
              <a:rPr lang="en-US" sz="1600">
                <a:solidFill>
                  <a:srgbClr val="000000"/>
                </a:solidFill>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image</a:t>
            </a:r>
            <a:r>
              <a:rPr lang="en-US" sz="1600" b="0">
                <a:solidFill>
                  <a:srgbClr val="000000"/>
                </a:solidFill>
                <a:effectLst/>
                <a:latin typeface="Consolas" panose="020B0609020204030204" pitchFamily="49" charset="0"/>
                <a:cs typeface="Consolas" panose="020B0609020204030204" pitchFamily="49" charset="0"/>
              </a:rPr>
              <a:t> = </a:t>
            </a:r>
            <a:r>
              <a:rPr lang="en-US" sz="1600" b="0">
                <a:solidFill>
                  <a:srgbClr val="001080"/>
                </a:solidFill>
                <a:effectLst/>
                <a:latin typeface="Consolas" panose="020B0609020204030204" pitchFamily="49" charset="0"/>
                <a:cs typeface="Consolas" panose="020B0609020204030204" pitchFamily="49" charset="0"/>
              </a:rPr>
              <a:t>request_json</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"context"</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"file"</a:t>
            </a:r>
            <a:r>
              <a:rPr lang="en-US" sz="1600" b="0">
                <a:solidFill>
                  <a:srgbClr val="000000"/>
                </a:solidFill>
                <a:effectLst/>
                <a:latin typeface="Consolas" panose="020B0609020204030204" pitchFamily="49" charset="0"/>
                <a:cs typeface="Consolas" panose="020B0609020204030204" pitchFamily="49" charset="0"/>
              </a:rPr>
              <a:t>]</a:t>
            </a:r>
            <a:endParaRPr lang="en-US" sz="1600" b="0">
              <a:solidFill>
                <a:srgbClr val="001080"/>
              </a:solidFill>
              <a:effectLst/>
              <a:latin typeface="Consolas" panose="020B0609020204030204" pitchFamily="49" charset="0"/>
              <a:cs typeface="Consolas" panose="020B0609020204030204" pitchFamily="49" charset="0"/>
            </a:endParaRPr>
          </a:p>
          <a:p>
            <a:pPr>
              <a:lnSpc>
                <a:spcPts val="2025"/>
              </a:lnSpc>
              <a:buNone/>
            </a:pPr>
            <a:r>
              <a:rPr lang="en-US" sz="1600">
                <a:solidFill>
                  <a:srgbClr val="001080"/>
                </a:solidFill>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all_messages</a:t>
            </a:r>
            <a:r>
              <a:rPr lang="en-US" sz="1600" b="0">
                <a:solidFill>
                  <a:srgbClr val="000000"/>
                </a:solidFill>
                <a:effectLst/>
                <a:latin typeface="Consolas" panose="020B0609020204030204" pitchFamily="49" charset="0"/>
                <a:cs typeface="Consolas" panose="020B0609020204030204" pitchFamily="49" charset="0"/>
              </a:rPr>
              <a:t> = </a:t>
            </a:r>
            <a:r>
              <a:rPr lang="en-US" sz="1600" b="0">
                <a:solidFill>
                  <a:srgbClr val="001080"/>
                </a:solidFill>
                <a:effectLst/>
                <a:latin typeface="Consolas" panose="020B0609020204030204" pitchFamily="49" charset="0"/>
                <a:cs typeface="Consolas" panose="020B0609020204030204" pitchFamily="49" charset="0"/>
              </a:rPr>
              <a:t>request_messages</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098658"/>
                </a:solidFill>
                <a:effectLst/>
                <a:latin typeface="Consolas" panose="020B0609020204030204" pitchFamily="49" charset="0"/>
                <a:cs typeface="Consolas" panose="020B0609020204030204" pitchFamily="49" charset="0"/>
              </a:rPr>
              <a:t>0</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098658"/>
                </a:solidFill>
                <a:effectLst/>
                <a:latin typeface="Consolas" panose="020B0609020204030204" pitchFamily="49" charset="0"/>
                <a:cs typeface="Consolas" panose="020B0609020204030204" pitchFamily="49" charset="0"/>
              </a:rPr>
              <a:t>1</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b="0">
                <a:solidFill>
                  <a:srgbClr val="AF00DB"/>
                </a:solidFill>
                <a:effectLst/>
                <a:latin typeface="Consolas" panose="020B0609020204030204" pitchFamily="49" charset="0"/>
                <a:cs typeface="Consolas" panose="020B0609020204030204" pitchFamily="49" charset="0"/>
              </a:rPr>
              <a:t>  if</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image</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a:solidFill>
                  <a:srgbClr val="000000"/>
                </a:solidFill>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all_messages</a:t>
            </a:r>
            <a:r>
              <a:rPr lang="en-US" sz="1600" b="0">
                <a:solidFill>
                  <a:srgbClr val="000000"/>
                </a:solidFill>
                <a:effectLst/>
                <a:latin typeface="Consolas" panose="020B0609020204030204" pitchFamily="49" charset="0"/>
                <a:cs typeface="Consolas" panose="020B0609020204030204" pitchFamily="49" charset="0"/>
              </a:rPr>
              <a:t>.append(</a:t>
            </a:r>
          </a:p>
          <a:p>
            <a:pPr>
              <a:lnSpc>
                <a:spcPts val="2025"/>
              </a:lnSpc>
              <a:buNone/>
            </a:pPr>
            <a:r>
              <a:rPr lang="en-US" sz="1600">
                <a:solidFill>
                  <a:srgbClr val="000000"/>
                </a:solidFill>
                <a:latin typeface="Consolas" panose="020B0609020204030204" pitchFamily="49" charset="0"/>
                <a:cs typeface="Consolas" panose="020B0609020204030204" pitchFamily="49" charset="0"/>
              </a:rPr>
              <a:t>      </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"role"</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"user"</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a:solidFill>
                  <a:srgbClr val="000000"/>
                </a:solidFill>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"content"</a:t>
            </a:r>
            <a:r>
              <a:rPr lang="en-US" sz="1600" b="0">
                <a:solidFill>
                  <a:srgbClr val="000000"/>
                </a:solidFill>
                <a:effectLst/>
                <a:latin typeface="Consolas" panose="020B0609020204030204" pitchFamily="49" charset="0"/>
                <a:cs typeface="Consolas" panose="020B0609020204030204" pitchFamily="49" charset="0"/>
              </a:rPr>
              <a:t>: [</a:t>
            </a:r>
          </a:p>
          <a:p>
            <a:pPr>
              <a:lnSpc>
                <a:spcPts val="2025"/>
              </a:lnSpc>
              <a:buNone/>
            </a:pPr>
            <a:r>
              <a:rPr lang="en-US" sz="1600">
                <a:solidFill>
                  <a:srgbClr val="000000"/>
                </a:solidFill>
                <a:latin typeface="Consolas" panose="020B0609020204030204" pitchFamily="49" charset="0"/>
                <a:cs typeface="Consolas" panose="020B0609020204030204" pitchFamily="49" charset="0"/>
              </a:rPr>
              <a:t>           </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"text"</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request_messages</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098658"/>
                </a:solidFill>
                <a:effectLst/>
                <a:latin typeface="Consolas" panose="020B0609020204030204" pitchFamily="49" charset="0"/>
                <a:cs typeface="Consolas" panose="020B0609020204030204" pitchFamily="49" charset="0"/>
              </a:rPr>
              <a:t>1</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"content"</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"type"</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"text"</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a:solidFill>
                  <a:srgbClr val="000000"/>
                </a:solidFill>
                <a:latin typeface="Consolas" panose="020B0609020204030204" pitchFamily="49" charset="0"/>
                <a:cs typeface="Consolas" panose="020B0609020204030204" pitchFamily="49" charset="0"/>
              </a:rPr>
              <a:t>           </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"image_url"</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"url"</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image</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"detail"</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"auto"</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"type"</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31515"/>
                </a:solidFill>
                <a:effectLst/>
                <a:latin typeface="Consolas" panose="020B0609020204030204" pitchFamily="49" charset="0"/>
                <a:cs typeface="Consolas" panose="020B0609020204030204" pitchFamily="49" charset="0"/>
              </a:rPr>
              <a:t>"image_url"</a:t>
            </a:r>
            <a:r>
              <a:rPr lang="en-US" sz="1600" b="0">
                <a:solidFill>
                  <a:srgbClr val="000000"/>
                </a:solidFill>
                <a:effectLst/>
                <a:latin typeface="Consolas" panose="020B0609020204030204" pitchFamily="49" charset="0"/>
                <a:cs typeface="Consolas" panose="020B0609020204030204" pitchFamily="49" charset="0"/>
              </a:rPr>
              <a:t>}]})</a:t>
            </a:r>
            <a:endParaRPr lang="en-US" sz="1600">
              <a:solidFill>
                <a:srgbClr val="000000"/>
              </a:solidFill>
              <a:latin typeface="Consolas" panose="020B0609020204030204" pitchFamily="49" charset="0"/>
              <a:cs typeface="Consolas" panose="020B0609020204030204" pitchFamily="49" charset="0"/>
            </a:endParaRPr>
          </a:p>
          <a:p>
            <a:pPr>
              <a:lnSpc>
                <a:spcPts val="2025"/>
              </a:lnSpc>
              <a:buNone/>
            </a:pP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AF00DB"/>
                </a:solidFill>
                <a:effectLst/>
                <a:latin typeface="Consolas" panose="020B0609020204030204" pitchFamily="49" charset="0"/>
                <a:cs typeface="Consolas" panose="020B0609020204030204" pitchFamily="49" charset="0"/>
              </a:rPr>
              <a:t>else</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r>
              <a:rPr lang="en-US" sz="1600" b="0">
                <a:solidFill>
                  <a:srgbClr val="001080"/>
                </a:solidFill>
                <a:effectLst/>
                <a:latin typeface="Consolas" panose="020B0609020204030204" pitchFamily="49" charset="0"/>
                <a:cs typeface="Consolas" panose="020B0609020204030204" pitchFamily="49" charset="0"/>
              </a:rPr>
              <a:t>    all_messages</a:t>
            </a:r>
            <a:r>
              <a:rPr lang="en-US" sz="1600" b="0">
                <a:solidFill>
                  <a:srgbClr val="000000"/>
                </a:solidFill>
                <a:effectLst/>
                <a:latin typeface="Consolas" panose="020B0609020204030204" pitchFamily="49" charset="0"/>
                <a:cs typeface="Consolas" panose="020B0609020204030204" pitchFamily="49" charset="0"/>
              </a:rPr>
              <a:t>.append(</a:t>
            </a:r>
            <a:r>
              <a:rPr lang="en-US" sz="1600" b="0">
                <a:solidFill>
                  <a:srgbClr val="001080"/>
                </a:solidFill>
                <a:effectLst/>
                <a:latin typeface="Consolas" panose="020B0609020204030204" pitchFamily="49" charset="0"/>
                <a:cs typeface="Consolas" panose="020B0609020204030204" pitchFamily="49" charset="0"/>
              </a:rPr>
              <a:t>request_messages</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098658"/>
                </a:solidFill>
                <a:effectLst/>
                <a:latin typeface="Consolas" panose="020B0609020204030204" pitchFamily="49" charset="0"/>
                <a:cs typeface="Consolas" panose="020B0609020204030204" pitchFamily="49" charset="0"/>
              </a:rPr>
              <a:t>1</a:t>
            </a:r>
            <a:r>
              <a:rPr lang="en-US" sz="1600" b="0">
                <a:solidFill>
                  <a:srgbClr val="000000"/>
                </a:solidFill>
                <a:effectLst/>
                <a:latin typeface="Consolas" panose="020B0609020204030204" pitchFamily="49" charset="0"/>
                <a:cs typeface="Consolas" panose="020B0609020204030204" pitchFamily="49" charset="0"/>
              </a:rPr>
              <a:t>])</a:t>
            </a:r>
          </a:p>
          <a:p>
            <a:pPr>
              <a:lnSpc>
                <a:spcPts val="2025"/>
              </a:lnSpc>
              <a:buNone/>
            </a:pPr>
            <a:br>
              <a:rPr lang="en-US" sz="1600" b="0">
                <a:solidFill>
                  <a:srgbClr val="000000"/>
                </a:solidFill>
                <a:effectLst/>
                <a:latin typeface="Consolas" panose="020B0609020204030204" pitchFamily="49" charset="0"/>
                <a:cs typeface="Consolas" panose="020B0609020204030204" pitchFamily="49" charset="0"/>
              </a:rPr>
            </a:br>
            <a:r>
              <a:rPr lang="en-US" sz="1600" b="0">
                <a:solidFill>
                  <a:srgbClr val="001080"/>
                </a:solidFill>
                <a:effectLst/>
                <a:latin typeface="Consolas" panose="020B0609020204030204" pitchFamily="49" charset="0"/>
                <a:cs typeface="Consolas" panose="020B0609020204030204" pitchFamily="49" charset="0"/>
              </a:rPr>
              <a:t>chat_coroutine</a:t>
            </a:r>
            <a:r>
              <a:rPr lang="en-US" sz="1600" b="0">
                <a:solidFill>
                  <a:srgbClr val="000000"/>
                </a:solidFill>
                <a:effectLst/>
                <a:latin typeface="Consolas" panose="020B0609020204030204" pitchFamily="49" charset="0"/>
                <a:cs typeface="Consolas" panose="020B0609020204030204" pitchFamily="49" charset="0"/>
              </a:rPr>
              <a:t> = </a:t>
            </a:r>
            <a:r>
              <a:rPr lang="en-US" sz="1600" b="0">
                <a:solidFill>
                  <a:srgbClr val="001080"/>
                </a:solidFill>
                <a:effectLst/>
                <a:latin typeface="Consolas" panose="020B0609020204030204" pitchFamily="49" charset="0"/>
                <a:cs typeface="Consolas" panose="020B0609020204030204" pitchFamily="49" charset="0"/>
              </a:rPr>
              <a:t>bp</a:t>
            </a:r>
            <a:r>
              <a:rPr lang="en-US" sz="1600" b="0">
                <a:solidFill>
                  <a:srgbClr val="000000"/>
                </a:solidFill>
                <a:effectLst/>
                <a:latin typeface="Consolas" panose="020B0609020204030204" pitchFamily="49" charset="0"/>
                <a:cs typeface="Consolas" panose="020B0609020204030204" pitchFamily="49" charset="0"/>
              </a:rPr>
              <a:t>.openai_client.chat.completions.create(</a:t>
            </a:r>
          </a:p>
          <a:p>
            <a:pPr>
              <a:lnSpc>
                <a:spcPts val="2025"/>
              </a:lnSpc>
              <a:buNone/>
            </a:pPr>
            <a:r>
              <a:rPr lang="en-US" sz="1600">
                <a:solidFill>
                  <a:srgbClr val="000000"/>
                </a:solidFill>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model</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267F99"/>
                </a:solidFill>
                <a:effectLst/>
                <a:latin typeface="Consolas" panose="020B0609020204030204" pitchFamily="49" charset="0"/>
                <a:cs typeface="Consolas" panose="020B0609020204030204" pitchFamily="49" charset="0"/>
              </a:rPr>
              <a:t>os</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001080"/>
                </a:solidFill>
                <a:effectLst/>
                <a:latin typeface="Consolas" panose="020B0609020204030204" pitchFamily="49" charset="0"/>
                <a:cs typeface="Consolas" panose="020B0609020204030204" pitchFamily="49" charset="0"/>
              </a:rPr>
              <a:t>environ</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A31515"/>
                </a:solidFill>
                <a:effectLst/>
                <a:latin typeface="Consolas" panose="020B0609020204030204" pitchFamily="49" charset="0"/>
                <a:cs typeface="Consolas" panose="020B0609020204030204" pitchFamily="49" charset="0"/>
              </a:rPr>
              <a:t>"OPENAI_MODEL"</a:t>
            </a:r>
            <a:r>
              <a:rPr lang="en-US" sz="1600" b="0">
                <a:solidFill>
                  <a:srgbClr val="000000"/>
                </a:solidFill>
                <a:effectLst/>
                <a:latin typeface="Consolas" panose="020B0609020204030204" pitchFamily="49" charset="0"/>
                <a:cs typeface="Consolas" panose="020B0609020204030204" pitchFamily="49" charset="0"/>
              </a:rPr>
              <a:t>], </a:t>
            </a:r>
            <a:r>
              <a:rPr lang="en-US" sz="1600" b="0">
                <a:solidFill>
                  <a:srgbClr val="001080"/>
                </a:solidFill>
                <a:effectLst/>
                <a:latin typeface="Consolas" panose="020B0609020204030204" pitchFamily="49" charset="0"/>
                <a:cs typeface="Consolas" panose="020B0609020204030204" pitchFamily="49" charset="0"/>
              </a:rPr>
              <a:t>messages</a:t>
            </a:r>
            <a:r>
              <a:rPr lang="en-US" sz="1600" b="0">
                <a:solidFill>
                  <a:srgbClr val="000000"/>
                </a:solidFill>
                <a:effectLst/>
                <a:latin typeface="Consolas" panose="020B0609020204030204" pitchFamily="49" charset="0"/>
                <a:cs typeface="Consolas" panose="020B0609020204030204" pitchFamily="49" charset="0"/>
              </a:rPr>
              <a:t>=</a:t>
            </a:r>
            <a:r>
              <a:rPr lang="en-US" sz="1600" b="0">
                <a:solidFill>
                  <a:srgbClr val="001080"/>
                </a:solidFill>
                <a:effectLst/>
                <a:latin typeface="Consolas" panose="020B0609020204030204" pitchFamily="49" charset="0"/>
                <a:cs typeface="Consolas" panose="020B0609020204030204" pitchFamily="49" charset="0"/>
              </a:rPr>
              <a:t>all_messages</a:t>
            </a:r>
            <a:r>
              <a:rPr lang="en-US" sz="1600" b="0">
                <a:solidFill>
                  <a:srgbClr val="000000"/>
                </a:solidFill>
                <a:effectLst/>
                <a:latin typeface="Consolas" panose="020B0609020204030204" pitchFamily="49" charset="0"/>
                <a:cs typeface="Consolas" panose="020B0609020204030204" pitchFamily="49" charset="0"/>
              </a:rPr>
              <a:t>)</a:t>
            </a:r>
          </a:p>
        </p:txBody>
      </p:sp>
      <p:sp>
        <p:nvSpPr>
          <p:cNvPr id="3" name="TextBox 2">
            <a:extLst>
              <a:ext uri="{FF2B5EF4-FFF2-40B4-BE49-F238E27FC236}">
                <a16:creationId xmlns:a16="http://schemas.microsoft.com/office/drawing/2014/main" id="{E6C02000-D589-3A66-B580-04E815A82F07}"/>
              </a:ext>
            </a:extLst>
          </p:cNvPr>
          <p:cNvSpPr txBox="1"/>
          <p:nvPr/>
        </p:nvSpPr>
        <p:spPr>
          <a:xfrm>
            <a:off x="1184366" y="6245510"/>
            <a:ext cx="10913982" cy="461665"/>
          </a:xfrm>
          <a:prstGeom prst="rect">
            <a:avLst/>
          </a:prstGeom>
          <a:noFill/>
        </p:spPr>
        <p:txBody>
          <a:bodyPr wrap="square">
            <a:spAutoFit/>
          </a:bodyPr>
          <a:lstStyle/>
          <a:p>
            <a:r>
              <a:rPr lang="en-US" sz="2400">
                <a:hlinkClick r:id="rId2"/>
              </a:rPr>
              <a:t>https://aka.ms/chat-vision-app</a:t>
            </a:r>
            <a:r>
              <a:rPr lang="en-US" sz="2400"/>
              <a:t> : src/quartapp/chat.py</a:t>
            </a:r>
          </a:p>
        </p:txBody>
      </p:sp>
    </p:spTree>
    <p:extLst>
      <p:ext uri="{BB962C8B-B14F-4D97-AF65-F5344CB8AC3E}">
        <p14:creationId xmlns:p14="http://schemas.microsoft.com/office/powerpoint/2010/main" val="3744875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0B60-BA7D-2A37-2930-53FAE46D7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03C94-5490-03C2-13B2-FCF251F828F4}"/>
              </a:ext>
            </a:extLst>
          </p:cNvPr>
          <p:cNvSpPr>
            <a:spLocks noGrp="1"/>
          </p:cNvSpPr>
          <p:nvPr>
            <p:ph type="title"/>
          </p:nvPr>
        </p:nvSpPr>
        <p:spPr/>
        <p:txBody>
          <a:bodyPr/>
          <a:lstStyle/>
          <a:p>
            <a:r>
              <a:rPr lang="es-MX"/>
              <a:t>Alternate ways to handle image upload</a:t>
            </a:r>
          </a:p>
        </p:txBody>
      </p:sp>
      <p:sp>
        <p:nvSpPr>
          <p:cNvPr id="4" name="TextBox 3">
            <a:extLst>
              <a:ext uri="{FF2B5EF4-FFF2-40B4-BE49-F238E27FC236}">
                <a16:creationId xmlns:a16="http://schemas.microsoft.com/office/drawing/2014/main" id="{A3B6A631-ACBE-1ADF-B941-CBE8070C4A82}"/>
              </a:ext>
            </a:extLst>
          </p:cNvPr>
          <p:cNvSpPr txBox="1"/>
          <p:nvPr/>
        </p:nvSpPr>
        <p:spPr>
          <a:xfrm>
            <a:off x="1158240" y="2203269"/>
            <a:ext cx="9240820" cy="3046988"/>
          </a:xfrm>
          <a:prstGeom prst="rect">
            <a:avLst/>
          </a:prstGeom>
          <a:noFill/>
        </p:spPr>
        <p:txBody>
          <a:bodyPr wrap="square" rtlCol="0">
            <a:spAutoFit/>
          </a:bodyPr>
          <a:lstStyle/>
          <a:p>
            <a:pPr marL="342900" indent="-342900">
              <a:buFont typeface="Arial" panose="020B0604020202020204" pitchFamily="34" charset="0"/>
              <a:buChar char="•"/>
            </a:pPr>
            <a:r>
              <a:rPr lang="en-US" sz="2400"/>
              <a:t>Send POST request from the frontend using multipart form data </a:t>
            </a:r>
            <a:r>
              <a:rPr lang="en-US" sz="2400">
                <a:hlinkClick r:id="rId2"/>
              </a:rPr>
              <a:t>https://aka.ms/chat-vision-multipart</a:t>
            </a:r>
            <a:endParaRPr lang="en-US" sz="2400"/>
          </a:p>
          <a:p>
            <a:endParaRPr lang="en-US" sz="2400"/>
          </a:p>
          <a:p>
            <a:pPr marL="457200" indent="-457200">
              <a:buFont typeface="Arial" panose="020B0604020202020204" pitchFamily="34" charset="0"/>
              <a:buChar char="•"/>
            </a:pPr>
            <a:r>
              <a:rPr lang="en-US" sz="2400"/>
              <a:t>Upload images separately:</a:t>
            </a:r>
          </a:p>
          <a:p>
            <a:pPr marL="914400" lvl="1" indent="-457200">
              <a:buFont typeface="+mj-lt"/>
              <a:buAutoNum type="arabicPeriod"/>
            </a:pPr>
            <a:r>
              <a:rPr lang="en-US" sz="2400"/>
              <a:t>Store image in file storage (e.g. Azure Blob storage)</a:t>
            </a:r>
          </a:p>
          <a:p>
            <a:pPr marL="914400" lvl="1" indent="-457200">
              <a:buFont typeface="+mj-lt"/>
              <a:buAutoNum type="arabicPeriod"/>
            </a:pPr>
            <a:r>
              <a:rPr lang="en-US" sz="2400"/>
              <a:t>Send down file identifier to frontend</a:t>
            </a:r>
          </a:p>
          <a:p>
            <a:pPr marL="914400" lvl="1" indent="-457200">
              <a:buFont typeface="+mj-lt"/>
              <a:buAutoNum type="arabicPeriod"/>
            </a:pPr>
            <a:r>
              <a:rPr lang="en-US" sz="2400"/>
              <a:t>Frontend sends file identifier back to backend</a:t>
            </a:r>
          </a:p>
          <a:p>
            <a:pPr lvl="1"/>
            <a:r>
              <a:rPr lang="en-US" sz="2400"/>
              <a:t>⚠️ Make sure other users can't access each other's files!</a:t>
            </a:r>
          </a:p>
        </p:txBody>
      </p:sp>
    </p:spTree>
    <p:extLst>
      <p:ext uri="{BB962C8B-B14F-4D97-AF65-F5344CB8AC3E}">
        <p14:creationId xmlns:p14="http://schemas.microsoft.com/office/powerpoint/2010/main" val="457805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03167-6B7D-B657-9A95-C8EA79BA13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A7138-8A88-ED59-F4BB-802F40109E78}"/>
              </a:ext>
            </a:extLst>
          </p:cNvPr>
          <p:cNvSpPr>
            <a:spLocks noGrp="1"/>
          </p:cNvSpPr>
          <p:nvPr>
            <p:ph type="title"/>
          </p:nvPr>
        </p:nvSpPr>
        <p:spPr/>
        <p:txBody>
          <a:bodyPr/>
          <a:lstStyle/>
          <a:p>
            <a:r>
              <a:rPr lang="es-MX"/>
              <a:t>Multimodal embedding models</a:t>
            </a:r>
          </a:p>
        </p:txBody>
      </p:sp>
    </p:spTree>
    <p:extLst>
      <p:ext uri="{BB962C8B-B14F-4D97-AF65-F5344CB8AC3E}">
        <p14:creationId xmlns:p14="http://schemas.microsoft.com/office/powerpoint/2010/main" val="3294406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ADB5A-CBC9-2481-3C29-7E542FBAA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47539-72A3-FB25-4B12-E530BD9B9878}"/>
              </a:ext>
            </a:extLst>
          </p:cNvPr>
          <p:cNvSpPr>
            <a:spLocks noGrp="1"/>
          </p:cNvSpPr>
          <p:nvPr>
            <p:ph type="title"/>
          </p:nvPr>
        </p:nvSpPr>
        <p:spPr/>
        <p:txBody>
          <a:bodyPr/>
          <a:lstStyle/>
          <a:p>
            <a:r>
              <a:rPr lang="es-MX"/>
              <a:t>Want to follow along?</a:t>
            </a:r>
          </a:p>
        </p:txBody>
      </p:sp>
      <p:sp>
        <p:nvSpPr>
          <p:cNvPr id="3" name="Content Placeholder 4">
            <a:extLst>
              <a:ext uri="{FF2B5EF4-FFF2-40B4-BE49-F238E27FC236}">
                <a16:creationId xmlns:a16="http://schemas.microsoft.com/office/drawing/2014/main" id="{86E90772-3515-E2FB-9963-061C448EE261}"/>
              </a:ext>
            </a:extLst>
          </p:cNvPr>
          <p:cNvSpPr txBox="1">
            <a:spLocks/>
          </p:cNvSpPr>
          <p:nvPr/>
        </p:nvSpPr>
        <p:spPr>
          <a:xfrm>
            <a:off x="1118331" y="1876431"/>
            <a:ext cx="10235705" cy="17525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1. Open this GitHub repository:</a:t>
            </a:r>
          </a:p>
          <a:p>
            <a:pPr marL="0" indent="0">
              <a:buFont typeface="Arial" panose="020B0604020202020204" pitchFamily="34" charset="0"/>
              <a:buNone/>
            </a:pPr>
            <a:r>
              <a:rPr lang="en-US">
                <a:hlinkClick r:id="rId2"/>
              </a:rPr>
              <a:t>https://github.com/pamelafox/vector-embeddings-demos</a:t>
            </a:r>
            <a:endParaRPr lang="en-US"/>
          </a:p>
          <a:p>
            <a:pPr marL="0" indent="0">
              <a:spcBef>
                <a:spcPts val="2200"/>
              </a:spcBef>
              <a:spcAft>
                <a:spcPts val="1800"/>
              </a:spcAft>
              <a:buFont typeface="Arial" panose="020B0604020202020204" pitchFamily="34" charset="0"/>
              <a:buNone/>
            </a:pPr>
            <a:r>
              <a:rPr lang="en-US"/>
              <a:t>2. Use "Code" button to create a GitHub Codespace:</a:t>
            </a:r>
          </a:p>
        </p:txBody>
      </p:sp>
      <p:pic>
        <p:nvPicPr>
          <p:cNvPr id="4" name="Picture 3" descr="A screenshot of a computer&#10;&#10;AI-generated content may be incorrect.">
            <a:extLst>
              <a:ext uri="{FF2B5EF4-FFF2-40B4-BE49-F238E27FC236}">
                <a16:creationId xmlns:a16="http://schemas.microsoft.com/office/drawing/2014/main" id="{4C5173E6-1D48-91ED-4E61-E0EF992A8112}"/>
              </a:ext>
            </a:extLst>
          </p:cNvPr>
          <p:cNvPicPr>
            <a:picLocks noChangeAspect="1"/>
          </p:cNvPicPr>
          <p:nvPr/>
        </p:nvPicPr>
        <p:blipFill>
          <a:blip r:embed="rId3">
            <a:extLst>
              <a:ext uri="{28A0092B-C50C-407E-A947-70E740481C1C}">
                <a14:useLocalDpi xmlns:a14="http://schemas.microsoft.com/office/drawing/2010/main" val="0"/>
              </a:ext>
            </a:extLst>
          </a:blip>
          <a:srcRect l="1842" r="1572" b="24106"/>
          <a:stretch/>
        </p:blipFill>
        <p:spPr>
          <a:xfrm>
            <a:off x="1199535" y="3628978"/>
            <a:ext cx="2880852" cy="2417302"/>
          </a:xfrm>
          <a:prstGeom prst="rect">
            <a:avLst/>
          </a:prstGeom>
          <a:ln>
            <a:solidFill>
              <a:schemeClr val="tx1"/>
            </a:solidFill>
          </a:ln>
        </p:spPr>
      </p:pic>
      <p:sp>
        <p:nvSpPr>
          <p:cNvPr id="6" name="Content Placeholder 4">
            <a:extLst>
              <a:ext uri="{FF2B5EF4-FFF2-40B4-BE49-F238E27FC236}">
                <a16:creationId xmlns:a16="http://schemas.microsoft.com/office/drawing/2014/main" id="{91945EC0-5D53-9CA7-977E-9197A083CE49}"/>
              </a:ext>
            </a:extLst>
          </p:cNvPr>
          <p:cNvSpPr txBox="1">
            <a:spLocks/>
          </p:cNvSpPr>
          <p:nvPr/>
        </p:nvSpPr>
        <p:spPr>
          <a:xfrm>
            <a:off x="1049416" y="6285307"/>
            <a:ext cx="10567146" cy="9408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3. Wait a few minutes for Codespace to start up ⏱️</a:t>
            </a:r>
          </a:p>
        </p:txBody>
      </p:sp>
      <p:cxnSp>
        <p:nvCxnSpPr>
          <p:cNvPr id="9" name="Straight Connector 8">
            <a:extLst>
              <a:ext uri="{FF2B5EF4-FFF2-40B4-BE49-F238E27FC236}">
                <a16:creationId xmlns:a16="http://schemas.microsoft.com/office/drawing/2014/main" id="{E2FE98D1-CCD2-D8CD-8F00-E8FCE4AC4624}"/>
              </a:ext>
            </a:extLst>
          </p:cNvPr>
          <p:cNvCxnSpPr/>
          <p:nvPr/>
        </p:nvCxnSpPr>
        <p:spPr>
          <a:xfrm flipH="1">
            <a:off x="4178709" y="5820697"/>
            <a:ext cx="1809136" cy="0"/>
          </a:xfrm>
          <a:prstGeom prst="line">
            <a:avLst/>
          </a:prstGeom>
          <a:ln w="76200">
            <a:solidFill>
              <a:srgbClr val="00B05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1033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36463-41B3-FC51-C3F6-29C8650EC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0DB90-E534-9D0B-6829-860B174E194C}"/>
              </a:ext>
            </a:extLst>
          </p:cNvPr>
          <p:cNvSpPr>
            <a:spLocks noGrp="1"/>
          </p:cNvSpPr>
          <p:nvPr>
            <p:ph type="title"/>
          </p:nvPr>
        </p:nvSpPr>
        <p:spPr/>
        <p:txBody>
          <a:bodyPr/>
          <a:lstStyle/>
          <a:p>
            <a:r>
              <a:rPr lang="es-MX"/>
              <a:t>Azure AI Vision: Multimodal embeddings API</a:t>
            </a:r>
          </a:p>
        </p:txBody>
      </p:sp>
      <p:sp>
        <p:nvSpPr>
          <p:cNvPr id="3" name="TextBox 2">
            <a:extLst>
              <a:ext uri="{FF2B5EF4-FFF2-40B4-BE49-F238E27FC236}">
                <a16:creationId xmlns:a16="http://schemas.microsoft.com/office/drawing/2014/main" id="{F4A117E2-77BD-D311-C74F-D8BB4437CE89}"/>
              </a:ext>
            </a:extLst>
          </p:cNvPr>
          <p:cNvSpPr txBox="1"/>
          <p:nvPr/>
        </p:nvSpPr>
        <p:spPr>
          <a:xfrm>
            <a:off x="1159328" y="1745866"/>
            <a:ext cx="10723299" cy="369332"/>
          </a:xfrm>
          <a:prstGeom prst="rect">
            <a:avLst/>
          </a:prstGeom>
          <a:noFill/>
        </p:spPr>
        <p:txBody>
          <a:bodyPr wrap="square" lIns="0" tIns="0" rIns="0" bIns="0" rtlCol="0">
            <a:spAutoFit/>
          </a:bodyPr>
          <a:lstStyle/>
          <a:p>
            <a:pPr algn="l"/>
            <a:r>
              <a:rPr lang="en-US" sz="2400" err="1"/>
              <a:t>Use Azure AI Vision API to generate embeddings from the Florence model.</a:t>
            </a:r>
          </a:p>
        </p:txBody>
      </p:sp>
      <p:cxnSp>
        <p:nvCxnSpPr>
          <p:cNvPr id="6" name="Straight Arrow Connector 5">
            <a:extLst>
              <a:ext uri="{FF2B5EF4-FFF2-40B4-BE49-F238E27FC236}">
                <a16:creationId xmlns:a16="http://schemas.microsoft.com/office/drawing/2014/main" id="{D334301C-91B6-4BC7-5DFE-FCAC9CA97209}"/>
              </a:ext>
            </a:extLst>
          </p:cNvPr>
          <p:cNvCxnSpPr>
            <a:cxnSpLocks/>
          </p:cNvCxnSpPr>
          <p:nvPr/>
        </p:nvCxnSpPr>
        <p:spPr>
          <a:xfrm>
            <a:off x="4105656" y="3227421"/>
            <a:ext cx="1489601"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384546B-B29C-1676-0771-F97D7A7C2DAD}"/>
              </a:ext>
            </a:extLst>
          </p:cNvPr>
          <p:cNvSpPr txBox="1"/>
          <p:nvPr/>
        </p:nvSpPr>
        <p:spPr>
          <a:xfrm>
            <a:off x="5748311" y="3073532"/>
            <a:ext cx="2350660" cy="307777"/>
          </a:xfrm>
          <a:prstGeom prst="rect">
            <a:avLst/>
          </a:prstGeom>
          <a:solidFill>
            <a:schemeClr val="accent5">
              <a:lumMod val="20000"/>
              <a:lumOff val="80000"/>
            </a:schemeClr>
          </a:solidFill>
        </p:spPr>
        <p:txBody>
          <a:bodyPr wrap="square" lIns="0" tIns="0" rIns="0" bIns="0" rtlCol="0">
            <a:spAutoFit/>
          </a:bodyPr>
          <a:lstStyle/>
          <a:p>
            <a:pPr algn="l"/>
            <a:r>
              <a:rPr lang="en-US" sz="2000" err="1">
                <a:latin typeface="Consolas" panose="020B0609020204030204" pitchFamily="49" charset="0"/>
                <a:cs typeface="Consolas" panose="020B0609020204030204" pitchFamily="49" charset="0"/>
              </a:rPr>
              <a:t>/vectorizeImage</a:t>
            </a:r>
          </a:p>
        </p:txBody>
      </p:sp>
      <p:cxnSp>
        <p:nvCxnSpPr>
          <p:cNvPr id="13" name="Straight Arrow Connector 12">
            <a:extLst>
              <a:ext uri="{FF2B5EF4-FFF2-40B4-BE49-F238E27FC236}">
                <a16:creationId xmlns:a16="http://schemas.microsoft.com/office/drawing/2014/main" id="{0EAA3B33-D666-E2B1-58C7-00F53C747457}"/>
              </a:ext>
            </a:extLst>
          </p:cNvPr>
          <p:cNvCxnSpPr>
            <a:cxnSpLocks/>
          </p:cNvCxnSpPr>
          <p:nvPr/>
        </p:nvCxnSpPr>
        <p:spPr>
          <a:xfrm>
            <a:off x="8229600" y="3227421"/>
            <a:ext cx="1328058" cy="5249"/>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0E05734-BBD7-9324-1970-05C3077E238D}"/>
              </a:ext>
            </a:extLst>
          </p:cNvPr>
          <p:cNvSpPr txBox="1"/>
          <p:nvPr/>
        </p:nvSpPr>
        <p:spPr>
          <a:xfrm>
            <a:off x="9675549" y="2505670"/>
            <a:ext cx="2034976" cy="1846659"/>
          </a:xfrm>
          <a:prstGeom prst="rect">
            <a:avLst/>
          </a:prstGeom>
          <a:noFill/>
        </p:spPr>
        <p:txBody>
          <a:bodyPr wrap="square" lIns="0" tIns="0" rIns="0" bIns="0" rtlCol="0">
            <a:spAutoFit/>
          </a:bodyPr>
          <a:lstStyle/>
          <a:p>
            <a:r>
              <a:rPr lang="en-US" sz="2000" b="0">
                <a:effectLst/>
                <a:latin typeface="Menlo" panose="020B0609030804020204" pitchFamily="49" charset="0"/>
              </a:rPr>
              <a:t>[</a:t>
            </a:r>
          </a:p>
          <a:p>
            <a:r>
              <a:rPr lang="en-US" sz="2000" b="0">
                <a:effectLst/>
                <a:latin typeface="Menlo" panose="020B0609030804020204" pitchFamily="49" charset="0"/>
              </a:rPr>
              <a:t>  3.3652344,</a:t>
            </a:r>
          </a:p>
          <a:p>
            <a:r>
              <a:rPr lang="en-US" sz="2000" b="0">
                <a:effectLst/>
                <a:latin typeface="Menlo" panose="020B0609030804020204" pitchFamily="49" charset="0"/>
              </a:rPr>
              <a:t>  0.8413086,</a:t>
            </a:r>
          </a:p>
          <a:p>
            <a:r>
              <a:rPr lang="en-US" sz="2000" b="0">
                <a:effectLst/>
                <a:latin typeface="Menlo" panose="020B0609030804020204" pitchFamily="49" charset="0"/>
              </a:rPr>
              <a:t>  1.2783203</a:t>
            </a:r>
            <a:r>
              <a:rPr lang="en-US" sz="2000">
                <a:latin typeface="Menlo" panose="020B0609030804020204" pitchFamily="49" charset="0"/>
              </a:rPr>
              <a:t>,</a:t>
            </a:r>
          </a:p>
          <a:p>
            <a:r>
              <a:rPr lang="en-US" sz="2000" b="0">
                <a:effectLst/>
                <a:latin typeface="Menlo" panose="020B0609030804020204" pitchFamily="49" charset="0"/>
              </a:rPr>
              <a:t>  ...],</a:t>
            </a:r>
          </a:p>
          <a:p>
            <a:pPr algn="l"/>
            <a:endParaRPr lang="en-US" sz="2000" err="1"/>
          </a:p>
        </p:txBody>
      </p:sp>
      <p:grpSp>
        <p:nvGrpSpPr>
          <p:cNvPr id="5" name="Group 4">
            <a:extLst>
              <a:ext uri="{FF2B5EF4-FFF2-40B4-BE49-F238E27FC236}">
                <a16:creationId xmlns:a16="http://schemas.microsoft.com/office/drawing/2014/main" id="{1D480DD1-1FB8-819D-3E31-F84C0180D8CC}"/>
              </a:ext>
            </a:extLst>
          </p:cNvPr>
          <p:cNvGrpSpPr/>
          <p:nvPr/>
        </p:nvGrpSpPr>
        <p:grpSpPr>
          <a:xfrm>
            <a:off x="1159328" y="4885494"/>
            <a:ext cx="10825844" cy="1846659"/>
            <a:chOff x="1159328" y="4885494"/>
            <a:chExt cx="10825844" cy="1846659"/>
          </a:xfrm>
        </p:grpSpPr>
        <p:sp>
          <p:nvSpPr>
            <p:cNvPr id="4" name="TextBox 3">
              <a:extLst>
                <a:ext uri="{FF2B5EF4-FFF2-40B4-BE49-F238E27FC236}">
                  <a16:creationId xmlns:a16="http://schemas.microsoft.com/office/drawing/2014/main" id="{4DFA80F1-A561-0EEB-A4F8-03BA16A2260F}"/>
                </a:ext>
              </a:extLst>
            </p:cNvPr>
            <p:cNvSpPr txBox="1"/>
            <p:nvPr/>
          </p:nvSpPr>
          <p:spPr>
            <a:xfrm>
              <a:off x="1159328" y="5046507"/>
              <a:ext cx="2818966" cy="615553"/>
            </a:xfrm>
            <a:prstGeom prst="rect">
              <a:avLst/>
            </a:prstGeom>
            <a:noFill/>
          </p:spPr>
          <p:txBody>
            <a:bodyPr wrap="square" lIns="0" tIns="0" rIns="0" bIns="0" rtlCol="0">
              <a:spAutoFit/>
            </a:bodyPr>
            <a:lstStyle/>
            <a:p>
              <a:pPr algn="l"/>
              <a:r>
                <a:rPr lang="en-US" sz="2000" err="1"/>
                <a:t>"a beach-themed tealight candle holder"</a:t>
              </a:r>
            </a:p>
          </p:txBody>
        </p:sp>
        <p:cxnSp>
          <p:nvCxnSpPr>
            <p:cNvPr id="7" name="Straight Arrow Connector 6">
              <a:extLst>
                <a:ext uri="{FF2B5EF4-FFF2-40B4-BE49-F238E27FC236}">
                  <a16:creationId xmlns:a16="http://schemas.microsoft.com/office/drawing/2014/main" id="{EB3BBDF5-6340-2E50-4F9C-576A6FA1C16F}"/>
                </a:ext>
              </a:extLst>
            </p:cNvPr>
            <p:cNvCxnSpPr>
              <a:cxnSpLocks/>
            </p:cNvCxnSpPr>
            <p:nvPr/>
          </p:nvCxnSpPr>
          <p:spPr>
            <a:xfrm>
              <a:off x="4105656" y="5502536"/>
              <a:ext cx="1489600"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DA677A-602A-1C99-5E13-5031EA6768DD}"/>
                </a:ext>
              </a:extLst>
            </p:cNvPr>
            <p:cNvSpPr txBox="1"/>
            <p:nvPr/>
          </p:nvSpPr>
          <p:spPr>
            <a:xfrm>
              <a:off x="5748311" y="5348647"/>
              <a:ext cx="2034976" cy="307777"/>
            </a:xfrm>
            <a:prstGeom prst="rect">
              <a:avLst/>
            </a:prstGeom>
            <a:solidFill>
              <a:schemeClr val="accent5">
                <a:lumMod val="20000"/>
                <a:lumOff val="80000"/>
              </a:schemeClr>
            </a:solidFill>
          </p:spPr>
          <p:txBody>
            <a:bodyPr wrap="square" lIns="0" tIns="0" rIns="0" bIns="0" rtlCol="0">
              <a:spAutoFit/>
            </a:bodyPr>
            <a:lstStyle/>
            <a:p>
              <a:pPr algn="l"/>
              <a:r>
                <a:rPr lang="en-US" sz="2000" err="1">
                  <a:latin typeface="Consolas" panose="020B0609020204030204" pitchFamily="49" charset="0"/>
                  <a:cs typeface="Consolas" panose="020B0609020204030204" pitchFamily="49" charset="0"/>
                </a:rPr>
                <a:t>/vectorizeText</a:t>
              </a:r>
            </a:p>
          </p:txBody>
        </p:sp>
        <p:cxnSp>
          <p:nvCxnSpPr>
            <p:cNvPr id="14" name="Straight Arrow Connector 13">
              <a:extLst>
                <a:ext uri="{FF2B5EF4-FFF2-40B4-BE49-F238E27FC236}">
                  <a16:creationId xmlns:a16="http://schemas.microsoft.com/office/drawing/2014/main" id="{A5ED2D1C-CFF3-1363-338D-247F9CF7C6D7}"/>
                </a:ext>
              </a:extLst>
            </p:cNvPr>
            <p:cNvCxnSpPr>
              <a:cxnSpLocks/>
            </p:cNvCxnSpPr>
            <p:nvPr/>
          </p:nvCxnSpPr>
          <p:spPr>
            <a:xfrm>
              <a:off x="8229600" y="5518671"/>
              <a:ext cx="1328057"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4C4289F-966D-0267-270E-9A21E633ABDD}"/>
                </a:ext>
              </a:extLst>
            </p:cNvPr>
            <p:cNvSpPr txBox="1"/>
            <p:nvPr/>
          </p:nvSpPr>
          <p:spPr>
            <a:xfrm>
              <a:off x="9675549" y="4885494"/>
              <a:ext cx="2309623" cy="1846659"/>
            </a:xfrm>
            <a:prstGeom prst="rect">
              <a:avLst/>
            </a:prstGeom>
            <a:noFill/>
          </p:spPr>
          <p:txBody>
            <a:bodyPr wrap="square" lIns="0" tIns="0" rIns="0" bIns="0" rtlCol="0">
              <a:spAutoFit/>
            </a:bodyPr>
            <a:lstStyle/>
            <a:p>
              <a:r>
                <a:rPr lang="en-US" sz="2000" b="0" i="0">
                  <a:effectLst/>
                  <a:latin typeface="Menlo" panose="020B0609030804020204" pitchFamily="49" charset="0"/>
                </a:rPr>
                <a:t>[</a:t>
              </a:r>
            </a:p>
            <a:p>
              <a:r>
                <a:rPr lang="en-US" sz="2000">
                  <a:latin typeface="Menlo" panose="020B0609030804020204" pitchFamily="49" charset="0"/>
                </a:rPr>
                <a:t> </a:t>
              </a:r>
              <a:r>
                <a:rPr lang="en-US" sz="2000" b="0" i="0">
                  <a:effectLst/>
                  <a:latin typeface="Menlo" panose="020B0609030804020204" pitchFamily="49" charset="0"/>
                </a:rPr>
                <a:t>-0.027022313,</a:t>
              </a:r>
            </a:p>
            <a:p>
              <a:r>
                <a:rPr lang="en-US" sz="2000">
                  <a:latin typeface="Menlo" panose="020B0609030804020204" pitchFamily="49" charset="0"/>
                </a:rPr>
                <a:t> </a:t>
              </a:r>
              <a:r>
                <a:rPr lang="en-US" sz="2000" b="0" i="0">
                  <a:effectLst/>
                  <a:latin typeface="Menlo" panose="020B0609030804020204" pitchFamily="49" charset="0"/>
                </a:rPr>
                <a:t>-0.011945606,</a:t>
              </a:r>
            </a:p>
            <a:p>
              <a:r>
                <a:rPr lang="en-US" sz="2000">
                  <a:latin typeface="Menlo" panose="020B0609030804020204" pitchFamily="49" charset="0"/>
                </a:rPr>
                <a:t> </a:t>
              </a:r>
              <a:r>
                <a:rPr lang="en-US" sz="2000" b="0" i="0">
                  <a:effectLst/>
                  <a:latin typeface="Menlo" panose="020B0609030804020204" pitchFamily="49" charset="0"/>
                </a:rPr>
                <a:t>0.019690325,</a:t>
              </a:r>
              <a:endParaRPr lang="en-US" sz="2000">
                <a:latin typeface="Menlo" panose="020B0609030804020204" pitchFamily="49" charset="0"/>
              </a:endParaRPr>
            </a:p>
            <a:p>
              <a:r>
                <a:rPr lang="en-US" sz="2000" b="0">
                  <a:effectLst/>
                  <a:latin typeface="Menlo" panose="020B0609030804020204" pitchFamily="49" charset="0"/>
                </a:rPr>
                <a:t>  ...],</a:t>
              </a:r>
            </a:p>
            <a:p>
              <a:pPr algn="l"/>
              <a:endParaRPr lang="en-US" sz="2000" err="1"/>
            </a:p>
          </p:txBody>
        </p:sp>
      </p:grpSp>
      <p:pic>
        <p:nvPicPr>
          <p:cNvPr id="19" name="Picture 18">
            <a:extLst>
              <a:ext uri="{FF2B5EF4-FFF2-40B4-BE49-F238E27FC236}">
                <a16:creationId xmlns:a16="http://schemas.microsoft.com/office/drawing/2014/main" id="{915E2AA5-5172-6CEC-0C4D-7EC04222C0CD}"/>
              </a:ext>
            </a:extLst>
          </p:cNvPr>
          <p:cNvPicPr>
            <a:picLocks noChangeAspect="1"/>
          </p:cNvPicPr>
          <p:nvPr/>
        </p:nvPicPr>
        <p:blipFill>
          <a:blip r:embed="rId2"/>
          <a:stretch>
            <a:fillRect/>
          </a:stretch>
        </p:blipFill>
        <p:spPr>
          <a:xfrm>
            <a:off x="1049416" y="2415067"/>
            <a:ext cx="2818967" cy="1943171"/>
          </a:xfrm>
          <a:prstGeom prst="rect">
            <a:avLst/>
          </a:prstGeom>
        </p:spPr>
      </p:pic>
    </p:spTree>
    <p:extLst>
      <p:ext uri="{BB962C8B-B14F-4D97-AF65-F5344CB8AC3E}">
        <p14:creationId xmlns:p14="http://schemas.microsoft.com/office/powerpoint/2010/main" val="45604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062F9-A183-7586-FAEE-DCA5B67BF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5E6DF-2546-2B17-F046-5AE14D8F470B}"/>
              </a:ext>
            </a:extLst>
          </p:cNvPr>
          <p:cNvSpPr>
            <a:spLocks noGrp="1"/>
          </p:cNvSpPr>
          <p:nvPr>
            <p:ph type="title"/>
          </p:nvPr>
        </p:nvSpPr>
        <p:spPr/>
        <p:txBody>
          <a:bodyPr/>
          <a:lstStyle/>
          <a:p>
            <a:r>
              <a:rPr lang="es-MX"/>
              <a:t>Azure AI Vision: Calling API from Python</a:t>
            </a:r>
          </a:p>
        </p:txBody>
      </p:sp>
      <p:sp>
        <p:nvSpPr>
          <p:cNvPr id="10" name="TextBox 9">
            <a:extLst>
              <a:ext uri="{FF2B5EF4-FFF2-40B4-BE49-F238E27FC236}">
                <a16:creationId xmlns:a16="http://schemas.microsoft.com/office/drawing/2014/main" id="{A88B7FFB-6ED0-CC55-2DF7-53543E8552BC}"/>
              </a:ext>
            </a:extLst>
          </p:cNvPr>
          <p:cNvSpPr txBox="1"/>
          <p:nvPr/>
        </p:nvSpPr>
        <p:spPr>
          <a:xfrm>
            <a:off x="1168472" y="1783821"/>
            <a:ext cx="9974112" cy="3970318"/>
          </a:xfrm>
          <a:prstGeom prst="rect">
            <a:avLst/>
          </a:prstGeom>
          <a:solidFill>
            <a:schemeClr val="bg1">
              <a:lumMod val="95000"/>
            </a:schemeClr>
          </a:solidFill>
        </p:spPr>
        <p:txBody>
          <a:bodyPr wrap="square">
            <a:spAutoFit/>
          </a:bodyPr>
          <a:lstStyle/>
          <a:p>
            <a:r>
              <a:rPr lang="en-US" b="0">
                <a:solidFill>
                  <a:srgbClr val="0000FF"/>
                </a:solidFill>
                <a:effectLst/>
                <a:latin typeface="Menlo" panose="020B0609030804020204" pitchFamily="49" charset="0"/>
              </a:rPr>
              <a:t>def</a:t>
            </a:r>
            <a:r>
              <a:rPr lang="en-US" b="0">
                <a:solidFill>
                  <a:srgbClr val="000000"/>
                </a:solidFill>
                <a:effectLst/>
                <a:latin typeface="Menlo" panose="020B0609030804020204" pitchFamily="49" charset="0"/>
              </a:rPr>
              <a:t> </a:t>
            </a:r>
            <a:r>
              <a:rPr lang="en-US" b="0">
                <a:solidFill>
                  <a:srgbClr val="795E26"/>
                </a:solidFill>
                <a:effectLst/>
                <a:latin typeface="Menlo" panose="020B0609030804020204" pitchFamily="49" charset="0"/>
              </a:rPr>
              <a:t>get_image_embedding</a:t>
            </a:r>
            <a:r>
              <a:rPr lang="en-US" b="0">
                <a:solidFill>
                  <a:srgbClr val="000000"/>
                </a:solidFill>
                <a:effectLst/>
                <a:latin typeface="Menlo" panose="020B0609030804020204" pitchFamily="49" charset="0"/>
              </a:rPr>
              <a:t>(</a:t>
            </a:r>
            <a:r>
              <a:rPr lang="en-US" b="0">
                <a:solidFill>
                  <a:srgbClr val="001080"/>
                </a:solidFill>
                <a:effectLst/>
                <a:latin typeface="Menlo" panose="020B0609030804020204" pitchFamily="49" charset="0"/>
              </a:rPr>
              <a:t>image_file</a:t>
            </a:r>
            <a:r>
              <a:rPr lang="en-US" b="0">
                <a:solidFill>
                  <a:srgbClr val="000000"/>
                </a:solidFill>
                <a:effectLst/>
                <a:latin typeface="Menlo" panose="020B0609030804020204" pitchFamily="49" charset="0"/>
              </a:rPr>
              <a:t>):</a:t>
            </a:r>
          </a:p>
          <a:p>
            <a:r>
              <a:rPr lang="en-US">
                <a:solidFill>
                  <a:srgbClr val="000000"/>
                </a:solidFill>
                <a:latin typeface="Menlo" panose="020B0609030804020204" pitchFamily="49" charset="0"/>
              </a:rPr>
              <a:t>  </a:t>
            </a:r>
            <a:r>
              <a:rPr lang="en-US" b="0">
                <a:solidFill>
                  <a:srgbClr val="000000"/>
                </a:solidFill>
                <a:effectLst/>
                <a:latin typeface="Menlo" panose="020B0609030804020204" pitchFamily="49" charset="0"/>
              </a:rPr>
              <a:t>mimetype = mimetypes.guess_type(image_file)[</a:t>
            </a:r>
            <a:r>
              <a:rPr lang="en-US" b="0">
                <a:solidFill>
                  <a:srgbClr val="098658"/>
                </a:solidFill>
                <a:effectLst/>
                <a:latin typeface="Menlo" panose="020B0609030804020204" pitchFamily="49" charset="0"/>
              </a:rPr>
              <a:t>0</a:t>
            </a:r>
            <a:r>
              <a:rPr lang="en-US" b="0">
                <a:solidFill>
                  <a:srgbClr val="000000"/>
                </a:solidFill>
                <a:effectLst/>
                <a:latin typeface="Menlo" panose="020B0609030804020204" pitchFamily="49" charset="0"/>
              </a:rPr>
              <a:t>]</a:t>
            </a:r>
          </a:p>
          <a:p>
            <a:r>
              <a:rPr lang="en-US">
                <a:solidFill>
                  <a:srgbClr val="000000"/>
                </a:solidFill>
                <a:latin typeface="Menlo" panose="020B0609030804020204" pitchFamily="49" charset="0"/>
              </a:rPr>
              <a:t>  </a:t>
            </a:r>
            <a:r>
              <a:rPr lang="en-US" b="0">
                <a:solidFill>
                  <a:srgbClr val="000000"/>
                </a:solidFill>
                <a:effectLst/>
                <a:latin typeface="Menlo" panose="020B0609030804020204" pitchFamily="49" charset="0"/>
              </a:rPr>
              <a:t>url = </a:t>
            </a:r>
            <a:r>
              <a:rPr lang="en-US" b="0">
                <a:solidFill>
                  <a:srgbClr val="0000FF"/>
                </a:solidFill>
                <a:effectLst/>
                <a:latin typeface="Menlo" panose="020B0609030804020204" pitchFamily="49" charset="0"/>
              </a:rPr>
              <a:t>f</a:t>
            </a:r>
            <a:r>
              <a:rPr lang="en-US" b="0">
                <a:solidFill>
                  <a:srgbClr val="A31515"/>
                </a:solidFill>
                <a:effectLst/>
                <a:latin typeface="Menlo" panose="020B0609030804020204" pitchFamily="49" charset="0"/>
              </a:rPr>
              <a:t>"</a:t>
            </a:r>
            <a:r>
              <a:rPr lang="en-US" b="0">
                <a:solidFill>
                  <a:srgbClr val="0000FF"/>
                </a:solidFill>
                <a:effectLst/>
                <a:latin typeface="Menlo" panose="020B0609030804020204" pitchFamily="49" charset="0"/>
              </a:rPr>
              <a:t>{</a:t>
            </a:r>
            <a:r>
              <a:rPr lang="en-US" b="0">
                <a:solidFill>
                  <a:srgbClr val="000000"/>
                </a:solidFill>
                <a:effectLst/>
                <a:latin typeface="Menlo" panose="020B0609030804020204" pitchFamily="49" charset="0"/>
              </a:rPr>
              <a:t>AZURE_AI_VISION_URL</a:t>
            </a:r>
            <a:r>
              <a:rPr lang="en-US" b="0">
                <a:solidFill>
                  <a:srgbClr val="0000FF"/>
                </a:solidFill>
                <a:effectLst/>
                <a:latin typeface="Menlo" panose="020B0609030804020204" pitchFamily="49" charset="0"/>
              </a:rPr>
              <a:t>}</a:t>
            </a:r>
            <a:r>
              <a:rPr lang="en-US" b="0">
                <a:solidFill>
                  <a:srgbClr val="A31515"/>
                </a:solidFill>
                <a:effectLst/>
                <a:latin typeface="Menlo" panose="020B0609030804020204" pitchFamily="49" charset="0"/>
              </a:rPr>
              <a:t>:vectorizeImage"</a:t>
            </a:r>
            <a:endParaRPr lang="en-US">
              <a:solidFill>
                <a:srgbClr val="000000"/>
              </a:solidFill>
              <a:latin typeface="Menlo" panose="020B0609030804020204" pitchFamily="49" charset="0"/>
            </a:endParaRPr>
          </a:p>
          <a:p>
            <a:r>
              <a:rPr lang="en-US" b="0">
                <a:solidFill>
                  <a:srgbClr val="000000"/>
                </a:solidFill>
                <a:effectLst/>
                <a:latin typeface="Menlo" panose="020B0609030804020204" pitchFamily="49" charset="0"/>
              </a:rPr>
              <a:t>  headers = get_auth_headers()</a:t>
            </a:r>
          </a:p>
          <a:p>
            <a:r>
              <a:rPr lang="en-US">
                <a:solidFill>
                  <a:srgbClr val="000000"/>
                </a:solidFill>
                <a:latin typeface="Menlo" panose="020B0609030804020204" pitchFamily="49" charset="0"/>
              </a:rPr>
              <a:t>  </a:t>
            </a:r>
            <a:r>
              <a:rPr lang="en-US" b="0">
                <a:solidFill>
                  <a:srgbClr val="000000"/>
                </a:solidFill>
                <a:effectLst/>
                <a:latin typeface="Menlo" panose="020B0609030804020204" pitchFamily="49" charset="0"/>
              </a:rPr>
              <a:t>headers[</a:t>
            </a:r>
            <a:r>
              <a:rPr lang="en-US" b="0">
                <a:solidFill>
                  <a:srgbClr val="A31515"/>
                </a:solidFill>
                <a:effectLst/>
                <a:latin typeface="Menlo" panose="020B0609030804020204" pitchFamily="49" charset="0"/>
              </a:rPr>
              <a:t>"Content-Type"</a:t>
            </a:r>
            <a:r>
              <a:rPr lang="en-US" b="0">
                <a:solidFill>
                  <a:srgbClr val="000000"/>
                </a:solidFill>
                <a:effectLst/>
                <a:latin typeface="Menlo" panose="020B0609030804020204" pitchFamily="49" charset="0"/>
              </a:rPr>
              <a:t>] = mimetype</a:t>
            </a:r>
          </a:p>
          <a:p>
            <a:r>
              <a:rPr lang="en-US">
                <a:solidFill>
                  <a:srgbClr val="000000"/>
                </a:solidFill>
                <a:latin typeface="Menlo" panose="020B0609030804020204" pitchFamily="49" charset="0"/>
              </a:rPr>
              <a:t>  </a:t>
            </a:r>
            <a:r>
              <a:rPr lang="en-US" b="0">
                <a:solidFill>
                  <a:srgbClr val="000000"/>
                </a:solidFill>
                <a:effectLst/>
                <a:latin typeface="Menlo" panose="020B0609030804020204" pitchFamily="49" charset="0"/>
              </a:rPr>
              <a:t>response = requests.post(url, </a:t>
            </a:r>
            <a:r>
              <a:rPr lang="en-US" b="0">
                <a:solidFill>
                  <a:srgbClr val="001080"/>
                </a:solidFill>
                <a:effectLst/>
                <a:latin typeface="Menlo" panose="020B0609030804020204" pitchFamily="49" charset="0"/>
              </a:rPr>
              <a:t>headers</a:t>
            </a:r>
            <a:r>
              <a:rPr lang="en-US" b="0">
                <a:solidFill>
                  <a:srgbClr val="000000"/>
                </a:solidFill>
                <a:effectLst/>
                <a:latin typeface="Menlo" panose="020B0609030804020204" pitchFamily="49" charset="0"/>
              </a:rPr>
              <a:t>=headers,</a:t>
            </a:r>
          </a:p>
          <a:p>
            <a:r>
              <a:rPr lang="en-US">
                <a:solidFill>
                  <a:srgbClr val="000000"/>
                </a:solidFill>
                <a:latin typeface="Menlo" panose="020B0609030804020204" pitchFamily="49" charset="0"/>
              </a:rPr>
              <a:t>    </a:t>
            </a:r>
            <a:r>
              <a:rPr lang="en-US" b="0">
                <a:solidFill>
                  <a:srgbClr val="001080"/>
                </a:solidFill>
                <a:effectLst/>
                <a:latin typeface="Menlo" panose="020B0609030804020204" pitchFamily="49" charset="0"/>
              </a:rPr>
              <a:t>params</a:t>
            </a:r>
            <a:r>
              <a:rPr lang="en-US" b="0">
                <a:solidFill>
                  <a:srgbClr val="000000"/>
                </a:solidFill>
                <a:effectLst/>
                <a:latin typeface="Menlo" panose="020B0609030804020204" pitchFamily="49" charset="0"/>
              </a:rPr>
              <a:t>=get_model_params(), </a:t>
            </a:r>
            <a:r>
              <a:rPr lang="en-US" b="0">
                <a:solidFill>
                  <a:srgbClr val="001080"/>
                </a:solidFill>
                <a:effectLst/>
                <a:latin typeface="Menlo" panose="020B0609030804020204" pitchFamily="49" charset="0"/>
              </a:rPr>
              <a:t>data</a:t>
            </a:r>
            <a:r>
              <a:rPr lang="en-US" b="0">
                <a:solidFill>
                  <a:srgbClr val="000000"/>
                </a:solidFill>
                <a:effectLst/>
                <a:latin typeface="Menlo" panose="020B0609030804020204" pitchFamily="49" charset="0"/>
              </a:rPr>
              <a:t>=</a:t>
            </a:r>
            <a:r>
              <a:rPr lang="en-US" b="0">
                <a:solidFill>
                  <a:srgbClr val="795E26"/>
                </a:solidFill>
                <a:effectLst/>
                <a:latin typeface="Menlo" panose="020B0609030804020204" pitchFamily="49" charset="0"/>
              </a:rPr>
              <a:t>open</a:t>
            </a:r>
            <a:r>
              <a:rPr lang="en-US" b="0">
                <a:solidFill>
                  <a:srgbClr val="000000"/>
                </a:solidFill>
                <a:effectLst/>
                <a:latin typeface="Menlo" panose="020B0609030804020204" pitchFamily="49" charset="0"/>
              </a:rPr>
              <a:t>(image_file, </a:t>
            </a:r>
            <a:r>
              <a:rPr lang="en-US" b="0">
                <a:solidFill>
                  <a:srgbClr val="A31515"/>
                </a:solidFill>
                <a:effectLst/>
                <a:latin typeface="Menlo" panose="020B0609030804020204" pitchFamily="49" charset="0"/>
              </a:rPr>
              <a:t>"rb"</a:t>
            </a:r>
            <a:r>
              <a:rPr lang="en-US" b="0">
                <a:solidFill>
                  <a:srgbClr val="000000"/>
                </a:solidFill>
                <a:effectLst/>
                <a:latin typeface="Menlo" panose="020B0609030804020204" pitchFamily="49" charset="0"/>
              </a:rPr>
              <a:t>))</a:t>
            </a:r>
          </a:p>
          <a:p>
            <a:r>
              <a:rPr lang="en-US">
                <a:solidFill>
                  <a:srgbClr val="000000"/>
                </a:solidFill>
                <a:latin typeface="Menlo" panose="020B0609030804020204" pitchFamily="49" charset="0"/>
              </a:rPr>
              <a:t>  </a:t>
            </a:r>
            <a:r>
              <a:rPr lang="en-US" b="0">
                <a:solidFill>
                  <a:srgbClr val="AF00DB"/>
                </a:solidFill>
                <a:effectLst/>
                <a:latin typeface="Menlo" panose="020B0609030804020204" pitchFamily="49" charset="0"/>
              </a:rPr>
              <a:t>return</a:t>
            </a:r>
            <a:r>
              <a:rPr lang="en-US" b="0">
                <a:solidFill>
                  <a:srgbClr val="000000"/>
                </a:solidFill>
                <a:effectLst/>
                <a:latin typeface="Menlo" panose="020B0609030804020204" pitchFamily="49" charset="0"/>
              </a:rPr>
              <a:t> response.json()[</a:t>
            </a:r>
            <a:r>
              <a:rPr lang="en-US" b="0">
                <a:solidFill>
                  <a:srgbClr val="A31515"/>
                </a:solidFill>
                <a:effectLst/>
                <a:latin typeface="Menlo" panose="020B0609030804020204" pitchFamily="49" charset="0"/>
              </a:rPr>
              <a:t>"vector"</a:t>
            </a:r>
            <a:r>
              <a:rPr lang="en-US" b="0">
                <a:solidFill>
                  <a:srgbClr val="000000"/>
                </a:solidFill>
                <a:effectLst/>
                <a:latin typeface="Menlo" panose="020B0609030804020204" pitchFamily="49" charset="0"/>
              </a:rPr>
              <a:t>]</a:t>
            </a:r>
          </a:p>
          <a:p>
            <a:endParaRPr lang="en-US">
              <a:solidFill>
                <a:srgbClr val="000000"/>
              </a:solidFill>
              <a:latin typeface="Menlo" panose="020B0609030804020204" pitchFamily="49" charset="0"/>
            </a:endParaRPr>
          </a:p>
          <a:p>
            <a:r>
              <a:rPr lang="en-US" b="0">
                <a:solidFill>
                  <a:srgbClr val="0000FF"/>
                </a:solidFill>
                <a:effectLst/>
                <a:latin typeface="Menlo" panose="020B0609030804020204" pitchFamily="49" charset="0"/>
              </a:rPr>
              <a:t>def</a:t>
            </a:r>
            <a:r>
              <a:rPr lang="en-US" b="0">
                <a:solidFill>
                  <a:srgbClr val="000000"/>
                </a:solidFill>
                <a:effectLst/>
                <a:latin typeface="Menlo" panose="020B0609030804020204" pitchFamily="49" charset="0"/>
              </a:rPr>
              <a:t> </a:t>
            </a:r>
            <a:r>
              <a:rPr lang="en-US" b="0">
                <a:solidFill>
                  <a:srgbClr val="795E26"/>
                </a:solidFill>
                <a:effectLst/>
                <a:latin typeface="Menlo" panose="020B0609030804020204" pitchFamily="49" charset="0"/>
              </a:rPr>
              <a:t>get_text_embedding</a:t>
            </a:r>
            <a:r>
              <a:rPr lang="en-US" b="0">
                <a:solidFill>
                  <a:srgbClr val="000000"/>
                </a:solidFill>
                <a:effectLst/>
                <a:latin typeface="Menlo" panose="020B0609030804020204" pitchFamily="49" charset="0"/>
              </a:rPr>
              <a:t>(</a:t>
            </a:r>
            <a:r>
              <a:rPr lang="en-US" b="0">
                <a:solidFill>
                  <a:srgbClr val="001080"/>
                </a:solidFill>
                <a:effectLst/>
                <a:latin typeface="Menlo" panose="020B0609030804020204" pitchFamily="49" charset="0"/>
              </a:rPr>
              <a:t>text</a:t>
            </a:r>
            <a:r>
              <a:rPr lang="en-US" b="0">
                <a:solidFill>
                  <a:srgbClr val="000000"/>
                </a:solidFill>
                <a:effectLst/>
                <a:latin typeface="Menlo" panose="020B0609030804020204" pitchFamily="49" charset="0"/>
              </a:rPr>
              <a:t>):</a:t>
            </a:r>
          </a:p>
          <a:p>
            <a:r>
              <a:rPr lang="en-US">
                <a:solidFill>
                  <a:srgbClr val="000000"/>
                </a:solidFill>
                <a:latin typeface="Menlo" panose="020B0609030804020204" pitchFamily="49" charset="0"/>
              </a:rPr>
              <a:t>  </a:t>
            </a:r>
            <a:r>
              <a:rPr lang="en-US" b="0">
                <a:solidFill>
                  <a:srgbClr val="000000"/>
                </a:solidFill>
                <a:effectLst/>
                <a:latin typeface="Menlo" panose="020B0609030804020204" pitchFamily="49" charset="0"/>
              </a:rPr>
              <a:t>url = </a:t>
            </a:r>
            <a:r>
              <a:rPr lang="en-US" b="0">
                <a:solidFill>
                  <a:srgbClr val="0000FF"/>
                </a:solidFill>
                <a:effectLst/>
                <a:latin typeface="Menlo" panose="020B0609030804020204" pitchFamily="49" charset="0"/>
              </a:rPr>
              <a:t>f</a:t>
            </a:r>
            <a:r>
              <a:rPr lang="en-US" b="0">
                <a:solidFill>
                  <a:srgbClr val="A31515"/>
                </a:solidFill>
                <a:effectLst/>
                <a:latin typeface="Menlo" panose="020B0609030804020204" pitchFamily="49" charset="0"/>
              </a:rPr>
              <a:t>"</a:t>
            </a:r>
            <a:r>
              <a:rPr lang="en-US" b="0">
                <a:solidFill>
                  <a:srgbClr val="0000FF"/>
                </a:solidFill>
                <a:effectLst/>
                <a:latin typeface="Menlo" panose="020B0609030804020204" pitchFamily="49" charset="0"/>
              </a:rPr>
              <a:t>{</a:t>
            </a:r>
            <a:r>
              <a:rPr lang="en-US" b="0">
                <a:solidFill>
                  <a:srgbClr val="000000"/>
                </a:solidFill>
                <a:effectLst/>
                <a:latin typeface="Menlo" panose="020B0609030804020204" pitchFamily="49" charset="0"/>
              </a:rPr>
              <a:t>AZURE_AI_VISION_URL</a:t>
            </a:r>
            <a:r>
              <a:rPr lang="en-US" b="0">
                <a:solidFill>
                  <a:srgbClr val="0000FF"/>
                </a:solidFill>
                <a:effectLst/>
                <a:latin typeface="Menlo" panose="020B0609030804020204" pitchFamily="49" charset="0"/>
              </a:rPr>
              <a:t>}</a:t>
            </a:r>
            <a:r>
              <a:rPr lang="en-US" b="0">
                <a:solidFill>
                  <a:srgbClr val="A31515"/>
                </a:solidFill>
                <a:effectLst/>
                <a:latin typeface="Menlo" panose="020B0609030804020204" pitchFamily="49" charset="0"/>
              </a:rPr>
              <a:t>:vectorizeText"</a:t>
            </a:r>
            <a:endParaRPr lang="en-US">
              <a:solidFill>
                <a:srgbClr val="000000"/>
              </a:solidFill>
              <a:latin typeface="Menlo" panose="020B0609030804020204" pitchFamily="49" charset="0"/>
            </a:endParaRPr>
          </a:p>
          <a:p>
            <a:r>
              <a:rPr lang="en-US" b="0">
                <a:solidFill>
                  <a:srgbClr val="000000"/>
                </a:solidFill>
                <a:effectLst/>
                <a:latin typeface="Menlo" panose="020B0609030804020204" pitchFamily="49" charset="0"/>
              </a:rPr>
              <a:t>  response = requests.post(url, </a:t>
            </a:r>
            <a:r>
              <a:rPr lang="en-US" b="0">
                <a:solidFill>
                  <a:srgbClr val="001080"/>
                </a:solidFill>
                <a:effectLst/>
                <a:latin typeface="Menlo" panose="020B0609030804020204" pitchFamily="49" charset="0"/>
              </a:rPr>
              <a:t>headers</a:t>
            </a:r>
            <a:r>
              <a:rPr lang="en-US" b="0">
                <a:solidFill>
                  <a:srgbClr val="000000"/>
                </a:solidFill>
                <a:effectLst/>
                <a:latin typeface="Menlo" panose="020B0609030804020204" pitchFamily="49" charset="0"/>
              </a:rPr>
              <a:t>=get_auth_headers(),</a:t>
            </a:r>
          </a:p>
          <a:p>
            <a:r>
              <a:rPr lang="en-US">
                <a:solidFill>
                  <a:srgbClr val="000000"/>
                </a:solidFill>
                <a:latin typeface="Menlo" panose="020B0609030804020204" pitchFamily="49" charset="0"/>
              </a:rPr>
              <a:t>      </a:t>
            </a:r>
            <a:r>
              <a:rPr lang="en-US" b="0">
                <a:solidFill>
                  <a:srgbClr val="001080"/>
                </a:solidFill>
                <a:effectLst/>
                <a:latin typeface="Menlo" panose="020B0609030804020204" pitchFamily="49" charset="0"/>
              </a:rPr>
              <a:t>params</a:t>
            </a:r>
            <a:r>
              <a:rPr lang="en-US" b="0">
                <a:solidFill>
                  <a:srgbClr val="000000"/>
                </a:solidFill>
                <a:effectLst/>
                <a:latin typeface="Menlo" panose="020B0609030804020204" pitchFamily="49" charset="0"/>
              </a:rPr>
              <a:t>=get_model_params(), </a:t>
            </a:r>
            <a:r>
              <a:rPr lang="en-US" b="0">
                <a:solidFill>
                  <a:srgbClr val="001080"/>
                </a:solidFill>
                <a:effectLst/>
                <a:latin typeface="Menlo" panose="020B0609030804020204" pitchFamily="49" charset="0"/>
              </a:rPr>
              <a:t>json</a:t>
            </a:r>
            <a:r>
              <a:rPr lang="en-US" b="0">
                <a:solidFill>
                  <a:srgbClr val="000000"/>
                </a:solidFill>
                <a:effectLst/>
                <a:latin typeface="Menlo" panose="020B0609030804020204" pitchFamily="49" charset="0"/>
              </a:rPr>
              <a:t>={</a:t>
            </a:r>
            <a:r>
              <a:rPr lang="en-US" b="0">
                <a:solidFill>
                  <a:srgbClr val="A31515"/>
                </a:solidFill>
                <a:effectLst/>
                <a:latin typeface="Menlo" panose="020B0609030804020204" pitchFamily="49" charset="0"/>
              </a:rPr>
              <a:t>"text"</a:t>
            </a:r>
            <a:r>
              <a:rPr lang="en-US" b="0">
                <a:solidFill>
                  <a:srgbClr val="000000"/>
                </a:solidFill>
                <a:effectLst/>
                <a:latin typeface="Menlo" panose="020B0609030804020204" pitchFamily="49" charset="0"/>
              </a:rPr>
              <a:t>: text})</a:t>
            </a:r>
          </a:p>
          <a:p>
            <a:r>
              <a:rPr lang="en-US">
                <a:solidFill>
                  <a:srgbClr val="000000"/>
                </a:solidFill>
                <a:latin typeface="Menlo" panose="020B0609030804020204" pitchFamily="49" charset="0"/>
              </a:rPr>
              <a:t>  </a:t>
            </a:r>
            <a:r>
              <a:rPr lang="en-US" b="0">
                <a:solidFill>
                  <a:srgbClr val="AF00DB"/>
                </a:solidFill>
                <a:effectLst/>
                <a:latin typeface="Menlo" panose="020B0609030804020204" pitchFamily="49" charset="0"/>
              </a:rPr>
              <a:t>return</a:t>
            </a:r>
            <a:r>
              <a:rPr lang="en-US" b="0">
                <a:solidFill>
                  <a:srgbClr val="000000"/>
                </a:solidFill>
                <a:effectLst/>
                <a:latin typeface="Menlo" panose="020B0609030804020204" pitchFamily="49" charset="0"/>
              </a:rPr>
              <a:t> response.json()[</a:t>
            </a:r>
            <a:r>
              <a:rPr lang="en-US" b="0">
                <a:solidFill>
                  <a:srgbClr val="A31515"/>
                </a:solidFill>
                <a:effectLst/>
                <a:latin typeface="Menlo" panose="020B0609030804020204" pitchFamily="49" charset="0"/>
              </a:rPr>
              <a:t>"vector"</a:t>
            </a:r>
            <a:r>
              <a:rPr lang="en-US" b="0">
                <a:solidFill>
                  <a:srgbClr val="000000"/>
                </a:solidFill>
                <a:effectLst/>
                <a:latin typeface="Menlo" panose="020B0609030804020204" pitchFamily="49" charset="0"/>
              </a:rPr>
              <a:t>]</a:t>
            </a:r>
          </a:p>
        </p:txBody>
      </p:sp>
      <p:sp>
        <p:nvSpPr>
          <p:cNvPr id="12" name="Content Placeholder 4">
            <a:extLst>
              <a:ext uri="{FF2B5EF4-FFF2-40B4-BE49-F238E27FC236}">
                <a16:creationId xmlns:a16="http://schemas.microsoft.com/office/drawing/2014/main" id="{C41DA08F-26D0-8635-08EF-A01B4B6128EB}"/>
              </a:ext>
            </a:extLst>
          </p:cNvPr>
          <p:cNvSpPr txBox="1">
            <a:spLocks/>
          </p:cNvSpPr>
          <p:nvPr/>
        </p:nvSpPr>
        <p:spPr>
          <a:xfrm>
            <a:off x="1168472" y="6108039"/>
            <a:ext cx="5314624" cy="583406"/>
          </a:xfrm>
          <a:prstGeom prst="rect">
            <a:avLst/>
          </a:prstGeom>
        </p:spPr>
        <p:txBody>
          <a:bodyPr vert="horz" wrap="square" lIns="0" tIns="0" rIns="0" bIns="0" rtlCol="0" anchor="t">
            <a:norm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t>Notebook: </a:t>
            </a:r>
            <a:r>
              <a:rPr lang="en-US" sz="2400">
                <a:hlinkClick r:id="rId2"/>
              </a:rPr>
              <a:t>multimodal_vectors.ipynb</a:t>
            </a:r>
            <a:endParaRPr lang="en-US" sz="2400"/>
          </a:p>
        </p:txBody>
      </p:sp>
    </p:spTree>
    <p:extLst>
      <p:ext uri="{BB962C8B-B14F-4D97-AF65-F5344CB8AC3E}">
        <p14:creationId xmlns:p14="http://schemas.microsoft.com/office/powerpoint/2010/main" val="1632015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8947C-B8F9-C65A-21E7-7AC8E41C3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D5DB9-56D1-3CC3-B146-B9B11F338B2F}"/>
              </a:ext>
            </a:extLst>
          </p:cNvPr>
          <p:cNvSpPr>
            <a:spLocks noGrp="1"/>
          </p:cNvSpPr>
          <p:nvPr>
            <p:ph type="title"/>
          </p:nvPr>
        </p:nvSpPr>
        <p:spPr/>
        <p:txBody>
          <a:bodyPr/>
          <a:lstStyle/>
          <a:p>
            <a:r>
              <a:rPr lang="es-MX"/>
              <a:t>Vector search with multimodal embeddings</a:t>
            </a:r>
          </a:p>
        </p:txBody>
      </p:sp>
      <p:cxnSp>
        <p:nvCxnSpPr>
          <p:cNvPr id="5" name="Straight Arrow Connector 4">
            <a:extLst>
              <a:ext uri="{FF2B5EF4-FFF2-40B4-BE49-F238E27FC236}">
                <a16:creationId xmlns:a16="http://schemas.microsoft.com/office/drawing/2014/main" id="{C72CFB2E-FDA6-488E-311F-32BCF96A7CE2}"/>
              </a:ext>
            </a:extLst>
          </p:cNvPr>
          <p:cNvCxnSpPr>
            <a:cxnSpLocks/>
          </p:cNvCxnSpPr>
          <p:nvPr/>
        </p:nvCxnSpPr>
        <p:spPr>
          <a:xfrm>
            <a:off x="2343091" y="2733470"/>
            <a:ext cx="928719"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FC0D218-995E-8189-74DB-5EAD9CEF9547}"/>
              </a:ext>
            </a:extLst>
          </p:cNvPr>
          <p:cNvSpPr txBox="1"/>
          <p:nvPr/>
        </p:nvSpPr>
        <p:spPr>
          <a:xfrm>
            <a:off x="3414119" y="2547575"/>
            <a:ext cx="2350660" cy="307777"/>
          </a:xfrm>
          <a:prstGeom prst="rect">
            <a:avLst/>
          </a:prstGeom>
          <a:solidFill>
            <a:schemeClr val="accent5">
              <a:lumMod val="20000"/>
              <a:lumOff val="80000"/>
            </a:schemeClr>
          </a:solidFill>
        </p:spPr>
        <p:txBody>
          <a:bodyPr wrap="square" lIns="0" tIns="0" rIns="0" bIns="0" rtlCol="0">
            <a:spAutoFit/>
          </a:bodyPr>
          <a:lstStyle/>
          <a:p>
            <a:pPr algn="l"/>
            <a:r>
              <a:rPr lang="en-US" sz="2000" err="1">
                <a:latin typeface="Consolas" panose="020B0609020204030204" pitchFamily="49" charset="0"/>
                <a:cs typeface="Consolas" panose="020B0609020204030204" pitchFamily="49" charset="0"/>
              </a:rPr>
              <a:t>/vectorizeImage</a:t>
            </a:r>
          </a:p>
        </p:txBody>
      </p:sp>
      <p:cxnSp>
        <p:nvCxnSpPr>
          <p:cNvPr id="11" name="Straight Arrow Connector 10">
            <a:extLst>
              <a:ext uri="{FF2B5EF4-FFF2-40B4-BE49-F238E27FC236}">
                <a16:creationId xmlns:a16="http://schemas.microsoft.com/office/drawing/2014/main" id="{F60F81BC-904C-7C32-5D86-F5885F52B0BA}"/>
              </a:ext>
            </a:extLst>
          </p:cNvPr>
          <p:cNvCxnSpPr>
            <a:cxnSpLocks/>
          </p:cNvCxnSpPr>
          <p:nvPr/>
        </p:nvCxnSpPr>
        <p:spPr>
          <a:xfrm>
            <a:off x="5907088" y="2701463"/>
            <a:ext cx="928719"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4879CC9-C01E-5369-826C-43E5B7B3EDE2}"/>
              </a:ext>
            </a:extLst>
          </p:cNvPr>
          <p:cNvSpPr txBox="1"/>
          <p:nvPr/>
        </p:nvSpPr>
        <p:spPr>
          <a:xfrm>
            <a:off x="6978116" y="2532770"/>
            <a:ext cx="2095780" cy="307777"/>
          </a:xfrm>
          <a:prstGeom prst="rect">
            <a:avLst/>
          </a:prstGeom>
          <a:solidFill>
            <a:schemeClr val="accent5">
              <a:lumMod val="20000"/>
              <a:lumOff val="80000"/>
            </a:schemeClr>
          </a:solidFill>
        </p:spPr>
        <p:txBody>
          <a:bodyPr wrap="square" lIns="0" tIns="0" rIns="0" bIns="0" rtlCol="0">
            <a:spAutoFit/>
          </a:bodyPr>
          <a:lstStyle/>
          <a:p>
            <a:pPr algn="ctr"/>
            <a:r>
              <a:rPr lang="en-US" sz="2000" err="1">
                <a:latin typeface="Consolas" panose="020B0609020204030204" pitchFamily="49" charset="0"/>
                <a:cs typeface="Consolas" panose="020B0609020204030204" pitchFamily="49" charset="0"/>
              </a:rPr>
              <a:t>Vector search</a:t>
            </a:r>
          </a:p>
        </p:txBody>
      </p:sp>
      <p:cxnSp>
        <p:nvCxnSpPr>
          <p:cNvPr id="17" name="Straight Arrow Connector 16">
            <a:extLst>
              <a:ext uri="{FF2B5EF4-FFF2-40B4-BE49-F238E27FC236}">
                <a16:creationId xmlns:a16="http://schemas.microsoft.com/office/drawing/2014/main" id="{73CE0FF0-C21E-B1AA-91DF-70E7DFA20C22}"/>
              </a:ext>
            </a:extLst>
          </p:cNvPr>
          <p:cNvCxnSpPr>
            <a:cxnSpLocks/>
          </p:cNvCxnSpPr>
          <p:nvPr/>
        </p:nvCxnSpPr>
        <p:spPr>
          <a:xfrm>
            <a:off x="9194573" y="2665724"/>
            <a:ext cx="928719"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8" name="Picture 17" descr="A crocodile in the water&#10;&#10;Description automatically generated">
            <a:extLst>
              <a:ext uri="{FF2B5EF4-FFF2-40B4-BE49-F238E27FC236}">
                <a16:creationId xmlns:a16="http://schemas.microsoft.com/office/drawing/2014/main" id="{B536C8E7-4774-60D1-414B-769A9B6904AF}"/>
              </a:ext>
            </a:extLst>
          </p:cNvPr>
          <p:cNvPicPr>
            <a:picLocks noChangeAspect="1"/>
          </p:cNvPicPr>
          <p:nvPr/>
        </p:nvPicPr>
        <p:blipFill>
          <a:blip r:embed="rId2">
            <a:extLst>
              <a:ext uri="{28A0092B-C50C-407E-A947-70E740481C1C}">
                <a14:useLocalDpi xmlns:a14="http://schemas.microsoft.com/office/drawing/2010/main" val="0"/>
              </a:ext>
            </a:extLst>
          </a:blip>
          <a:srcRect l="51839" t="19227"/>
          <a:stretch/>
        </p:blipFill>
        <p:spPr>
          <a:xfrm>
            <a:off x="1126457" y="2132504"/>
            <a:ext cx="1113280" cy="1246294"/>
          </a:xfrm>
          <a:prstGeom prst="rect">
            <a:avLst/>
          </a:prstGeom>
        </p:spPr>
      </p:pic>
      <p:pic>
        <p:nvPicPr>
          <p:cNvPr id="20" name="Picture 19" descr="A group of crocodiles on the ground&#10;&#10;Description automatically generated">
            <a:extLst>
              <a:ext uri="{FF2B5EF4-FFF2-40B4-BE49-F238E27FC236}">
                <a16:creationId xmlns:a16="http://schemas.microsoft.com/office/drawing/2014/main" id="{1E07F94C-D070-C92B-9156-F57660C555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6510" y="1783821"/>
            <a:ext cx="1301522" cy="868766"/>
          </a:xfrm>
          <a:prstGeom prst="rect">
            <a:avLst/>
          </a:prstGeom>
        </p:spPr>
      </p:pic>
      <p:pic>
        <p:nvPicPr>
          <p:cNvPr id="21" name="Picture 20" descr="A crocodile in the water&#10;&#10;Description automatically generated">
            <a:extLst>
              <a:ext uri="{FF2B5EF4-FFF2-40B4-BE49-F238E27FC236}">
                <a16:creationId xmlns:a16="http://schemas.microsoft.com/office/drawing/2014/main" id="{A9434EDF-59A2-B136-296F-E73AD7F7F3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0591" y="2855352"/>
            <a:ext cx="1307441" cy="872717"/>
          </a:xfrm>
          <a:prstGeom prst="rect">
            <a:avLst/>
          </a:prstGeom>
        </p:spPr>
      </p:pic>
      <p:grpSp>
        <p:nvGrpSpPr>
          <p:cNvPr id="22" name="Group 21">
            <a:extLst>
              <a:ext uri="{FF2B5EF4-FFF2-40B4-BE49-F238E27FC236}">
                <a16:creationId xmlns:a16="http://schemas.microsoft.com/office/drawing/2014/main" id="{2975D717-7FF4-0270-5619-B2B0D38A2E55}"/>
              </a:ext>
            </a:extLst>
          </p:cNvPr>
          <p:cNvGrpSpPr/>
          <p:nvPr/>
        </p:nvGrpSpPr>
        <p:grpSpPr>
          <a:xfrm>
            <a:off x="1248812" y="4621758"/>
            <a:ext cx="10401592" cy="1944248"/>
            <a:chOff x="709316" y="3975264"/>
            <a:chExt cx="10401592" cy="1944248"/>
          </a:xfrm>
        </p:grpSpPr>
        <p:cxnSp>
          <p:nvCxnSpPr>
            <p:cNvPr id="23" name="Straight Arrow Connector 22">
              <a:extLst>
                <a:ext uri="{FF2B5EF4-FFF2-40B4-BE49-F238E27FC236}">
                  <a16:creationId xmlns:a16="http://schemas.microsoft.com/office/drawing/2014/main" id="{C0502811-A41D-8E33-CC3E-84E9421F1F60}"/>
                </a:ext>
              </a:extLst>
            </p:cNvPr>
            <p:cNvCxnSpPr>
              <a:cxnSpLocks/>
            </p:cNvCxnSpPr>
            <p:nvPr/>
          </p:nvCxnSpPr>
          <p:spPr>
            <a:xfrm>
              <a:off x="1825967" y="4924913"/>
              <a:ext cx="928719"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5B5796A-BBCA-8A62-B572-1B9E21751A5A}"/>
                </a:ext>
              </a:extLst>
            </p:cNvPr>
            <p:cNvSpPr txBox="1"/>
            <p:nvPr/>
          </p:nvSpPr>
          <p:spPr>
            <a:xfrm>
              <a:off x="2896995" y="4739018"/>
              <a:ext cx="2350660" cy="307777"/>
            </a:xfrm>
            <a:prstGeom prst="rect">
              <a:avLst/>
            </a:prstGeom>
            <a:solidFill>
              <a:schemeClr val="accent5">
                <a:lumMod val="20000"/>
                <a:lumOff val="80000"/>
              </a:schemeClr>
            </a:solidFill>
          </p:spPr>
          <p:txBody>
            <a:bodyPr wrap="square" lIns="0" tIns="0" rIns="0" bIns="0" rtlCol="0">
              <a:spAutoFit/>
            </a:bodyPr>
            <a:lstStyle/>
            <a:p>
              <a:pPr algn="l"/>
              <a:r>
                <a:rPr lang="en-US" sz="2000" err="1">
                  <a:latin typeface="Consolas" panose="020B0609020204030204" pitchFamily="49" charset="0"/>
                  <a:cs typeface="Consolas" panose="020B0609020204030204" pitchFamily="49" charset="0"/>
                </a:rPr>
                <a:t>/vectorizeText</a:t>
              </a:r>
            </a:p>
          </p:txBody>
        </p:sp>
        <p:cxnSp>
          <p:nvCxnSpPr>
            <p:cNvPr id="25" name="Straight Arrow Connector 24">
              <a:extLst>
                <a:ext uri="{FF2B5EF4-FFF2-40B4-BE49-F238E27FC236}">
                  <a16:creationId xmlns:a16="http://schemas.microsoft.com/office/drawing/2014/main" id="{EB11FD18-AF0B-B7F9-2A20-0A839B0FDF6A}"/>
                </a:ext>
              </a:extLst>
            </p:cNvPr>
            <p:cNvCxnSpPr>
              <a:cxnSpLocks/>
            </p:cNvCxnSpPr>
            <p:nvPr/>
          </p:nvCxnSpPr>
          <p:spPr>
            <a:xfrm>
              <a:off x="5389964" y="4892906"/>
              <a:ext cx="928719"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7DDC61E-A07E-DC60-F7CD-441565672F41}"/>
                </a:ext>
              </a:extLst>
            </p:cNvPr>
            <p:cNvSpPr txBox="1"/>
            <p:nvPr/>
          </p:nvSpPr>
          <p:spPr>
            <a:xfrm>
              <a:off x="6460992" y="4724213"/>
              <a:ext cx="2095780" cy="307777"/>
            </a:xfrm>
            <a:prstGeom prst="rect">
              <a:avLst/>
            </a:prstGeom>
            <a:solidFill>
              <a:schemeClr val="accent5">
                <a:lumMod val="20000"/>
                <a:lumOff val="80000"/>
              </a:schemeClr>
            </a:solidFill>
          </p:spPr>
          <p:txBody>
            <a:bodyPr wrap="square" lIns="0" tIns="0" rIns="0" bIns="0" rtlCol="0">
              <a:spAutoFit/>
            </a:bodyPr>
            <a:lstStyle/>
            <a:p>
              <a:pPr algn="ctr"/>
              <a:r>
                <a:rPr lang="en-US" sz="2000" err="1">
                  <a:latin typeface="Consolas" panose="020B0609020204030204" pitchFamily="49" charset="0"/>
                  <a:cs typeface="Consolas" panose="020B0609020204030204" pitchFamily="49" charset="0"/>
                </a:rPr>
                <a:t>Vector search</a:t>
              </a:r>
            </a:p>
          </p:txBody>
        </p:sp>
        <p:cxnSp>
          <p:nvCxnSpPr>
            <p:cNvPr id="27" name="Straight Arrow Connector 26">
              <a:extLst>
                <a:ext uri="{FF2B5EF4-FFF2-40B4-BE49-F238E27FC236}">
                  <a16:creationId xmlns:a16="http://schemas.microsoft.com/office/drawing/2014/main" id="{6FFEACFC-D751-7489-01B5-9198FBA3DE7F}"/>
                </a:ext>
              </a:extLst>
            </p:cNvPr>
            <p:cNvCxnSpPr>
              <a:cxnSpLocks/>
            </p:cNvCxnSpPr>
            <p:nvPr/>
          </p:nvCxnSpPr>
          <p:spPr>
            <a:xfrm>
              <a:off x="8677449" y="4857167"/>
              <a:ext cx="928719" cy="0"/>
            </a:xfrm>
            <a:prstGeom prst="straightConnector1">
              <a:avLst/>
            </a:prstGeom>
            <a:ln w="762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28" name="Picture 27" descr="A group of crocodiles on the ground&#10;&#10;Description automatically generated">
              <a:extLst>
                <a:ext uri="{FF2B5EF4-FFF2-40B4-BE49-F238E27FC236}">
                  <a16:creationId xmlns:a16="http://schemas.microsoft.com/office/drawing/2014/main" id="{E04A76B3-524D-0100-8DFF-F046C6F14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9386" y="3975264"/>
              <a:ext cx="1301522" cy="868766"/>
            </a:xfrm>
            <a:prstGeom prst="rect">
              <a:avLst/>
            </a:prstGeom>
          </p:spPr>
        </p:pic>
        <p:pic>
          <p:nvPicPr>
            <p:cNvPr id="29" name="Picture 28" descr="A crocodile in the water&#10;&#10;Description automatically generated">
              <a:extLst>
                <a:ext uri="{FF2B5EF4-FFF2-40B4-BE49-F238E27FC236}">
                  <a16:creationId xmlns:a16="http://schemas.microsoft.com/office/drawing/2014/main" id="{3AD6D6F2-F9C6-A199-7B03-9B53948A96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03467" y="5046795"/>
              <a:ext cx="1307441" cy="872717"/>
            </a:xfrm>
            <a:prstGeom prst="rect">
              <a:avLst/>
            </a:prstGeom>
          </p:spPr>
        </p:pic>
        <p:sp>
          <p:nvSpPr>
            <p:cNvPr id="30" name="TextBox 29">
              <a:extLst>
                <a:ext uri="{FF2B5EF4-FFF2-40B4-BE49-F238E27FC236}">
                  <a16:creationId xmlns:a16="http://schemas.microsoft.com/office/drawing/2014/main" id="{3EB4812F-3479-B9C4-9F58-1F4A2D680EDA}"/>
                </a:ext>
              </a:extLst>
            </p:cNvPr>
            <p:cNvSpPr txBox="1"/>
            <p:nvPr/>
          </p:nvSpPr>
          <p:spPr>
            <a:xfrm>
              <a:off x="709316" y="4771024"/>
              <a:ext cx="1203736" cy="307777"/>
            </a:xfrm>
            <a:prstGeom prst="rect">
              <a:avLst/>
            </a:prstGeom>
            <a:noFill/>
          </p:spPr>
          <p:txBody>
            <a:bodyPr wrap="square" lIns="0" tIns="0" rIns="0" bIns="0" rtlCol="0">
              <a:spAutoFit/>
            </a:bodyPr>
            <a:lstStyle/>
            <a:p>
              <a:pPr algn="l"/>
              <a:r>
                <a:rPr lang="en-US" sz="2000" err="1"/>
                <a:t>alligator</a:t>
              </a:r>
            </a:p>
          </p:txBody>
        </p:sp>
      </p:grpSp>
    </p:spTree>
    <p:extLst>
      <p:ext uri="{BB962C8B-B14F-4D97-AF65-F5344CB8AC3E}">
        <p14:creationId xmlns:p14="http://schemas.microsoft.com/office/powerpoint/2010/main" val="338271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68A2B-2ABB-F5AC-FE58-4B24ECB5C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69B7C-A641-3BBE-5A73-119F79DD12AB}"/>
              </a:ext>
            </a:extLst>
          </p:cNvPr>
          <p:cNvSpPr>
            <a:spLocks noGrp="1"/>
          </p:cNvSpPr>
          <p:nvPr>
            <p:ph type="title"/>
          </p:nvPr>
        </p:nvSpPr>
        <p:spPr/>
        <p:txBody>
          <a:bodyPr/>
          <a:lstStyle/>
          <a:p>
            <a:r>
              <a:rPr lang="es-MX"/>
              <a:t>Open source template: Image search</a:t>
            </a:r>
          </a:p>
        </p:txBody>
      </p:sp>
      <p:sp>
        <p:nvSpPr>
          <p:cNvPr id="3" name="Text Placeholder 4">
            <a:extLst>
              <a:ext uri="{FF2B5EF4-FFF2-40B4-BE49-F238E27FC236}">
                <a16:creationId xmlns:a16="http://schemas.microsoft.com/office/drawing/2014/main" id="{0FE9D7FB-E792-21DB-9429-D46594588514}"/>
              </a:ext>
            </a:extLst>
          </p:cNvPr>
          <p:cNvSpPr txBox="1">
            <a:spLocks/>
          </p:cNvSpPr>
          <p:nvPr/>
        </p:nvSpPr>
        <p:spPr>
          <a:xfrm>
            <a:off x="7648418" y="1781602"/>
            <a:ext cx="3522705" cy="21584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Azure AI Vision +</a:t>
            </a:r>
          </a:p>
          <a:p>
            <a:pPr marL="0" indent="0">
              <a:buNone/>
            </a:pPr>
            <a:r>
              <a:rPr lang="en-US"/>
              <a:t>Azure AI Search</a:t>
            </a:r>
          </a:p>
        </p:txBody>
      </p:sp>
      <p:pic>
        <p:nvPicPr>
          <p:cNvPr id="4" name="Picture 3" descr="A screenshot of a screenshot of a computer&#10;&#10;Description automatically generated">
            <a:extLst>
              <a:ext uri="{FF2B5EF4-FFF2-40B4-BE49-F238E27FC236}">
                <a16:creationId xmlns:a16="http://schemas.microsoft.com/office/drawing/2014/main" id="{92647D97-DD53-9817-87D1-C677A0130883}"/>
              </a:ext>
            </a:extLst>
          </p:cNvPr>
          <p:cNvPicPr>
            <a:picLocks noChangeAspect="1"/>
          </p:cNvPicPr>
          <p:nvPr/>
        </p:nvPicPr>
        <p:blipFill>
          <a:blip r:embed="rId2">
            <a:extLst>
              <a:ext uri="{28A0092B-C50C-407E-A947-70E740481C1C}">
                <a14:useLocalDpi xmlns:a14="http://schemas.microsoft.com/office/drawing/2010/main" val="0"/>
              </a:ext>
            </a:extLst>
          </a:blip>
          <a:srcRect l="3428" r="4293" b="1751"/>
          <a:stretch/>
        </p:blipFill>
        <p:spPr>
          <a:xfrm>
            <a:off x="1210235" y="1781602"/>
            <a:ext cx="6119956" cy="4785800"/>
          </a:xfrm>
          <a:prstGeom prst="rect">
            <a:avLst/>
          </a:prstGeom>
          <a:ln>
            <a:solidFill>
              <a:schemeClr val="tx1"/>
            </a:solidFill>
          </a:ln>
        </p:spPr>
      </p:pic>
      <p:sp>
        <p:nvSpPr>
          <p:cNvPr id="6" name="TextBox 5">
            <a:extLst>
              <a:ext uri="{FF2B5EF4-FFF2-40B4-BE49-F238E27FC236}">
                <a16:creationId xmlns:a16="http://schemas.microsoft.com/office/drawing/2014/main" id="{A5457995-8623-961C-5E12-498432D3210A}"/>
              </a:ext>
            </a:extLst>
          </p:cNvPr>
          <p:cNvSpPr txBox="1"/>
          <p:nvPr/>
        </p:nvSpPr>
        <p:spPr>
          <a:xfrm>
            <a:off x="7387415" y="4782298"/>
            <a:ext cx="5501922" cy="1785104"/>
          </a:xfrm>
          <a:prstGeom prst="rect">
            <a:avLst/>
          </a:prstGeom>
          <a:noFill/>
        </p:spPr>
        <p:txBody>
          <a:bodyPr wrap="square">
            <a:spAutoFit/>
          </a:bodyPr>
          <a:lstStyle/>
          <a:p>
            <a:r>
              <a:rPr lang="en-US" sz="2200"/>
              <a:t>Code:</a:t>
            </a:r>
          </a:p>
          <a:p>
            <a:r>
              <a:rPr lang="en-US" sz="2200">
                <a:hlinkClick r:id="rId3"/>
              </a:rPr>
              <a:t>https://aka.ms/aisearch-images-app</a:t>
            </a:r>
            <a:endParaRPr lang="en-US" sz="2200"/>
          </a:p>
          <a:p>
            <a:endParaRPr lang="en-US" sz="2200"/>
          </a:p>
          <a:p>
            <a:r>
              <a:rPr lang="en-US" sz="2200"/>
              <a:t>Demo:</a:t>
            </a:r>
          </a:p>
          <a:p>
            <a:r>
              <a:rPr lang="en-US" sz="2000">
                <a:hlinkClick r:id="rId4"/>
              </a:rPr>
              <a:t>https://aka.ms/aisearch-images-app/demo</a:t>
            </a:r>
            <a:endParaRPr lang="en-US" sz="2000"/>
          </a:p>
        </p:txBody>
      </p:sp>
    </p:spTree>
    <p:extLst>
      <p:ext uri="{BB962C8B-B14F-4D97-AF65-F5344CB8AC3E}">
        <p14:creationId xmlns:p14="http://schemas.microsoft.com/office/powerpoint/2010/main" val="4001757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B60DE-07F6-EECE-CDAD-1FE732013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62CE66-91D7-3762-4734-5D4C21D7E8F0}"/>
              </a:ext>
            </a:extLst>
          </p:cNvPr>
          <p:cNvSpPr>
            <a:spLocks noGrp="1"/>
          </p:cNvSpPr>
          <p:nvPr>
            <p:ph type="title"/>
          </p:nvPr>
        </p:nvSpPr>
        <p:spPr/>
        <p:txBody>
          <a:bodyPr/>
          <a:lstStyle/>
          <a:p>
            <a:r>
              <a:rPr lang="es-MX"/>
              <a:t>RAG with vision models</a:t>
            </a:r>
          </a:p>
        </p:txBody>
      </p:sp>
    </p:spTree>
    <p:extLst>
      <p:ext uri="{BB962C8B-B14F-4D97-AF65-F5344CB8AC3E}">
        <p14:creationId xmlns:p14="http://schemas.microsoft.com/office/powerpoint/2010/main" val="3989353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455D0-E55C-C92B-A8CF-D2D5576720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73275-2CE6-8B9D-86ED-E4CC4E0FFE37}"/>
              </a:ext>
            </a:extLst>
          </p:cNvPr>
          <p:cNvSpPr>
            <a:spLocks noGrp="1"/>
          </p:cNvSpPr>
          <p:nvPr>
            <p:ph type="title"/>
          </p:nvPr>
        </p:nvSpPr>
        <p:spPr>
          <a:xfrm>
            <a:off x="1049416" y="458258"/>
            <a:ext cx="11900230" cy="1325563"/>
          </a:xfrm>
        </p:spPr>
        <p:txBody>
          <a:bodyPr/>
          <a:lstStyle/>
          <a:p>
            <a:r>
              <a:rPr lang="es-MX"/>
              <a:t>Open-source template: RAG with vision support</a:t>
            </a:r>
          </a:p>
        </p:txBody>
      </p:sp>
      <p:sp>
        <p:nvSpPr>
          <p:cNvPr id="9" name="TextBox 8">
            <a:extLst>
              <a:ext uri="{FF2B5EF4-FFF2-40B4-BE49-F238E27FC236}">
                <a16:creationId xmlns:a16="http://schemas.microsoft.com/office/drawing/2014/main" id="{1996620F-6C82-55F0-D0F3-FCF05DBD512F}"/>
              </a:ext>
            </a:extLst>
          </p:cNvPr>
          <p:cNvSpPr txBox="1"/>
          <p:nvPr/>
        </p:nvSpPr>
        <p:spPr>
          <a:xfrm>
            <a:off x="8062982" y="1783820"/>
            <a:ext cx="4134678" cy="923330"/>
          </a:xfrm>
          <a:prstGeom prst="rect">
            <a:avLst/>
          </a:prstGeom>
          <a:noFill/>
        </p:spPr>
        <p:txBody>
          <a:bodyPr wrap="square" lIns="0" tIns="0" rIns="0" bIns="0" rtlCol="0">
            <a:spAutoFit/>
          </a:bodyPr>
          <a:lstStyle/>
          <a:p>
            <a:pPr algn="l"/>
            <a:r>
              <a:rPr lang="en-US" sz="2000" err="1"/>
              <a:t>Azure OpenAI +</a:t>
            </a:r>
          </a:p>
          <a:p>
            <a:pPr algn="l"/>
            <a:r>
              <a:rPr lang="en-US" sz="2000" err="1"/>
              <a:t>Azure AI Search +</a:t>
            </a:r>
          </a:p>
          <a:p>
            <a:pPr algn="l"/>
            <a:r>
              <a:rPr lang="en-US" sz="2000" err="1"/>
              <a:t>Azure AI Vision</a:t>
            </a:r>
          </a:p>
        </p:txBody>
      </p:sp>
      <p:sp>
        <p:nvSpPr>
          <p:cNvPr id="10" name="TextBox 9">
            <a:extLst>
              <a:ext uri="{FF2B5EF4-FFF2-40B4-BE49-F238E27FC236}">
                <a16:creationId xmlns:a16="http://schemas.microsoft.com/office/drawing/2014/main" id="{CCEBB412-16D8-3016-119C-F358FEB8ECA1}"/>
              </a:ext>
            </a:extLst>
          </p:cNvPr>
          <p:cNvSpPr txBox="1"/>
          <p:nvPr/>
        </p:nvSpPr>
        <p:spPr>
          <a:xfrm>
            <a:off x="7955357" y="2983422"/>
            <a:ext cx="4349928" cy="3277820"/>
          </a:xfrm>
          <a:prstGeom prst="rect">
            <a:avLst/>
          </a:prstGeom>
          <a:noFill/>
        </p:spPr>
        <p:txBody>
          <a:bodyPr wrap="square">
            <a:spAutoFit/>
          </a:bodyPr>
          <a:lstStyle/>
          <a:p>
            <a:pPr algn="l"/>
            <a:r>
              <a:rPr lang="en-US" sz="2400" err="1"/>
              <a:t>Main repo:</a:t>
            </a:r>
          </a:p>
          <a:p>
            <a:pPr algn="l"/>
            <a:r>
              <a:rPr lang="en-US" sz="2400" err="1">
                <a:hlinkClick r:id="rId2"/>
              </a:rPr>
              <a:t>https://aka.ms/ragchat</a:t>
            </a:r>
            <a:endParaRPr lang="en-US" sz="2400" err="1"/>
          </a:p>
          <a:p>
            <a:pPr algn="l"/>
            <a:endParaRPr lang="en-US" sz="2400" err="1"/>
          </a:p>
          <a:p>
            <a:pPr algn="l"/>
            <a:r>
              <a:rPr lang="en-US" sz="2400" err="1"/>
              <a:t>Setup guide:</a:t>
            </a:r>
          </a:p>
          <a:p>
            <a:pPr algn="l"/>
            <a:r>
              <a:rPr lang="en-US" sz="2400" err="1">
                <a:hlinkClick r:id="rId3"/>
              </a:rPr>
              <a:t>https://aka.ms/ragchat/vision</a:t>
            </a:r>
            <a:endParaRPr lang="en-US" sz="2400" err="1"/>
          </a:p>
          <a:p>
            <a:pPr algn="l"/>
            <a:endParaRPr lang="en-US" sz="2400" err="1"/>
          </a:p>
          <a:p>
            <a:pPr algn="l"/>
            <a:r>
              <a:rPr lang="en-US" sz="2400" err="1"/>
              <a:t>Demo:</a:t>
            </a:r>
          </a:p>
          <a:p>
            <a:pPr algn="l"/>
            <a:r>
              <a:rPr lang="en-US" sz="2000" err="1">
                <a:hlinkClick r:id="rId4"/>
              </a:rPr>
              <a:t>https://aka.ms/ragchat/vision/demo</a:t>
            </a:r>
            <a:endParaRPr lang="en-US" sz="2000" err="1"/>
          </a:p>
          <a:p>
            <a:pPr algn="l"/>
            <a:r>
              <a:rPr lang="en-US" sz="1900" err="1"/>
              <a:t>Enable "GPT vision" in Settings</a:t>
            </a:r>
          </a:p>
        </p:txBody>
      </p:sp>
      <p:pic>
        <p:nvPicPr>
          <p:cNvPr id="11" name="Picture 10" descr="A screenshot of a computer&#10;&#10;Description automatically generated">
            <a:extLst>
              <a:ext uri="{FF2B5EF4-FFF2-40B4-BE49-F238E27FC236}">
                <a16:creationId xmlns:a16="http://schemas.microsoft.com/office/drawing/2014/main" id="{3209C012-336D-FDE2-8D4E-9EB01C488D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741" y="1783821"/>
            <a:ext cx="6765803" cy="4615921"/>
          </a:xfrm>
          <a:prstGeom prst="rect">
            <a:avLst/>
          </a:prstGeom>
          <a:ln>
            <a:solidFill>
              <a:schemeClr val="tx1"/>
            </a:solidFill>
          </a:ln>
        </p:spPr>
      </p:pic>
    </p:spTree>
    <p:extLst>
      <p:ext uri="{BB962C8B-B14F-4D97-AF65-F5344CB8AC3E}">
        <p14:creationId xmlns:p14="http://schemas.microsoft.com/office/powerpoint/2010/main" val="346440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343B-F3D7-1885-6AB7-A6BE6D6DD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1CEF3-1969-CFDA-21C7-99E230FCF91E}"/>
              </a:ext>
            </a:extLst>
          </p:cNvPr>
          <p:cNvSpPr>
            <a:spLocks noGrp="1"/>
          </p:cNvSpPr>
          <p:nvPr>
            <p:ph type="title"/>
          </p:nvPr>
        </p:nvSpPr>
        <p:spPr>
          <a:xfrm>
            <a:off x="1049416" y="458258"/>
            <a:ext cx="11900230" cy="1325563"/>
          </a:xfrm>
        </p:spPr>
        <p:txBody>
          <a:bodyPr/>
          <a:lstStyle/>
          <a:p>
            <a:r>
              <a:rPr lang="es-MX"/>
              <a:t>RAG with vision: Flow</a:t>
            </a:r>
          </a:p>
        </p:txBody>
      </p:sp>
      <p:grpSp>
        <p:nvGrpSpPr>
          <p:cNvPr id="48" name="Group 47">
            <a:extLst>
              <a:ext uri="{FF2B5EF4-FFF2-40B4-BE49-F238E27FC236}">
                <a16:creationId xmlns:a16="http://schemas.microsoft.com/office/drawing/2014/main" id="{798E6CB2-CE71-4F31-5AC9-41CC41296208}"/>
              </a:ext>
            </a:extLst>
          </p:cNvPr>
          <p:cNvGrpSpPr/>
          <p:nvPr/>
        </p:nvGrpSpPr>
        <p:grpSpPr>
          <a:xfrm>
            <a:off x="967039" y="1711340"/>
            <a:ext cx="4504125" cy="4019040"/>
            <a:chOff x="252932" y="1615540"/>
            <a:chExt cx="4504125" cy="4019040"/>
          </a:xfrm>
        </p:grpSpPr>
        <p:pic>
          <p:nvPicPr>
            <p:cNvPr id="49" name="Graphic 13">
              <a:extLst>
                <a:ext uri="{FF2B5EF4-FFF2-40B4-BE49-F238E27FC236}">
                  <a16:creationId xmlns:a16="http://schemas.microsoft.com/office/drawing/2014/main" id="{E2FD895E-52C6-6FD3-046C-E4F16D8F69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576" y="2985936"/>
              <a:ext cx="1477321" cy="1530271"/>
            </a:xfrm>
            <a:prstGeom prst="rect">
              <a:avLst/>
            </a:prstGeom>
          </p:spPr>
        </p:pic>
        <p:sp>
          <p:nvSpPr>
            <p:cNvPr id="50" name="Text Placeholder 5">
              <a:extLst>
                <a:ext uri="{FF2B5EF4-FFF2-40B4-BE49-F238E27FC236}">
                  <a16:creationId xmlns:a16="http://schemas.microsoft.com/office/drawing/2014/main" id="{BC64DC14-89CD-EDA9-8516-B446B0A97E69}"/>
                </a:ext>
              </a:extLst>
            </p:cNvPr>
            <p:cNvSpPr txBox="1">
              <a:spLocks/>
            </p:cNvSpPr>
            <p:nvPr/>
          </p:nvSpPr>
          <p:spPr>
            <a:xfrm>
              <a:off x="252932" y="4624269"/>
              <a:ext cx="2051084" cy="1010311"/>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2000" dirty="0">
                  <a:latin typeface="+mj-lt"/>
                  <a:cs typeface="Segoe UI Semilight"/>
                </a:rPr>
                <a:t>User</a:t>
              </a:r>
              <a:endParaRPr lang="en-US" dirty="0"/>
            </a:p>
            <a:p>
              <a:pPr marL="0" indent="0" algn="ctr" defTabSz="1865484">
                <a:buNone/>
                <a:defRPr/>
              </a:pPr>
              <a:r>
                <a:rPr lang="en-US" sz="2000" dirty="0">
                  <a:latin typeface="+mj-lt"/>
                  <a:cs typeface="Segoe UI Semilight"/>
                </a:rPr>
                <a:t>Question</a:t>
              </a:r>
              <a:endParaRPr lang="en-US" sz="2000" dirty="0">
                <a:cs typeface="Segoe UI Semilight"/>
              </a:endParaRPr>
            </a:p>
          </p:txBody>
        </p:sp>
        <p:grpSp>
          <p:nvGrpSpPr>
            <p:cNvPr id="51" name="Group 50">
              <a:extLst>
                <a:ext uri="{FF2B5EF4-FFF2-40B4-BE49-F238E27FC236}">
                  <a16:creationId xmlns:a16="http://schemas.microsoft.com/office/drawing/2014/main" id="{BC4D6785-4E7B-F24F-C8F7-683210B9492F}"/>
                </a:ext>
              </a:extLst>
            </p:cNvPr>
            <p:cNvGrpSpPr/>
            <p:nvPr/>
          </p:nvGrpSpPr>
          <p:grpSpPr>
            <a:xfrm>
              <a:off x="489983" y="1615540"/>
              <a:ext cx="4267074" cy="1137035"/>
              <a:chOff x="521532" y="3870236"/>
              <a:chExt cx="6688983" cy="1824380"/>
            </a:xfrm>
          </p:grpSpPr>
          <p:sp>
            <p:nvSpPr>
              <p:cNvPr id="52" name="Speech Bubble: Rectangle with Corners Rounded 7">
                <a:extLst>
                  <a:ext uri="{FF2B5EF4-FFF2-40B4-BE49-F238E27FC236}">
                    <a16:creationId xmlns:a16="http://schemas.microsoft.com/office/drawing/2014/main" id="{5EE359E4-8980-28CC-FBB7-468E8F5157B9}"/>
                  </a:ext>
                </a:extLst>
              </p:cNvPr>
              <p:cNvSpPr/>
              <p:nvPr/>
            </p:nvSpPr>
            <p:spPr bwMode="auto">
              <a:xfrm>
                <a:off x="521532" y="3870236"/>
                <a:ext cx="6688983" cy="1824380"/>
              </a:xfrm>
              <a:prstGeom prst="wedgeRoundRectCallout">
                <a:avLst>
                  <a:gd name="adj1" fmla="val -31139"/>
                  <a:gd name="adj2" fmla="val 75138"/>
                  <a:gd name="adj3" fmla="val 16667"/>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53" name="Text Placeholder 5">
                <a:extLst>
                  <a:ext uri="{FF2B5EF4-FFF2-40B4-BE49-F238E27FC236}">
                    <a16:creationId xmlns:a16="http://schemas.microsoft.com/office/drawing/2014/main" id="{76363F16-5D04-7B37-331A-E2792E14803B}"/>
                  </a:ext>
                </a:extLst>
              </p:cNvPr>
              <p:cNvSpPr txBox="1">
                <a:spLocks/>
              </p:cNvSpPr>
              <p:nvPr/>
            </p:nvSpPr>
            <p:spPr>
              <a:xfrm>
                <a:off x="672028" y="4229325"/>
                <a:ext cx="6401973" cy="993810"/>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defTabSz="1865484">
                  <a:buNone/>
                  <a:defRPr/>
                </a:pPr>
                <a:r>
                  <a:rPr lang="en-US" sz="2000" b="0" i="0">
                    <a:effectLst/>
                    <a:latin typeface="Segoe UI" panose="020B0502040204020203" pitchFamily="34" charset="0"/>
                  </a:rPr>
                  <a:t>Is there any correlation between oil prices and stock market trends?</a:t>
                </a:r>
                <a:endParaRPr lang="en-US" sz="2000" dirty="0">
                  <a:latin typeface="Segoe UI"/>
                  <a:cs typeface="Segoe UI"/>
                </a:endParaRPr>
              </a:p>
            </p:txBody>
          </p:sp>
        </p:grpSp>
      </p:grpSp>
      <p:grpSp>
        <p:nvGrpSpPr>
          <p:cNvPr id="54" name="Group 53">
            <a:extLst>
              <a:ext uri="{FF2B5EF4-FFF2-40B4-BE49-F238E27FC236}">
                <a16:creationId xmlns:a16="http://schemas.microsoft.com/office/drawing/2014/main" id="{D9F47413-5D8C-5BE9-C2FF-4E91FE4C4583}"/>
              </a:ext>
            </a:extLst>
          </p:cNvPr>
          <p:cNvGrpSpPr/>
          <p:nvPr/>
        </p:nvGrpSpPr>
        <p:grpSpPr>
          <a:xfrm>
            <a:off x="7318783" y="4409278"/>
            <a:ext cx="1135064" cy="2409283"/>
            <a:chOff x="6604676" y="4313478"/>
            <a:chExt cx="1135064" cy="2409283"/>
          </a:xfrm>
        </p:grpSpPr>
        <p:sp>
          <p:nvSpPr>
            <p:cNvPr id="55" name="TextBox 7">
              <a:extLst>
                <a:ext uri="{FF2B5EF4-FFF2-40B4-BE49-F238E27FC236}">
                  <a16:creationId xmlns:a16="http://schemas.microsoft.com/office/drawing/2014/main" id="{1E3DDD80-3D9F-9644-C21D-A5BF9438F48A}"/>
                </a:ext>
              </a:extLst>
            </p:cNvPr>
            <p:cNvSpPr txBox="1"/>
            <p:nvPr/>
          </p:nvSpPr>
          <p:spPr>
            <a:xfrm>
              <a:off x="6664992" y="4313478"/>
              <a:ext cx="1055936" cy="738664"/>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dk1"/>
                  </a:solidFill>
                  <a:latin typeface="+mn-lt"/>
                  <a:ea typeface="+mn-ea"/>
                  <a:cs typeface="+mn-cs"/>
                </a:defRPr>
              </a:lvl1pPr>
              <a:lvl2pPr marL="1828983" algn="l" defTabSz="3657965" rtl="0" eaLnBrk="1" latinLnBrk="0" hangingPunct="1">
                <a:defRPr sz="7200" kern="1200">
                  <a:solidFill>
                    <a:schemeClr val="dk1"/>
                  </a:solidFill>
                  <a:latin typeface="+mn-lt"/>
                  <a:ea typeface="+mn-ea"/>
                  <a:cs typeface="+mn-cs"/>
                </a:defRPr>
              </a:lvl2pPr>
              <a:lvl3pPr marL="3657965" algn="l" defTabSz="3657965" rtl="0" eaLnBrk="1" latinLnBrk="0" hangingPunct="1">
                <a:defRPr sz="7200" kern="1200">
                  <a:solidFill>
                    <a:schemeClr val="dk1"/>
                  </a:solidFill>
                  <a:latin typeface="+mn-lt"/>
                  <a:ea typeface="+mn-ea"/>
                  <a:cs typeface="+mn-cs"/>
                </a:defRPr>
              </a:lvl3pPr>
              <a:lvl4pPr marL="5486948" algn="l" defTabSz="3657965" rtl="0" eaLnBrk="1" latinLnBrk="0" hangingPunct="1">
                <a:defRPr sz="7200" kern="1200">
                  <a:solidFill>
                    <a:schemeClr val="dk1"/>
                  </a:solidFill>
                  <a:latin typeface="+mn-lt"/>
                  <a:ea typeface="+mn-ea"/>
                  <a:cs typeface="+mn-cs"/>
                </a:defRPr>
              </a:lvl4pPr>
              <a:lvl5pPr marL="7315932" algn="l" defTabSz="3657965" rtl="0" eaLnBrk="1" latinLnBrk="0" hangingPunct="1">
                <a:defRPr sz="7200" kern="1200">
                  <a:solidFill>
                    <a:schemeClr val="dk1"/>
                  </a:solidFill>
                  <a:latin typeface="+mn-lt"/>
                  <a:ea typeface="+mn-ea"/>
                  <a:cs typeface="+mn-cs"/>
                </a:defRPr>
              </a:lvl5pPr>
              <a:lvl6pPr marL="9144915" algn="l" defTabSz="3657965" rtl="0" eaLnBrk="1" latinLnBrk="0" hangingPunct="1">
                <a:defRPr sz="7200" kern="1200">
                  <a:solidFill>
                    <a:schemeClr val="dk1"/>
                  </a:solidFill>
                  <a:latin typeface="+mn-lt"/>
                  <a:ea typeface="+mn-ea"/>
                  <a:cs typeface="+mn-cs"/>
                </a:defRPr>
              </a:lvl6pPr>
              <a:lvl7pPr marL="10973897" algn="l" defTabSz="3657965" rtl="0" eaLnBrk="1" latinLnBrk="0" hangingPunct="1">
                <a:defRPr sz="7200" kern="1200">
                  <a:solidFill>
                    <a:schemeClr val="dk1"/>
                  </a:solidFill>
                  <a:latin typeface="+mn-lt"/>
                  <a:ea typeface="+mn-ea"/>
                  <a:cs typeface="+mn-cs"/>
                </a:defRPr>
              </a:lvl7pPr>
              <a:lvl8pPr marL="12802880" algn="l" defTabSz="3657965" rtl="0" eaLnBrk="1" latinLnBrk="0" hangingPunct="1">
                <a:defRPr sz="7200" kern="1200">
                  <a:solidFill>
                    <a:schemeClr val="dk1"/>
                  </a:solidFill>
                  <a:latin typeface="+mn-lt"/>
                  <a:ea typeface="+mn-ea"/>
                  <a:cs typeface="+mn-cs"/>
                </a:defRPr>
              </a:lvl8pPr>
              <a:lvl9pPr marL="14631864" algn="l" defTabSz="3657965" rtl="0" eaLnBrk="1" latinLnBrk="0" hangingPunct="1">
                <a:defRPr sz="7200" kern="1200">
                  <a:solidFill>
                    <a:schemeClr val="dk1"/>
                  </a:solidFill>
                  <a:latin typeface="+mn-lt"/>
                  <a:ea typeface="+mn-ea"/>
                  <a:cs typeface="+mn-cs"/>
                </a:defRPr>
              </a:lvl9pPr>
            </a:lstStyle>
            <a:p>
              <a:pPr algn="l"/>
              <a:r>
                <a:rPr lang="en-US" sz="800" b="1" i="0">
                  <a:solidFill>
                    <a:schemeClr val="tx1"/>
                  </a:solidFill>
                  <a:effectLst/>
                  <a:latin typeface="Segoe UI" panose="020B0502040204020203" pitchFamily="34" charset="0"/>
                </a:rPr>
                <a:t>Financial Market Analysis 2023-6.png</a:t>
              </a:r>
            </a:p>
            <a:p>
              <a:pPr algn="l"/>
              <a:r>
                <a:rPr lang="en-US" sz="800" b="0" i="0">
                  <a:solidFill>
                    <a:schemeClr val="tx1"/>
                  </a:solidFill>
                  <a:effectLst/>
                  <a:latin typeface="Segoe UI" panose="020B0502040204020203" pitchFamily="34" charset="0"/>
                </a:rPr>
                <a:t>This section examines the correlations between stock indices, cryptocurrency prices...</a:t>
              </a:r>
            </a:p>
          </p:txBody>
        </p:sp>
        <p:pic>
          <p:nvPicPr>
            <p:cNvPr id="56" name="Picture 2">
              <a:extLst>
                <a:ext uri="{FF2B5EF4-FFF2-40B4-BE49-F238E27FC236}">
                  <a16:creationId xmlns:a16="http://schemas.microsoft.com/office/drawing/2014/main" id="{330E609E-874A-B551-4327-189BF1EC1A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4677" y="5227349"/>
              <a:ext cx="1135063" cy="68580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
              <a:extLst>
                <a:ext uri="{FF2B5EF4-FFF2-40B4-BE49-F238E27FC236}">
                  <a16:creationId xmlns:a16="http://schemas.microsoft.com/office/drawing/2014/main" id="{59B7AF45-7038-1707-C68F-4A0E6F1388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4676" y="6036961"/>
              <a:ext cx="1135063" cy="685800"/>
            </a:xfrm>
            <a:prstGeom prst="rect">
              <a:avLst/>
            </a:prstGeom>
            <a:noFill/>
            <a:extLst>
              <a:ext uri="{909E8E84-426E-40DD-AFC4-6F175D3DCCD1}">
                <a14:hiddenFill xmlns:a14="http://schemas.microsoft.com/office/drawing/2010/main">
                  <a:solidFill>
                    <a:srgbClr val="FFFFFF"/>
                  </a:solidFill>
                </a14:hiddenFill>
              </a:ext>
            </a:extLst>
          </p:spPr>
        </p:pic>
      </p:grpSp>
      <p:sp>
        <p:nvSpPr>
          <p:cNvPr id="58" name="Arrow: Right 11">
            <a:extLst>
              <a:ext uri="{FF2B5EF4-FFF2-40B4-BE49-F238E27FC236}">
                <a16:creationId xmlns:a16="http://schemas.microsoft.com/office/drawing/2014/main" id="{C623BB63-B1C0-4AAF-56EB-44F0ADEA8883}"/>
              </a:ext>
            </a:extLst>
          </p:cNvPr>
          <p:cNvSpPr/>
          <p:nvPr/>
        </p:nvSpPr>
        <p:spPr bwMode="auto">
          <a:xfrm>
            <a:off x="4878014" y="3077692"/>
            <a:ext cx="994658"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9" name="Arrow: Right 8">
            <a:extLst>
              <a:ext uri="{FF2B5EF4-FFF2-40B4-BE49-F238E27FC236}">
                <a16:creationId xmlns:a16="http://schemas.microsoft.com/office/drawing/2014/main" id="{1A6FE73C-F192-7793-46E5-F07B49ED2B6A}"/>
              </a:ext>
            </a:extLst>
          </p:cNvPr>
          <p:cNvSpPr/>
          <p:nvPr/>
        </p:nvSpPr>
        <p:spPr bwMode="auto">
          <a:xfrm>
            <a:off x="4890673" y="3860750"/>
            <a:ext cx="1019913"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0" name="TextBox 59">
            <a:extLst>
              <a:ext uri="{FF2B5EF4-FFF2-40B4-BE49-F238E27FC236}">
                <a16:creationId xmlns:a16="http://schemas.microsoft.com/office/drawing/2014/main" id="{2E1EF4A9-5CC3-18D5-5A1B-96E56792709F}"/>
              </a:ext>
            </a:extLst>
          </p:cNvPr>
          <p:cNvSpPr txBox="1"/>
          <p:nvPr/>
        </p:nvSpPr>
        <p:spPr>
          <a:xfrm>
            <a:off x="4794757" y="3373761"/>
            <a:ext cx="1368670" cy="215444"/>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sp>
        <p:nvSpPr>
          <p:cNvPr id="61" name="Text Placeholder 5">
            <a:extLst>
              <a:ext uri="{FF2B5EF4-FFF2-40B4-BE49-F238E27FC236}">
                <a16:creationId xmlns:a16="http://schemas.microsoft.com/office/drawing/2014/main" id="{52CEF32D-677E-992D-AF49-7B63FA237EA1}"/>
              </a:ext>
            </a:extLst>
          </p:cNvPr>
          <p:cNvSpPr txBox="1">
            <a:spLocks/>
          </p:cNvSpPr>
          <p:nvPr/>
        </p:nvSpPr>
        <p:spPr>
          <a:xfrm>
            <a:off x="5757791" y="4648502"/>
            <a:ext cx="1648090" cy="843158"/>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2000" dirty="0">
                <a:latin typeface="+mj-lt"/>
                <a:cs typeface="Segoe UI Semilight"/>
              </a:rPr>
              <a:t>Azure AI Search</a:t>
            </a:r>
          </a:p>
        </p:txBody>
      </p:sp>
      <p:sp>
        <p:nvSpPr>
          <p:cNvPr id="62" name="Arrow: Right 8">
            <a:extLst>
              <a:ext uri="{FF2B5EF4-FFF2-40B4-BE49-F238E27FC236}">
                <a16:creationId xmlns:a16="http://schemas.microsoft.com/office/drawing/2014/main" id="{81B4C9D5-6100-6F0F-AA59-EF4B73096EE0}"/>
              </a:ext>
            </a:extLst>
          </p:cNvPr>
          <p:cNvSpPr/>
          <p:nvPr/>
        </p:nvSpPr>
        <p:spPr bwMode="auto">
          <a:xfrm>
            <a:off x="4933991" y="5220898"/>
            <a:ext cx="976595"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63" name="Group 62">
            <a:extLst>
              <a:ext uri="{FF2B5EF4-FFF2-40B4-BE49-F238E27FC236}">
                <a16:creationId xmlns:a16="http://schemas.microsoft.com/office/drawing/2014/main" id="{0A9151A5-575E-D7E7-1450-DECA2B2A579C}"/>
              </a:ext>
            </a:extLst>
          </p:cNvPr>
          <p:cNvGrpSpPr/>
          <p:nvPr/>
        </p:nvGrpSpPr>
        <p:grpSpPr>
          <a:xfrm>
            <a:off x="4888334" y="4137115"/>
            <a:ext cx="1065570" cy="1944923"/>
            <a:chOff x="4174227" y="4041315"/>
            <a:chExt cx="1065570" cy="1944923"/>
          </a:xfrm>
        </p:grpSpPr>
        <p:sp>
          <p:nvSpPr>
            <p:cNvPr id="64" name="TextBox 63">
              <a:extLst>
                <a:ext uri="{FF2B5EF4-FFF2-40B4-BE49-F238E27FC236}">
                  <a16:creationId xmlns:a16="http://schemas.microsoft.com/office/drawing/2014/main" id="{8B3629CE-A6FF-6F31-9CB9-2EF69389833B}"/>
                </a:ext>
              </a:extLst>
            </p:cNvPr>
            <p:cNvSpPr txBox="1"/>
            <p:nvPr/>
          </p:nvSpPr>
          <p:spPr>
            <a:xfrm>
              <a:off x="4174227" y="4041315"/>
              <a:ext cx="1022252" cy="584775"/>
            </a:xfrm>
            <a:prstGeom prst="rect">
              <a:avLst/>
            </a:prstGeom>
            <a:noFill/>
          </p:spPr>
          <p:txBody>
            <a:bodyPr wrap="square">
              <a:spAutoFit/>
            </a:bodyPr>
            <a:lstStyle/>
            <a:p>
              <a:r>
                <a:rPr lang="en-US" sz="800" dirty="0"/>
                <a:t>[[0.0014615238, -0.015594152, -0.0072768144, -0.012787478,…]</a:t>
              </a:r>
              <a:endParaRPr lang="en-US" sz="800" dirty="0">
                <a:solidFill>
                  <a:schemeClr val="tx1"/>
                </a:solidFill>
                <a:ea typeface="+mn-lt"/>
                <a:cs typeface="+mn-lt"/>
              </a:endParaRPr>
            </a:p>
          </p:txBody>
        </p:sp>
        <p:sp>
          <p:nvSpPr>
            <p:cNvPr id="65" name="TextBox 64">
              <a:extLst>
                <a:ext uri="{FF2B5EF4-FFF2-40B4-BE49-F238E27FC236}">
                  <a16:creationId xmlns:a16="http://schemas.microsoft.com/office/drawing/2014/main" id="{7B0A842B-E6D3-D51B-A421-FA4B593A9128}"/>
                </a:ext>
              </a:extLst>
            </p:cNvPr>
            <p:cNvSpPr txBox="1"/>
            <p:nvPr/>
          </p:nvSpPr>
          <p:spPr>
            <a:xfrm>
              <a:off x="4217545" y="5401463"/>
              <a:ext cx="1022252" cy="584775"/>
            </a:xfrm>
            <a:prstGeom prst="rect">
              <a:avLst/>
            </a:prstGeom>
            <a:noFill/>
          </p:spPr>
          <p:txBody>
            <a:bodyPr wrap="square">
              <a:spAutoFit/>
            </a:bodyPr>
            <a:lstStyle/>
            <a:p>
              <a:r>
                <a:rPr lang="en-US" sz="800" dirty="0"/>
                <a:t>[[0.0021338, -0.01123152, -0.0238144, -0.0123478,…]</a:t>
              </a:r>
              <a:endParaRPr lang="en-US" sz="800" dirty="0">
                <a:solidFill>
                  <a:schemeClr val="tx1"/>
                </a:solidFill>
                <a:ea typeface="+mn-lt"/>
                <a:cs typeface="+mn-lt"/>
              </a:endParaRPr>
            </a:p>
          </p:txBody>
        </p:sp>
      </p:grpSp>
      <p:sp>
        <p:nvSpPr>
          <p:cNvPr id="66" name="Text Placeholder 5">
            <a:extLst>
              <a:ext uri="{FF2B5EF4-FFF2-40B4-BE49-F238E27FC236}">
                <a16:creationId xmlns:a16="http://schemas.microsoft.com/office/drawing/2014/main" id="{52C25F14-3C29-F47C-0FAF-8B24EF3B2BB9}"/>
              </a:ext>
            </a:extLst>
          </p:cNvPr>
          <p:cNvSpPr txBox="1">
            <a:spLocks/>
          </p:cNvSpPr>
          <p:nvPr/>
        </p:nvSpPr>
        <p:spPr>
          <a:xfrm>
            <a:off x="8395814" y="4705980"/>
            <a:ext cx="1648090" cy="773949"/>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2000" dirty="0">
                <a:latin typeface="+mj-lt"/>
                <a:cs typeface="Segoe UI Semilight"/>
              </a:rPr>
              <a:t>OpenAI</a:t>
            </a:r>
          </a:p>
          <a:p>
            <a:pPr marL="0" indent="0" algn="ctr" defTabSz="1865484">
              <a:buNone/>
              <a:defRPr/>
            </a:pPr>
            <a:r>
              <a:rPr lang="en-US" sz="2000" dirty="0">
                <a:latin typeface="+mj-lt"/>
                <a:cs typeface="Segoe UI Semilight"/>
              </a:rPr>
              <a:t>gpt-4o</a:t>
            </a:r>
            <a:endParaRPr lang="en-US" sz="2000" dirty="0">
              <a:cs typeface="Arial"/>
            </a:endParaRPr>
          </a:p>
        </p:txBody>
      </p:sp>
      <p:sp>
        <p:nvSpPr>
          <p:cNvPr id="67" name="Arrow: Right 10">
            <a:extLst>
              <a:ext uri="{FF2B5EF4-FFF2-40B4-BE49-F238E27FC236}">
                <a16:creationId xmlns:a16="http://schemas.microsoft.com/office/drawing/2014/main" id="{7B8CAE3D-EC7C-59E0-559A-25D00E1EE923}"/>
              </a:ext>
            </a:extLst>
          </p:cNvPr>
          <p:cNvSpPr/>
          <p:nvPr/>
        </p:nvSpPr>
        <p:spPr bwMode="auto">
          <a:xfrm>
            <a:off x="7318783" y="4000075"/>
            <a:ext cx="1090457" cy="293302"/>
          </a:xfrm>
          <a:prstGeom prst="rightArrow">
            <a:avLst>
              <a:gd name="adj1" fmla="val 50000"/>
              <a:gd name="adj2"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68" name="Group 67">
            <a:extLst>
              <a:ext uri="{FF2B5EF4-FFF2-40B4-BE49-F238E27FC236}">
                <a16:creationId xmlns:a16="http://schemas.microsoft.com/office/drawing/2014/main" id="{01BD90FF-8098-977A-CDB5-955B09742B1E}"/>
              </a:ext>
            </a:extLst>
          </p:cNvPr>
          <p:cNvGrpSpPr/>
          <p:nvPr/>
        </p:nvGrpSpPr>
        <p:grpSpPr>
          <a:xfrm>
            <a:off x="7321875" y="2998138"/>
            <a:ext cx="1128878" cy="561470"/>
            <a:chOff x="6607768" y="2902338"/>
            <a:chExt cx="1128878" cy="561470"/>
          </a:xfrm>
        </p:grpSpPr>
        <p:sp>
          <p:nvSpPr>
            <p:cNvPr id="69" name="TextBox 68">
              <a:extLst>
                <a:ext uri="{FF2B5EF4-FFF2-40B4-BE49-F238E27FC236}">
                  <a16:creationId xmlns:a16="http://schemas.microsoft.com/office/drawing/2014/main" id="{1547D2B6-A358-8B4E-22C2-4762A402DDDC}"/>
                </a:ext>
              </a:extLst>
            </p:cNvPr>
            <p:cNvSpPr txBox="1"/>
            <p:nvPr/>
          </p:nvSpPr>
          <p:spPr>
            <a:xfrm>
              <a:off x="6607768" y="3248365"/>
              <a:ext cx="1128878" cy="215443"/>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sp>
          <p:nvSpPr>
            <p:cNvPr id="70" name="Arrow: Right 10">
              <a:extLst>
                <a:ext uri="{FF2B5EF4-FFF2-40B4-BE49-F238E27FC236}">
                  <a16:creationId xmlns:a16="http://schemas.microsoft.com/office/drawing/2014/main" id="{F8260FCA-CC3B-951B-1CD1-911A799FDF7F}"/>
                </a:ext>
              </a:extLst>
            </p:cNvPr>
            <p:cNvSpPr/>
            <p:nvPr/>
          </p:nvSpPr>
          <p:spPr bwMode="auto">
            <a:xfrm>
              <a:off x="6617977" y="2902338"/>
              <a:ext cx="1090457" cy="293302"/>
            </a:xfrm>
            <a:prstGeom prst="rightArrow">
              <a:avLst>
                <a:gd name="adj1" fmla="val 50000"/>
                <a:gd name="adj2"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sp>
        <p:nvSpPr>
          <p:cNvPr id="71" name="Text Placeholder 5">
            <a:extLst>
              <a:ext uri="{FF2B5EF4-FFF2-40B4-BE49-F238E27FC236}">
                <a16:creationId xmlns:a16="http://schemas.microsoft.com/office/drawing/2014/main" id="{E8BF68F1-EE32-C5EC-3777-8D68625449F6}"/>
              </a:ext>
            </a:extLst>
          </p:cNvPr>
          <p:cNvSpPr txBox="1">
            <a:spLocks/>
          </p:cNvSpPr>
          <p:nvPr/>
        </p:nvSpPr>
        <p:spPr>
          <a:xfrm>
            <a:off x="3709088" y="4302063"/>
            <a:ext cx="1380273" cy="843158"/>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dirty="0">
                <a:latin typeface="+mj-lt"/>
                <a:cs typeface="Segoe UI Semilight"/>
              </a:rPr>
              <a:t>OpenAI</a:t>
            </a:r>
          </a:p>
          <a:p>
            <a:pPr marL="0" indent="0" algn="ctr" defTabSz="1865484">
              <a:buNone/>
              <a:defRPr/>
            </a:pPr>
            <a:r>
              <a:rPr lang="en-US" sz="1400" dirty="0">
                <a:latin typeface="+mj-lt"/>
                <a:cs typeface="Segoe UI Semilight"/>
              </a:rPr>
              <a:t>text embedding</a:t>
            </a:r>
            <a:endParaRPr lang="en-US" sz="1400" dirty="0">
              <a:cs typeface="Arial"/>
            </a:endParaRPr>
          </a:p>
        </p:txBody>
      </p:sp>
      <p:sp>
        <p:nvSpPr>
          <p:cNvPr id="72" name="Arrow: Right 8">
            <a:extLst>
              <a:ext uri="{FF2B5EF4-FFF2-40B4-BE49-F238E27FC236}">
                <a16:creationId xmlns:a16="http://schemas.microsoft.com/office/drawing/2014/main" id="{D1B31B8A-E4E2-6F33-E268-9FF5ECD99351}"/>
              </a:ext>
            </a:extLst>
          </p:cNvPr>
          <p:cNvSpPr/>
          <p:nvPr/>
        </p:nvSpPr>
        <p:spPr bwMode="auto">
          <a:xfrm>
            <a:off x="2814109" y="3984634"/>
            <a:ext cx="1056614"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3" name="TextBox 72">
            <a:extLst>
              <a:ext uri="{FF2B5EF4-FFF2-40B4-BE49-F238E27FC236}">
                <a16:creationId xmlns:a16="http://schemas.microsoft.com/office/drawing/2014/main" id="{EAA48837-EEC4-AACF-2149-8AB742583801}"/>
              </a:ext>
            </a:extLst>
          </p:cNvPr>
          <p:cNvSpPr txBox="1"/>
          <p:nvPr/>
        </p:nvSpPr>
        <p:spPr>
          <a:xfrm>
            <a:off x="2761915" y="4270203"/>
            <a:ext cx="1105071" cy="222688"/>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sp>
        <p:nvSpPr>
          <p:cNvPr id="74" name="Text Placeholder 5">
            <a:extLst>
              <a:ext uri="{FF2B5EF4-FFF2-40B4-BE49-F238E27FC236}">
                <a16:creationId xmlns:a16="http://schemas.microsoft.com/office/drawing/2014/main" id="{9E4456A9-CA72-8CED-1C13-D191B15063D5}"/>
              </a:ext>
            </a:extLst>
          </p:cNvPr>
          <p:cNvSpPr txBox="1">
            <a:spLocks/>
          </p:cNvSpPr>
          <p:nvPr/>
        </p:nvSpPr>
        <p:spPr>
          <a:xfrm>
            <a:off x="3652026" y="5960247"/>
            <a:ext cx="1428486" cy="843158"/>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dirty="0">
                <a:latin typeface="+mj-lt"/>
                <a:cs typeface="Segoe UI Semilight"/>
              </a:rPr>
              <a:t>AI vision API</a:t>
            </a:r>
          </a:p>
          <a:p>
            <a:pPr marL="0" indent="0" algn="ctr" defTabSz="1865484">
              <a:buNone/>
              <a:defRPr/>
            </a:pPr>
            <a:r>
              <a:rPr lang="en-US" sz="1400" dirty="0">
                <a:latin typeface="+mj-lt"/>
                <a:cs typeface="Segoe UI Semilight"/>
              </a:rPr>
              <a:t>/vectorizeText</a:t>
            </a:r>
            <a:endParaRPr lang="en-US" sz="1400" dirty="0">
              <a:cs typeface="Arial"/>
            </a:endParaRPr>
          </a:p>
        </p:txBody>
      </p:sp>
      <p:sp>
        <p:nvSpPr>
          <p:cNvPr id="75" name="Arrow: Right 8">
            <a:extLst>
              <a:ext uri="{FF2B5EF4-FFF2-40B4-BE49-F238E27FC236}">
                <a16:creationId xmlns:a16="http://schemas.microsoft.com/office/drawing/2014/main" id="{574AB64D-2BD3-38FE-F6B1-10E2D75CA554}"/>
              </a:ext>
            </a:extLst>
          </p:cNvPr>
          <p:cNvSpPr/>
          <p:nvPr/>
        </p:nvSpPr>
        <p:spPr bwMode="auto">
          <a:xfrm>
            <a:off x="2810372" y="5267544"/>
            <a:ext cx="1056614"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6" name="TextBox 75">
            <a:extLst>
              <a:ext uri="{FF2B5EF4-FFF2-40B4-BE49-F238E27FC236}">
                <a16:creationId xmlns:a16="http://schemas.microsoft.com/office/drawing/2014/main" id="{28DDC58A-7215-5769-4C70-4A9336F8583D}"/>
              </a:ext>
            </a:extLst>
          </p:cNvPr>
          <p:cNvSpPr txBox="1"/>
          <p:nvPr/>
        </p:nvSpPr>
        <p:spPr>
          <a:xfrm>
            <a:off x="2758178" y="5553113"/>
            <a:ext cx="1105071" cy="222688"/>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pic>
        <p:nvPicPr>
          <p:cNvPr id="77" name="Graphic 76">
            <a:extLst>
              <a:ext uri="{FF2B5EF4-FFF2-40B4-BE49-F238E27FC236}">
                <a16:creationId xmlns:a16="http://schemas.microsoft.com/office/drawing/2014/main" id="{F365E86F-A084-EEFF-18EA-D864FEA0F6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34859" y="3248850"/>
            <a:ext cx="1276979" cy="1276979"/>
          </a:xfrm>
          <a:prstGeom prst="rect">
            <a:avLst/>
          </a:prstGeom>
        </p:spPr>
      </p:pic>
      <p:pic>
        <p:nvPicPr>
          <p:cNvPr id="78" name="Graphic 77">
            <a:extLst>
              <a:ext uri="{FF2B5EF4-FFF2-40B4-BE49-F238E27FC236}">
                <a16:creationId xmlns:a16="http://schemas.microsoft.com/office/drawing/2014/main" id="{1EDE9799-5F14-6E4C-01BB-C59FC3AA73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63270" y="3633926"/>
            <a:ext cx="623417" cy="623417"/>
          </a:xfrm>
          <a:prstGeom prst="rect">
            <a:avLst/>
          </a:prstGeom>
        </p:spPr>
      </p:pic>
      <p:pic>
        <p:nvPicPr>
          <p:cNvPr id="79" name="Graphic 78">
            <a:extLst>
              <a:ext uri="{FF2B5EF4-FFF2-40B4-BE49-F238E27FC236}">
                <a16:creationId xmlns:a16="http://schemas.microsoft.com/office/drawing/2014/main" id="{CF143ED2-6D77-058D-88F1-9A9FFAB01B7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34888" y="5253534"/>
            <a:ext cx="684866" cy="684866"/>
          </a:xfrm>
          <a:prstGeom prst="rect">
            <a:avLst/>
          </a:prstGeom>
        </p:spPr>
      </p:pic>
      <p:pic>
        <p:nvPicPr>
          <p:cNvPr id="80" name="Graphic 79">
            <a:extLst>
              <a:ext uri="{FF2B5EF4-FFF2-40B4-BE49-F238E27FC236}">
                <a16:creationId xmlns:a16="http://schemas.microsoft.com/office/drawing/2014/main" id="{952E98FB-9310-2629-B8A7-857BF8DED42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12505" y="3600962"/>
            <a:ext cx="1060502" cy="1060502"/>
          </a:xfrm>
          <a:prstGeom prst="rect">
            <a:avLst/>
          </a:prstGeom>
        </p:spPr>
      </p:pic>
      <p:sp>
        <p:nvSpPr>
          <p:cNvPr id="81" name="Speech Bubble: Rectangle with Corners Rounded 18">
            <a:extLst>
              <a:ext uri="{FF2B5EF4-FFF2-40B4-BE49-F238E27FC236}">
                <a16:creationId xmlns:a16="http://schemas.microsoft.com/office/drawing/2014/main" id="{743CC7C2-9CBC-AA7F-0867-750CB2057C7F}"/>
              </a:ext>
            </a:extLst>
          </p:cNvPr>
          <p:cNvSpPr/>
          <p:nvPr/>
        </p:nvSpPr>
        <p:spPr bwMode="auto">
          <a:xfrm>
            <a:off x="8641545" y="1598125"/>
            <a:ext cx="3248960" cy="1290070"/>
          </a:xfrm>
          <a:prstGeom prst="wedgeRoundRectCallout">
            <a:avLst>
              <a:gd name="adj1" fmla="val -31818"/>
              <a:gd name="adj2" fmla="val 76079"/>
              <a:gd name="adj3" fmla="val 16667"/>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2" name="TextBox 12">
            <a:extLst>
              <a:ext uri="{FF2B5EF4-FFF2-40B4-BE49-F238E27FC236}">
                <a16:creationId xmlns:a16="http://schemas.microsoft.com/office/drawing/2014/main" id="{0D10274D-F1EF-925D-71EE-17E88A5083E9}"/>
              </a:ext>
            </a:extLst>
          </p:cNvPr>
          <p:cNvSpPr txBox="1"/>
          <p:nvPr/>
        </p:nvSpPr>
        <p:spPr>
          <a:xfrm>
            <a:off x="8882053" y="1790241"/>
            <a:ext cx="3248959" cy="112851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r>
              <a:rPr lang="en-US" sz="2000" b="0" i="0">
                <a:effectLst/>
                <a:latin typeface="Segoe UI" panose="020B0502040204020203" pitchFamily="34" charset="0"/>
              </a:rPr>
              <a:t>Yes, there is a correlation between oil prices and</a:t>
            </a:r>
          </a:p>
          <a:p>
            <a:r>
              <a:rPr lang="en-US" sz="2000" b="0" i="0">
                <a:effectLst/>
                <a:latin typeface="Segoe UI" panose="020B0502040204020203" pitchFamily="34" charset="0"/>
              </a:rPr>
              <a:t>stock market trends</a:t>
            </a:r>
            <a:r>
              <a:rPr lang="en-US" sz="2000" baseline="30000" dirty="0">
                <a:latin typeface="Segoe UI"/>
                <a:ea typeface="Menlo"/>
                <a:cs typeface="Menlo"/>
              </a:rPr>
              <a:t>2</a:t>
            </a:r>
          </a:p>
          <a:p>
            <a:endParaRPr lang="en-US" sz="2000" baseline="30000" dirty="0">
              <a:latin typeface="Segoe UI"/>
              <a:ea typeface="Menlo"/>
              <a:cs typeface="Menlo"/>
            </a:endParaRPr>
          </a:p>
        </p:txBody>
      </p:sp>
    </p:spTree>
    <p:extLst>
      <p:ext uri="{BB962C8B-B14F-4D97-AF65-F5344CB8AC3E}">
        <p14:creationId xmlns:p14="http://schemas.microsoft.com/office/powerpoint/2010/main" val="2828769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35849-AA7A-7512-DCC4-FA8CEA18C4C2}"/>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E8B1B166-846F-E1D1-15B6-41B443C17EC2}"/>
              </a:ext>
            </a:extLst>
          </p:cNvPr>
          <p:cNvSpPr>
            <a:spLocks noGrp="1"/>
          </p:cNvSpPr>
          <p:nvPr>
            <p:ph type="title"/>
          </p:nvPr>
        </p:nvSpPr>
        <p:spPr/>
        <p:txBody>
          <a:bodyPr/>
          <a:lstStyle/>
          <a:p>
            <a:r>
              <a:rPr lang="en-US"/>
              <a:t>Data ingestion with vision models</a:t>
            </a:r>
          </a:p>
        </p:txBody>
      </p:sp>
      <p:sp>
        <p:nvSpPr>
          <p:cNvPr id="86" name="Content Placeholder 2">
            <a:extLst>
              <a:ext uri="{FF2B5EF4-FFF2-40B4-BE49-F238E27FC236}">
                <a16:creationId xmlns:a16="http://schemas.microsoft.com/office/drawing/2014/main" id="{8F217695-4311-BA55-9E18-BC24CDEB2B2B}"/>
              </a:ext>
            </a:extLst>
          </p:cNvPr>
          <p:cNvSpPr>
            <a:spLocks noGrp="1"/>
          </p:cNvSpPr>
          <p:nvPr>
            <p:ph idx="1"/>
          </p:nvPr>
        </p:nvSpPr>
        <p:spPr>
          <a:xfrm>
            <a:off x="1070284" y="1734973"/>
            <a:ext cx="9850120" cy="428502"/>
          </a:xfrm>
        </p:spPr>
        <p:txBody>
          <a:bodyPr>
            <a:normAutofit/>
          </a:bodyPr>
          <a:lstStyle/>
          <a:p>
            <a:pPr marL="0" indent="0">
              <a:buNone/>
            </a:pPr>
            <a:r>
              <a:rPr lang="en-US" sz="2400"/>
              <a:t>These steps are done </a:t>
            </a:r>
            <a:r>
              <a:rPr lang="en-US" sz="2400" i="1"/>
              <a:t>in addition </a:t>
            </a:r>
            <a:r>
              <a:rPr lang="en-US" sz="2400"/>
              <a:t>to standard textual ingestion steps.</a:t>
            </a:r>
          </a:p>
        </p:txBody>
      </p:sp>
      <p:grpSp>
        <p:nvGrpSpPr>
          <p:cNvPr id="29" name="Group 28">
            <a:extLst>
              <a:ext uri="{FF2B5EF4-FFF2-40B4-BE49-F238E27FC236}">
                <a16:creationId xmlns:a16="http://schemas.microsoft.com/office/drawing/2014/main" id="{6EF88964-2CB3-F45F-E076-6821452F9FDD}"/>
              </a:ext>
            </a:extLst>
          </p:cNvPr>
          <p:cNvGrpSpPr/>
          <p:nvPr/>
        </p:nvGrpSpPr>
        <p:grpSpPr>
          <a:xfrm>
            <a:off x="1049416" y="2326047"/>
            <a:ext cx="2190612" cy="4073695"/>
            <a:chOff x="817332" y="2057832"/>
            <a:chExt cx="2190612" cy="4073695"/>
          </a:xfrm>
        </p:grpSpPr>
        <p:sp>
          <p:nvSpPr>
            <p:cNvPr id="30" name="Rounded Rectangle 1">
              <a:extLst>
                <a:ext uri="{FF2B5EF4-FFF2-40B4-BE49-F238E27FC236}">
                  <a16:creationId xmlns:a16="http://schemas.microsoft.com/office/drawing/2014/main" id="{3CC3C89E-1FF1-4840-7FF3-EA06CCF418EC}"/>
                </a:ext>
                <a:ext uri="{C183D7F6-B498-43B3-948B-1728B52AA6E4}">
                  <adec:decorative xmlns:adec="http://schemas.microsoft.com/office/drawing/2017/decorative" val="1"/>
                </a:ext>
              </a:extLst>
            </p:cNvPr>
            <p:cNvSpPr/>
            <p:nvPr/>
          </p:nvSpPr>
          <p:spPr bwMode="auto">
            <a:xfrm>
              <a:off x="817332" y="3846091"/>
              <a:ext cx="2190612" cy="2285436"/>
            </a:xfrm>
            <a:prstGeom prst="roundRect">
              <a:avLst>
                <a:gd name="adj" fmla="val 2509"/>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a:solidFill>
                    <a:srgbClr val="FFFFFF"/>
                  </a:solidFill>
                  <a:latin typeface="Segoe UI" panose="020B0502040204020203" pitchFamily="34" charset="0"/>
                  <a:cs typeface="Segoe UI" panose="020B0502040204020203" pitchFamily="34" charset="0"/>
                </a:rPr>
                <a:t>Split PDFs</a:t>
              </a:r>
            </a:p>
            <a:p>
              <a:pPr algn="ctr" defTabSz="932472" fontAlgn="base">
                <a:spcBef>
                  <a:spcPct val="0"/>
                </a:spcBef>
                <a:spcAft>
                  <a:spcPct val="0"/>
                </a:spcAft>
              </a:pPr>
              <a:r>
                <a:rPr lang="en-US">
                  <a:solidFill>
                    <a:srgbClr val="FFFFFF"/>
                  </a:solidFill>
                  <a:latin typeface="Segoe UI" panose="020B0502040204020203" pitchFamily="34" charset="0"/>
                  <a:cs typeface="Segoe UI" panose="020B0502040204020203" pitchFamily="34" charset="0"/>
                </a:rPr>
                <a:t>into pages</a:t>
              </a:r>
            </a:p>
            <a:p>
              <a:pPr algn="ctr" defTabSz="932472" fontAlgn="base">
                <a:spcBef>
                  <a:spcPct val="0"/>
                </a:spcBef>
                <a:spcAft>
                  <a:spcPct val="0"/>
                </a:spcAft>
              </a:pPr>
              <a:endParaRPr lang="en-US">
                <a:solidFill>
                  <a:srgbClr val="FFFFFF"/>
                </a:solidFill>
                <a:latin typeface="Segoe UI" panose="020B0502040204020203" pitchFamily="34" charset="0"/>
                <a:cs typeface="Segoe UI" panose="020B0502040204020203" pitchFamily="34" charset="0"/>
              </a:endParaRPr>
            </a:p>
            <a:p>
              <a:pPr algn="ctr" defTabSz="932472" fontAlgn="base">
                <a:spcBef>
                  <a:spcPct val="0"/>
                </a:spcBef>
                <a:spcAft>
                  <a:spcPct val="0"/>
                </a:spcAft>
              </a:pPr>
              <a:r>
                <a:rPr lang="en-US">
                  <a:solidFill>
                    <a:srgbClr val="FFFFFF"/>
                  </a:solidFill>
                  <a:latin typeface="Segoe UI" panose="020B0502040204020203" pitchFamily="34" charset="0"/>
                  <a:cs typeface="Segoe UI" panose="020B0502040204020203" pitchFamily="34" charset="0"/>
                </a:rPr>
                <a:t>&amp;</a:t>
              </a:r>
            </a:p>
            <a:p>
              <a:pPr algn="ctr" defTabSz="932472" fontAlgn="base">
                <a:spcBef>
                  <a:spcPct val="0"/>
                </a:spcBef>
                <a:spcAft>
                  <a:spcPct val="0"/>
                </a:spcAft>
              </a:pPr>
              <a:endParaRPr lang="en-US">
                <a:solidFill>
                  <a:srgbClr val="FFFFFF"/>
                </a:solidFill>
                <a:latin typeface="Segoe UI" panose="020B0502040204020203" pitchFamily="34" charset="0"/>
                <a:cs typeface="Segoe UI" panose="020B0502040204020203" pitchFamily="34" charset="0"/>
              </a:endParaRPr>
            </a:p>
            <a:p>
              <a:pPr algn="ctr" defTabSz="932472" fontAlgn="base">
                <a:spcBef>
                  <a:spcPct val="0"/>
                </a:spcBef>
                <a:spcAft>
                  <a:spcPct val="0"/>
                </a:spcAft>
              </a:pPr>
              <a:r>
                <a:rPr lang="en-US">
                  <a:solidFill>
                    <a:srgbClr val="FFFFFF"/>
                  </a:solidFill>
                  <a:latin typeface="Segoe UI" panose="020B0502040204020203" pitchFamily="34" charset="0"/>
                  <a:cs typeface="Segoe UI" panose="020B0502040204020203" pitchFamily="34" charset="0"/>
                </a:rPr>
                <a:t>Generate image of each page</a:t>
              </a:r>
            </a:p>
          </p:txBody>
        </p:sp>
        <p:pic>
          <p:nvPicPr>
            <p:cNvPr id="31" name="Picture 2" descr="Python Software Foundation">
              <a:extLst>
                <a:ext uri="{FF2B5EF4-FFF2-40B4-BE49-F238E27FC236}">
                  <a16:creationId xmlns:a16="http://schemas.microsoft.com/office/drawing/2014/main" id="{E0FE9AE2-19F2-5163-AC43-FE5C1BC4D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8938" b="14583"/>
            <a:stretch/>
          </p:blipFill>
          <p:spPr bwMode="auto">
            <a:xfrm>
              <a:off x="1203592" y="2057832"/>
              <a:ext cx="1142192" cy="1137226"/>
            </a:xfrm>
            <a:prstGeom prst="rect">
              <a:avLst/>
            </a:prstGeom>
            <a:noFill/>
            <a:extLst>
              <a:ext uri="{909E8E84-426E-40DD-AFC4-6F175D3DCCD1}">
                <a14:hiddenFill xmlns:a14="http://schemas.microsoft.com/office/drawing/2010/main">
                  <a:solidFill>
                    <a:srgbClr val="FFFFFF"/>
                  </a:solidFill>
                </a14:hiddenFill>
              </a:ext>
            </a:extLst>
          </p:spPr>
        </p:pic>
        <p:sp>
          <p:nvSpPr>
            <p:cNvPr id="32" name="Text Placeholder 5">
              <a:extLst>
                <a:ext uri="{FF2B5EF4-FFF2-40B4-BE49-F238E27FC236}">
                  <a16:creationId xmlns:a16="http://schemas.microsoft.com/office/drawing/2014/main" id="{F6FB5CB1-2C21-AE03-9E90-95665EFF56DC}"/>
                </a:ext>
              </a:extLst>
            </p:cNvPr>
            <p:cNvSpPr txBox="1">
              <a:spLocks/>
            </p:cNvSpPr>
            <p:nvPr/>
          </p:nvSpPr>
          <p:spPr>
            <a:xfrm>
              <a:off x="1352791" y="3354967"/>
              <a:ext cx="978853" cy="363563"/>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defTabSz="1865484">
                <a:defRPr/>
              </a:pPr>
              <a:r>
                <a:rPr lang="en-US" sz="1800">
                  <a:latin typeface="Segoe UI" panose="020B0502040204020203" pitchFamily="34" charset="0"/>
                  <a:cs typeface="Segoe UI" panose="020B0502040204020203" pitchFamily="34" charset="0"/>
                </a:rPr>
                <a:t>Python</a:t>
              </a:r>
            </a:p>
          </p:txBody>
        </p:sp>
      </p:grpSp>
      <p:grpSp>
        <p:nvGrpSpPr>
          <p:cNvPr id="33" name="Group 32">
            <a:extLst>
              <a:ext uri="{FF2B5EF4-FFF2-40B4-BE49-F238E27FC236}">
                <a16:creationId xmlns:a16="http://schemas.microsoft.com/office/drawing/2014/main" id="{91949CA9-6E7B-E43A-D1CA-6AF180C2B7B5}"/>
              </a:ext>
            </a:extLst>
          </p:cNvPr>
          <p:cNvGrpSpPr/>
          <p:nvPr/>
        </p:nvGrpSpPr>
        <p:grpSpPr>
          <a:xfrm>
            <a:off x="8874411" y="2387991"/>
            <a:ext cx="2704981" cy="3995599"/>
            <a:chOff x="8642327" y="2119776"/>
            <a:chExt cx="2704981" cy="3995599"/>
          </a:xfrm>
        </p:grpSpPr>
        <p:grpSp>
          <p:nvGrpSpPr>
            <p:cNvPr id="34" name="Group 33">
              <a:extLst>
                <a:ext uri="{FF2B5EF4-FFF2-40B4-BE49-F238E27FC236}">
                  <a16:creationId xmlns:a16="http://schemas.microsoft.com/office/drawing/2014/main" id="{484E50EB-F71F-DE5F-66D9-6D1D8A760311}"/>
                </a:ext>
              </a:extLst>
            </p:cNvPr>
            <p:cNvGrpSpPr/>
            <p:nvPr/>
          </p:nvGrpSpPr>
          <p:grpSpPr>
            <a:xfrm>
              <a:off x="9749798" y="2119776"/>
              <a:ext cx="1052501" cy="1052501"/>
              <a:chOff x="7413809" y="1784669"/>
              <a:chExt cx="758014" cy="758014"/>
            </a:xfrm>
          </p:grpSpPr>
          <p:sp>
            <p:nvSpPr>
              <p:cNvPr id="38" name="Rectangle: Rounded Corners 25">
                <a:extLst>
                  <a:ext uri="{FF2B5EF4-FFF2-40B4-BE49-F238E27FC236}">
                    <a16:creationId xmlns:a16="http://schemas.microsoft.com/office/drawing/2014/main" id="{998CF4CC-AD72-9BDE-704E-BD0AD825C48D}"/>
                  </a:ext>
                </a:extLst>
              </p:cNvPr>
              <p:cNvSpPr/>
              <p:nvPr/>
            </p:nvSpPr>
            <p:spPr>
              <a:xfrm>
                <a:off x="7413809" y="1784669"/>
                <a:ext cx="758014" cy="758014"/>
              </a:xfrm>
              <a:prstGeom prst="round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c 437806336">
                <a:extLst>
                  <a:ext uri="{FF2B5EF4-FFF2-40B4-BE49-F238E27FC236}">
                    <a16:creationId xmlns:a16="http://schemas.microsoft.com/office/drawing/2014/main" id="{FBAB664A-7348-1F9B-1A89-B32BB40D51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11466" y="1837743"/>
                <a:ext cx="639445" cy="640080"/>
              </a:xfrm>
              <a:prstGeom prst="rect">
                <a:avLst/>
              </a:prstGeom>
            </p:spPr>
          </p:pic>
        </p:grpSp>
        <p:sp>
          <p:nvSpPr>
            <p:cNvPr id="35" name="Rounded Rectangle 1">
              <a:extLst>
                <a:ext uri="{FF2B5EF4-FFF2-40B4-BE49-F238E27FC236}">
                  <a16:creationId xmlns:a16="http://schemas.microsoft.com/office/drawing/2014/main" id="{054AD057-7758-A4CE-BB9B-7CFA1FF33E74}"/>
                </a:ext>
                <a:ext uri="{C183D7F6-B498-43B3-948B-1728B52AA6E4}">
                  <adec:decorative xmlns:adec="http://schemas.microsoft.com/office/drawing/2017/decorative" val="1"/>
                </a:ext>
              </a:extLst>
            </p:cNvPr>
            <p:cNvSpPr/>
            <p:nvPr/>
          </p:nvSpPr>
          <p:spPr bwMode="auto">
            <a:xfrm>
              <a:off x="9156695" y="3846091"/>
              <a:ext cx="2190613" cy="2269284"/>
            </a:xfrm>
            <a:prstGeom prst="roundRect">
              <a:avLst>
                <a:gd name="adj" fmla="val 2509"/>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a:solidFill>
                    <a:srgbClr val="FFFFFF"/>
                  </a:solidFill>
                  <a:latin typeface="Segoe UI" panose="020B0502040204020203" pitchFamily="34" charset="0"/>
                  <a:cs typeface="Segoe UI" panose="020B0502040204020203" pitchFamily="34" charset="0"/>
                </a:rPr>
                <a:t>Index images</a:t>
              </a:r>
            </a:p>
            <a:p>
              <a:pPr marL="285750" indent="-285750" algn="ctr" defTabSz="932472" fontAlgn="base">
                <a:spcBef>
                  <a:spcPct val="0"/>
                </a:spcBef>
                <a:spcAft>
                  <a:spcPct val="0"/>
                </a:spcAft>
                <a:buFont typeface="Arial" panose="020B0604020202020204" pitchFamily="34" charset="0"/>
                <a:buChar char="•"/>
              </a:pPr>
              <a:endParaRPr lang="en-US" sz="1400">
                <a:solidFill>
                  <a:srgbClr val="FFFFFF"/>
                </a:solidFill>
                <a:latin typeface="Segoe UI" panose="020B0502040204020203" pitchFamily="34" charset="0"/>
                <a:cs typeface="Segoe UI" panose="020B0502040204020203" pitchFamily="34" charset="0"/>
              </a:endParaRPr>
            </a:p>
            <a:p>
              <a:pPr marL="171450" indent="-171450" defTabSz="932472" fontAlgn="base">
                <a:spcBef>
                  <a:spcPct val="0"/>
                </a:spcBef>
                <a:spcAft>
                  <a:spcPct val="0"/>
                </a:spcAft>
                <a:buFont typeface="Arial" panose="020B0604020202020204" pitchFamily="34" charset="0"/>
                <a:buChar char="•"/>
              </a:pPr>
              <a:r>
                <a:rPr lang="en-US" sz="1200">
                  <a:solidFill>
                    <a:srgbClr val="FFFFFF"/>
                  </a:solidFill>
                  <a:latin typeface="Segoe UI" panose="020B0502040204020203" pitchFamily="34" charset="0"/>
                  <a:cs typeface="Segoe UI" panose="020B0502040204020203" pitchFamily="34" charset="0"/>
                </a:rPr>
                <a:t>Store  embedding in imageEmbedding field</a:t>
              </a:r>
            </a:p>
            <a:p>
              <a:pPr marL="171450" indent="-171450" defTabSz="932472" fontAlgn="base">
                <a:spcBef>
                  <a:spcPct val="0"/>
                </a:spcBef>
                <a:spcAft>
                  <a:spcPct val="0"/>
                </a:spcAft>
                <a:buFont typeface="Arial" panose="020B0604020202020204" pitchFamily="34" charset="0"/>
                <a:buChar char="•"/>
              </a:pPr>
              <a:r>
                <a:rPr lang="en-US" sz="1200">
                  <a:solidFill>
                    <a:srgbClr val="FFFFFF"/>
                  </a:solidFill>
                  <a:latin typeface="Segoe UI" panose="020B0502040204020203" pitchFamily="34" charset="0"/>
                  <a:cs typeface="Segoe UI" panose="020B0502040204020203" pitchFamily="34" charset="0"/>
                </a:rPr>
                <a:t>Store image filename in sourcepage field</a:t>
              </a:r>
            </a:p>
            <a:p>
              <a:pPr defTabSz="932472" fontAlgn="base">
                <a:spcBef>
                  <a:spcPct val="0"/>
                </a:spcBef>
                <a:spcAft>
                  <a:spcPct val="0"/>
                </a:spcAft>
              </a:pPr>
              <a:endParaRPr lang="en-US" sz="1200">
                <a:solidFill>
                  <a:srgbClr val="FFFFFF"/>
                </a:solidFill>
                <a:latin typeface="Segoe UI" panose="020B0502040204020203" pitchFamily="34" charset="0"/>
                <a:cs typeface="Segoe UI" panose="020B0502040204020203" pitchFamily="34" charset="0"/>
              </a:endParaRPr>
            </a:p>
          </p:txBody>
        </p:sp>
        <p:cxnSp>
          <p:nvCxnSpPr>
            <p:cNvPr id="36" name="Straight Arrow Connector 35">
              <a:extLst>
                <a:ext uri="{FF2B5EF4-FFF2-40B4-BE49-F238E27FC236}">
                  <a16:creationId xmlns:a16="http://schemas.microsoft.com/office/drawing/2014/main" id="{40E378BF-8CFA-4F49-517B-E30F4EF9E082}"/>
                </a:ext>
              </a:extLst>
            </p:cNvPr>
            <p:cNvCxnSpPr>
              <a:cxnSpLocks/>
            </p:cNvCxnSpPr>
            <p:nvPr/>
          </p:nvCxnSpPr>
          <p:spPr>
            <a:xfrm flipV="1">
              <a:off x="8642327" y="2791022"/>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sp>
          <p:nvSpPr>
            <p:cNvPr id="37" name="Text Placeholder 5">
              <a:extLst>
                <a:ext uri="{FF2B5EF4-FFF2-40B4-BE49-F238E27FC236}">
                  <a16:creationId xmlns:a16="http://schemas.microsoft.com/office/drawing/2014/main" id="{6B2E81EB-5594-AF47-613B-8B9C8E000891}"/>
                </a:ext>
              </a:extLst>
            </p:cNvPr>
            <p:cNvSpPr txBox="1">
              <a:spLocks/>
            </p:cNvSpPr>
            <p:nvPr/>
          </p:nvSpPr>
          <p:spPr>
            <a:xfrm>
              <a:off x="9704952" y="3187891"/>
              <a:ext cx="1142192" cy="637131"/>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latin typeface="Segoe UI" panose="020B0502040204020203" pitchFamily="34" charset="0"/>
                  <a:cs typeface="Segoe UI" panose="020B0502040204020203" pitchFamily="34" charset="0"/>
                </a:rPr>
                <a:t>Azure</a:t>
              </a:r>
            </a:p>
            <a:p>
              <a:pPr marL="0" indent="0" algn="ctr" defTabSz="1865484">
                <a:buNone/>
                <a:defRPr/>
              </a:pPr>
              <a:r>
                <a:rPr lang="en-US" sz="1800">
                  <a:latin typeface="Segoe UI" panose="020B0502040204020203" pitchFamily="34" charset="0"/>
                  <a:cs typeface="Segoe UI" panose="020B0502040204020203" pitchFamily="34" charset="0"/>
                </a:rPr>
                <a:t>AI Search</a:t>
              </a:r>
            </a:p>
          </p:txBody>
        </p:sp>
      </p:grpSp>
      <p:grpSp>
        <p:nvGrpSpPr>
          <p:cNvPr id="40" name="Group 39">
            <a:extLst>
              <a:ext uri="{FF2B5EF4-FFF2-40B4-BE49-F238E27FC236}">
                <a16:creationId xmlns:a16="http://schemas.microsoft.com/office/drawing/2014/main" id="{2F37C121-CB05-FD42-E01F-F2B7AEC34000}"/>
              </a:ext>
            </a:extLst>
          </p:cNvPr>
          <p:cNvGrpSpPr/>
          <p:nvPr/>
        </p:nvGrpSpPr>
        <p:grpSpPr>
          <a:xfrm>
            <a:off x="2988532" y="2435784"/>
            <a:ext cx="2792780" cy="3947836"/>
            <a:chOff x="2756448" y="2167569"/>
            <a:chExt cx="2792780" cy="3947836"/>
          </a:xfrm>
        </p:grpSpPr>
        <p:sp>
          <p:nvSpPr>
            <p:cNvPr id="41" name="Rounded Rectangle 1">
              <a:extLst>
                <a:ext uri="{FF2B5EF4-FFF2-40B4-BE49-F238E27FC236}">
                  <a16:creationId xmlns:a16="http://schemas.microsoft.com/office/drawing/2014/main" id="{419E23BB-EDA1-E0C1-449B-6A3673702325}"/>
                </a:ext>
                <a:ext uri="{C183D7F6-B498-43B3-948B-1728B52AA6E4}">
                  <adec:decorative xmlns:adec="http://schemas.microsoft.com/office/drawing/2017/decorative" val="1"/>
                </a:ext>
              </a:extLst>
            </p:cNvPr>
            <p:cNvSpPr/>
            <p:nvPr/>
          </p:nvSpPr>
          <p:spPr bwMode="auto">
            <a:xfrm>
              <a:off x="3838544" y="3846109"/>
              <a:ext cx="1710684" cy="2269296"/>
            </a:xfrm>
            <a:prstGeom prst="roundRect">
              <a:avLst>
                <a:gd name="adj" fmla="val 2509"/>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a:solidFill>
                    <a:srgbClr val="FFFFFF"/>
                  </a:solidFill>
                  <a:latin typeface="Segoe UI" panose="020B0502040204020203" pitchFamily="34" charset="0"/>
                  <a:cs typeface="Segoe UI" panose="020B0502040204020203" pitchFamily="34" charset="0"/>
                </a:rPr>
                <a:t>Upload images</a:t>
              </a:r>
            </a:p>
            <a:p>
              <a:pPr algn="ctr" defTabSz="932472" fontAlgn="base">
                <a:spcBef>
                  <a:spcPct val="0"/>
                </a:spcBef>
                <a:spcAft>
                  <a:spcPct val="0"/>
                </a:spcAft>
              </a:pPr>
              <a:endParaRPr lang="en-US" sz="1400">
                <a:solidFill>
                  <a:srgbClr val="FFFFFF"/>
                </a:solidFill>
                <a:latin typeface="Segoe UI" panose="020B0502040204020203" pitchFamily="34" charset="0"/>
                <a:cs typeface="Segoe UI" panose="020B0502040204020203" pitchFamily="34" charset="0"/>
              </a:endParaRPr>
            </a:p>
            <a:p>
              <a:pPr algn="ctr" defTabSz="932472" fontAlgn="base">
                <a:spcBef>
                  <a:spcPct val="0"/>
                </a:spcBef>
                <a:spcAft>
                  <a:spcPct val="0"/>
                </a:spcAft>
              </a:pPr>
              <a:r>
                <a:rPr lang="en-US" sz="1400">
                  <a:solidFill>
                    <a:srgbClr val="FFFFFF"/>
                  </a:solidFill>
                  <a:latin typeface="Segoe UI" panose="020B0502040204020203" pitchFamily="34" charset="0"/>
                  <a:cs typeface="Segoe UI" panose="020B0502040204020203" pitchFamily="34" charset="0"/>
                </a:rPr>
                <a:t>Necessary for rendering citations in the app UI</a:t>
              </a:r>
            </a:p>
          </p:txBody>
        </p:sp>
        <p:grpSp>
          <p:nvGrpSpPr>
            <p:cNvPr id="42" name="Group 41">
              <a:extLst>
                <a:ext uri="{FF2B5EF4-FFF2-40B4-BE49-F238E27FC236}">
                  <a16:creationId xmlns:a16="http://schemas.microsoft.com/office/drawing/2014/main" id="{235F165D-D3F8-614E-0ECA-F9784C64EEAF}"/>
                </a:ext>
              </a:extLst>
            </p:cNvPr>
            <p:cNvGrpSpPr/>
            <p:nvPr/>
          </p:nvGrpSpPr>
          <p:grpSpPr>
            <a:xfrm>
              <a:off x="3838544" y="2167569"/>
              <a:ext cx="1610859" cy="1354508"/>
              <a:chOff x="6130760" y="8798981"/>
              <a:chExt cx="3609070" cy="2926978"/>
            </a:xfrm>
          </p:grpSpPr>
          <p:pic>
            <p:nvPicPr>
              <p:cNvPr id="44" name="Graphic 16">
                <a:extLst>
                  <a:ext uri="{FF2B5EF4-FFF2-40B4-BE49-F238E27FC236}">
                    <a16:creationId xmlns:a16="http://schemas.microsoft.com/office/drawing/2014/main" id="{835BCFF9-7A9B-52AD-3186-77C908C2DC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85911" y="8798981"/>
                <a:ext cx="2253706" cy="2253434"/>
              </a:xfrm>
              <a:prstGeom prst="rect">
                <a:avLst/>
              </a:prstGeom>
            </p:spPr>
          </p:pic>
          <p:sp>
            <p:nvSpPr>
              <p:cNvPr id="45" name="Text Placeholder 5">
                <a:extLst>
                  <a:ext uri="{FF2B5EF4-FFF2-40B4-BE49-F238E27FC236}">
                    <a16:creationId xmlns:a16="http://schemas.microsoft.com/office/drawing/2014/main" id="{DA48AA52-3BE6-849E-8AEC-3E3A39F257DF}"/>
                  </a:ext>
                </a:extLst>
              </p:cNvPr>
              <p:cNvSpPr txBox="1">
                <a:spLocks/>
              </p:cNvSpPr>
              <p:nvPr/>
            </p:nvSpPr>
            <p:spPr>
              <a:xfrm>
                <a:off x="6130760" y="11003733"/>
                <a:ext cx="3609070" cy="722226"/>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latin typeface="Segoe UI" panose="020B0502040204020203" pitchFamily="34" charset="0"/>
                    <a:cs typeface="Segoe UI" panose="020B0502040204020203" pitchFamily="34" charset="0"/>
                  </a:rPr>
                  <a:t>Azure Blob Storage</a:t>
                </a:r>
              </a:p>
            </p:txBody>
          </p:sp>
        </p:grpSp>
        <p:cxnSp>
          <p:nvCxnSpPr>
            <p:cNvPr id="43" name="Straight Arrow Connector 42">
              <a:extLst>
                <a:ext uri="{FF2B5EF4-FFF2-40B4-BE49-F238E27FC236}">
                  <a16:creationId xmlns:a16="http://schemas.microsoft.com/office/drawing/2014/main" id="{C55E1E92-1EDB-9DF7-1B98-1F25BBDFB7E6}"/>
                </a:ext>
              </a:extLst>
            </p:cNvPr>
            <p:cNvCxnSpPr>
              <a:cxnSpLocks/>
            </p:cNvCxnSpPr>
            <p:nvPr/>
          </p:nvCxnSpPr>
          <p:spPr>
            <a:xfrm flipV="1">
              <a:off x="2756448" y="2796856"/>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26F4F124-ADA7-63DE-E341-74509A810149}"/>
              </a:ext>
            </a:extLst>
          </p:cNvPr>
          <p:cNvGrpSpPr/>
          <p:nvPr/>
        </p:nvGrpSpPr>
        <p:grpSpPr>
          <a:xfrm>
            <a:off x="5818854" y="2387991"/>
            <a:ext cx="2548242" cy="3995629"/>
            <a:chOff x="5586770" y="2119776"/>
            <a:chExt cx="2548242" cy="3995629"/>
          </a:xfrm>
        </p:grpSpPr>
        <p:sp>
          <p:nvSpPr>
            <p:cNvPr id="47" name="Text Placeholder 5">
              <a:extLst>
                <a:ext uri="{FF2B5EF4-FFF2-40B4-BE49-F238E27FC236}">
                  <a16:creationId xmlns:a16="http://schemas.microsoft.com/office/drawing/2014/main" id="{3C7544F6-3421-3544-1D24-0BA62C89888C}"/>
                </a:ext>
              </a:extLst>
            </p:cNvPr>
            <p:cNvSpPr txBox="1">
              <a:spLocks/>
            </p:cNvSpPr>
            <p:nvPr/>
          </p:nvSpPr>
          <p:spPr>
            <a:xfrm>
              <a:off x="6714279" y="3180007"/>
              <a:ext cx="1142192" cy="637131"/>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latin typeface="Segoe UI" panose="020B0502040204020203" pitchFamily="34" charset="0"/>
                  <a:cs typeface="Segoe UI" panose="020B0502040204020203" pitchFamily="34" charset="0"/>
                </a:rPr>
                <a:t>Azure AI</a:t>
              </a:r>
            </a:p>
            <a:p>
              <a:pPr marL="0" indent="0" algn="ctr" defTabSz="1865484">
                <a:buNone/>
                <a:defRPr/>
              </a:pPr>
              <a:r>
                <a:rPr lang="en-US" sz="1800">
                  <a:latin typeface="Segoe UI" panose="020B0502040204020203" pitchFamily="34" charset="0"/>
                  <a:cs typeface="Segoe UI" panose="020B0502040204020203" pitchFamily="34" charset="0"/>
                </a:rPr>
                <a:t>Vision</a:t>
              </a:r>
            </a:p>
          </p:txBody>
        </p:sp>
        <p:sp>
          <p:nvSpPr>
            <p:cNvPr id="83" name="Rounded Rectangle 1">
              <a:extLst>
                <a:ext uri="{FF2B5EF4-FFF2-40B4-BE49-F238E27FC236}">
                  <a16:creationId xmlns:a16="http://schemas.microsoft.com/office/drawing/2014/main" id="{A8B8B234-7E0D-E961-9395-A3B1833F041A}"/>
                </a:ext>
                <a:ext uri="{C183D7F6-B498-43B3-948B-1728B52AA6E4}">
                  <adec:decorative xmlns:adec="http://schemas.microsoft.com/office/drawing/2017/decorative" val="1"/>
                </a:ext>
              </a:extLst>
            </p:cNvPr>
            <p:cNvSpPr/>
            <p:nvPr/>
          </p:nvSpPr>
          <p:spPr bwMode="auto">
            <a:xfrm>
              <a:off x="6489092" y="3846109"/>
              <a:ext cx="1645920" cy="2269296"/>
            </a:xfrm>
            <a:prstGeom prst="roundRect">
              <a:avLst>
                <a:gd name="adj" fmla="val 2509"/>
              </a:avLst>
            </a:prstGeom>
            <a:solidFill>
              <a:srgbClr val="245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pPr algn="ctr" defTabSz="932472" fontAlgn="base">
                <a:spcBef>
                  <a:spcPct val="0"/>
                </a:spcBef>
                <a:spcAft>
                  <a:spcPct val="0"/>
                </a:spcAft>
              </a:pPr>
              <a:r>
                <a:rPr lang="en-US">
                  <a:solidFill>
                    <a:srgbClr val="FFFFFF"/>
                  </a:solidFill>
                  <a:latin typeface="Segoe UI" panose="020B0502040204020203" pitchFamily="34" charset="0"/>
                  <a:cs typeface="Segoe UI" panose="020B0502040204020203" pitchFamily="34" charset="0"/>
                </a:rPr>
                <a:t>Vectorize images</a:t>
              </a:r>
            </a:p>
            <a:p>
              <a:pPr algn="ctr" defTabSz="932472" fontAlgn="base">
                <a:spcBef>
                  <a:spcPct val="0"/>
                </a:spcBef>
                <a:spcAft>
                  <a:spcPct val="0"/>
                </a:spcAft>
              </a:pPr>
              <a:endParaRPr lang="en-US" sz="1400">
                <a:solidFill>
                  <a:srgbClr val="FFFFFF"/>
                </a:solidFill>
                <a:latin typeface="Segoe UI" panose="020B0502040204020203" pitchFamily="34" charset="0"/>
                <a:cs typeface="Segoe UI" panose="020B0502040204020203" pitchFamily="34" charset="0"/>
              </a:endParaRPr>
            </a:p>
          </p:txBody>
        </p:sp>
        <p:pic>
          <p:nvPicPr>
            <p:cNvPr id="84" name="Graphic 83">
              <a:extLst>
                <a:ext uri="{FF2B5EF4-FFF2-40B4-BE49-F238E27FC236}">
                  <a16:creationId xmlns:a16="http://schemas.microsoft.com/office/drawing/2014/main" id="{3B8CE0CB-0180-EA43-17D4-F4BA7A663B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32783" y="2119776"/>
              <a:ext cx="905184" cy="905184"/>
            </a:xfrm>
            <a:prstGeom prst="rect">
              <a:avLst/>
            </a:prstGeom>
          </p:spPr>
        </p:pic>
        <p:cxnSp>
          <p:nvCxnSpPr>
            <p:cNvPr id="85" name="Straight Arrow Connector 84">
              <a:extLst>
                <a:ext uri="{FF2B5EF4-FFF2-40B4-BE49-F238E27FC236}">
                  <a16:creationId xmlns:a16="http://schemas.microsoft.com/office/drawing/2014/main" id="{1110E1C0-721D-BAE0-FAA5-FE27834787A0}"/>
                </a:ext>
              </a:extLst>
            </p:cNvPr>
            <p:cNvCxnSpPr>
              <a:cxnSpLocks/>
            </p:cNvCxnSpPr>
            <p:nvPr/>
          </p:nvCxnSpPr>
          <p:spPr>
            <a:xfrm flipV="1">
              <a:off x="5586770" y="2796859"/>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31956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B03A-4838-03EA-6C00-BF9915273AD2}"/>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B525E55-42FF-F59B-BC13-07986785F52B}"/>
              </a:ext>
            </a:extLst>
          </p:cNvPr>
          <p:cNvSpPr>
            <a:spLocks noGrp="1"/>
          </p:cNvSpPr>
          <p:nvPr>
            <p:ph type="title"/>
          </p:nvPr>
        </p:nvSpPr>
        <p:spPr/>
        <p:txBody>
          <a:bodyPr/>
          <a:lstStyle/>
          <a:p>
            <a:r>
              <a:rPr lang="en-US"/>
              <a:t>Example ingestion: Generate page images</a:t>
            </a:r>
          </a:p>
        </p:txBody>
      </p:sp>
      <p:sp>
        <p:nvSpPr>
          <p:cNvPr id="4" name="Content Placeholder 2">
            <a:extLst>
              <a:ext uri="{FF2B5EF4-FFF2-40B4-BE49-F238E27FC236}">
                <a16:creationId xmlns:a16="http://schemas.microsoft.com/office/drawing/2014/main" id="{F1FDB9D1-B94A-3EE3-F150-7135C8286A98}"/>
              </a:ext>
            </a:extLst>
          </p:cNvPr>
          <p:cNvSpPr>
            <a:spLocks noGrp="1"/>
          </p:cNvSpPr>
          <p:nvPr>
            <p:ph idx="1"/>
          </p:nvPr>
        </p:nvSpPr>
        <p:spPr>
          <a:xfrm>
            <a:off x="1183140" y="1697468"/>
            <a:ext cx="7706360" cy="861774"/>
          </a:xfrm>
        </p:spPr>
        <p:txBody>
          <a:bodyPr>
            <a:normAutofit/>
          </a:bodyPr>
          <a:lstStyle/>
          <a:p>
            <a:pPr marL="0" indent="0">
              <a:buNone/>
            </a:pPr>
            <a:r>
              <a:rPr lang="en-US" sz="2400"/>
              <a:t>In order for the model to provide an answer with citations, we must bake the filename into the image:</a:t>
            </a:r>
          </a:p>
        </p:txBody>
      </p:sp>
      <p:pic>
        <p:nvPicPr>
          <p:cNvPr id="5" name="Picture 2">
            <a:extLst>
              <a:ext uri="{FF2B5EF4-FFF2-40B4-BE49-F238E27FC236}">
                <a16:creationId xmlns:a16="http://schemas.microsoft.com/office/drawing/2014/main" id="{D21A4B13-6D7D-9EA1-F8B8-7DEB30E28B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r="4784" b="29389"/>
          <a:stretch/>
        </p:blipFill>
        <p:spPr bwMode="auto">
          <a:xfrm>
            <a:off x="6242655" y="2589947"/>
            <a:ext cx="5845245" cy="261896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6" name="Rounded Rectangle 5">
            <a:extLst>
              <a:ext uri="{FF2B5EF4-FFF2-40B4-BE49-F238E27FC236}">
                <a16:creationId xmlns:a16="http://schemas.microsoft.com/office/drawing/2014/main" id="{4B87C0B7-E3CD-44AC-CE38-CC2D2DEE37C7}"/>
              </a:ext>
            </a:extLst>
          </p:cNvPr>
          <p:cNvSpPr/>
          <p:nvPr/>
        </p:nvSpPr>
        <p:spPr bwMode="auto">
          <a:xfrm>
            <a:off x="6137426" y="2430420"/>
            <a:ext cx="2394858" cy="553998"/>
          </a:xfrm>
          <a:prstGeom prst="roundRect">
            <a:avLst/>
          </a:prstGeom>
          <a:noFill/>
          <a:ln w="38100">
            <a:solidFill>
              <a:srgbClr val="FFFF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7" name="TextBox 6">
            <a:extLst>
              <a:ext uri="{FF2B5EF4-FFF2-40B4-BE49-F238E27FC236}">
                <a16:creationId xmlns:a16="http://schemas.microsoft.com/office/drawing/2014/main" id="{53322867-BB8E-D079-A39C-F60A7FB50149}"/>
              </a:ext>
            </a:extLst>
          </p:cNvPr>
          <p:cNvSpPr txBox="1"/>
          <p:nvPr/>
        </p:nvSpPr>
        <p:spPr>
          <a:xfrm>
            <a:off x="1194466" y="5399146"/>
            <a:ext cx="4754880" cy="861774"/>
          </a:xfrm>
          <a:prstGeom prst="rect">
            <a:avLst/>
          </a:prstGeom>
          <a:solidFill>
            <a:schemeClr val="bg1">
              <a:lumMod val="95000"/>
            </a:schemeClr>
          </a:solidFill>
        </p:spPr>
        <p:txBody>
          <a:bodyPr wrap="square">
            <a:spAutoFit/>
          </a:bodyPr>
          <a:lstStyle/>
          <a:p>
            <a:pPr>
              <a:lnSpc>
                <a:spcPts val="2025"/>
              </a:lnSpc>
            </a:pPr>
            <a:r>
              <a:rPr lang="en-US" b="0">
                <a:solidFill>
                  <a:srgbClr val="001080"/>
                </a:solidFill>
                <a:effectLst/>
                <a:latin typeface="Consolas" panose="020B0609020204030204" pitchFamily="49" charset="0"/>
                <a:cs typeface="Consolas" panose="020B0609020204030204" pitchFamily="49" charset="0"/>
              </a:rPr>
              <a:t>draw</a:t>
            </a:r>
            <a:r>
              <a:rPr lang="en-US" b="0">
                <a:solidFill>
                  <a:srgbClr val="000000"/>
                </a:solidFill>
                <a:effectLst/>
                <a:latin typeface="Consolas" panose="020B0609020204030204" pitchFamily="49" charset="0"/>
                <a:cs typeface="Consolas" panose="020B0609020204030204" pitchFamily="49" charset="0"/>
              </a:rPr>
              <a:t> = </a:t>
            </a:r>
            <a:r>
              <a:rPr lang="en-US" b="0">
                <a:solidFill>
                  <a:srgbClr val="267F99"/>
                </a:solidFill>
                <a:effectLst/>
                <a:latin typeface="Consolas" panose="020B0609020204030204" pitchFamily="49" charset="0"/>
                <a:cs typeface="Consolas" panose="020B0609020204030204" pitchFamily="49" charset="0"/>
              </a:rPr>
              <a:t>ImageDraw</a:t>
            </a:r>
            <a:r>
              <a:rPr lang="en-US" b="0">
                <a:solidFill>
                  <a:srgbClr val="000000"/>
                </a:solidFill>
                <a:effectLst/>
                <a:latin typeface="Consolas" panose="020B0609020204030204" pitchFamily="49" charset="0"/>
                <a:cs typeface="Consolas" panose="020B0609020204030204" pitchFamily="49" charset="0"/>
              </a:rPr>
              <a:t>.</a:t>
            </a:r>
            <a:r>
              <a:rPr lang="en-US" b="0">
                <a:solidFill>
                  <a:srgbClr val="795E26"/>
                </a:solidFill>
                <a:effectLst/>
                <a:latin typeface="Consolas" panose="020B0609020204030204" pitchFamily="49" charset="0"/>
                <a:cs typeface="Consolas" panose="020B0609020204030204" pitchFamily="49" charset="0"/>
              </a:rPr>
              <a:t>Draw</a:t>
            </a:r>
            <a:r>
              <a:rPr lang="en-US" b="0">
                <a:solidFill>
                  <a:srgbClr val="000000"/>
                </a:solidFill>
                <a:effectLst/>
                <a:latin typeface="Consolas" panose="020B0609020204030204" pitchFamily="49" charset="0"/>
                <a:cs typeface="Consolas" panose="020B0609020204030204" pitchFamily="49" charset="0"/>
              </a:rPr>
              <a:t>(</a:t>
            </a:r>
            <a:r>
              <a:rPr lang="en-US" b="0">
                <a:solidFill>
                  <a:srgbClr val="001080"/>
                </a:solidFill>
                <a:effectLst/>
                <a:latin typeface="Consolas" panose="020B0609020204030204" pitchFamily="49" charset="0"/>
                <a:cs typeface="Consolas" panose="020B0609020204030204" pitchFamily="49" charset="0"/>
              </a:rPr>
              <a:t>new_img</a:t>
            </a:r>
            <a:r>
              <a:rPr lang="en-US" b="0">
                <a:solidFill>
                  <a:srgbClr val="000000"/>
                </a:solidFill>
                <a:effectLst/>
                <a:latin typeface="Consolas" panose="020B0609020204030204" pitchFamily="49" charset="0"/>
                <a:cs typeface="Consolas" panose="020B0609020204030204" pitchFamily="49" charset="0"/>
              </a:rPr>
              <a:t>)</a:t>
            </a:r>
          </a:p>
          <a:p>
            <a:pPr>
              <a:lnSpc>
                <a:spcPts val="2025"/>
              </a:lnSpc>
            </a:pPr>
            <a:r>
              <a:rPr lang="en-US" b="0">
                <a:solidFill>
                  <a:srgbClr val="001080"/>
                </a:solidFill>
                <a:effectLst/>
                <a:latin typeface="Consolas" panose="020B0609020204030204" pitchFamily="49" charset="0"/>
                <a:cs typeface="Consolas" panose="020B0609020204030204" pitchFamily="49" charset="0"/>
              </a:rPr>
              <a:t>text</a:t>
            </a:r>
            <a:r>
              <a:rPr lang="en-US" b="0">
                <a:solidFill>
                  <a:srgbClr val="000000"/>
                </a:solidFill>
                <a:effectLst/>
                <a:latin typeface="Consolas" panose="020B0609020204030204" pitchFamily="49" charset="0"/>
                <a:cs typeface="Consolas" panose="020B0609020204030204" pitchFamily="49" charset="0"/>
              </a:rPr>
              <a:t> = </a:t>
            </a:r>
            <a:r>
              <a:rPr lang="en-US" b="0">
                <a:solidFill>
                  <a:srgbClr val="0000FF"/>
                </a:solidFill>
                <a:effectLst/>
                <a:latin typeface="Consolas" panose="020B0609020204030204" pitchFamily="49" charset="0"/>
                <a:cs typeface="Consolas" panose="020B0609020204030204" pitchFamily="49" charset="0"/>
              </a:rPr>
              <a:t>f</a:t>
            </a:r>
            <a:r>
              <a:rPr lang="en-US" b="0">
                <a:solidFill>
                  <a:srgbClr val="A31515"/>
                </a:solidFill>
                <a:effectLst/>
                <a:latin typeface="Consolas" panose="020B0609020204030204" pitchFamily="49" charset="0"/>
                <a:cs typeface="Consolas" panose="020B0609020204030204" pitchFamily="49" charset="0"/>
              </a:rPr>
              <a:t>"SourceFileName:</a:t>
            </a:r>
            <a:r>
              <a:rPr lang="en-US" b="0">
                <a:solidFill>
                  <a:srgbClr val="0000FF"/>
                </a:solidFill>
                <a:effectLst/>
                <a:latin typeface="Consolas" panose="020B0609020204030204" pitchFamily="49" charset="0"/>
                <a:cs typeface="Consolas" panose="020B0609020204030204" pitchFamily="49" charset="0"/>
              </a:rPr>
              <a:t>{</a:t>
            </a:r>
            <a:r>
              <a:rPr lang="en-US" b="0">
                <a:solidFill>
                  <a:srgbClr val="001080"/>
                </a:solidFill>
                <a:effectLst/>
                <a:latin typeface="Consolas" panose="020B0609020204030204" pitchFamily="49" charset="0"/>
                <a:cs typeface="Consolas" panose="020B0609020204030204" pitchFamily="49" charset="0"/>
              </a:rPr>
              <a:t>blob_name</a:t>
            </a:r>
            <a:r>
              <a:rPr lang="en-US" b="0">
                <a:solidFill>
                  <a:srgbClr val="0000FF"/>
                </a:solidFill>
                <a:effectLst/>
                <a:latin typeface="Consolas" panose="020B0609020204030204" pitchFamily="49" charset="0"/>
                <a:cs typeface="Consolas" panose="020B0609020204030204" pitchFamily="49" charset="0"/>
              </a:rPr>
              <a:t>}</a:t>
            </a:r>
            <a:r>
              <a:rPr lang="en-US" b="0">
                <a:solidFill>
                  <a:srgbClr val="A31515"/>
                </a:solidFill>
                <a:effectLst/>
                <a:latin typeface="Consolas" panose="020B0609020204030204" pitchFamily="49" charset="0"/>
                <a:cs typeface="Consolas" panose="020B0609020204030204" pitchFamily="49" charset="0"/>
              </a:rPr>
              <a:t>"</a:t>
            </a:r>
            <a:endParaRPr lang="en-US" b="0">
              <a:solidFill>
                <a:srgbClr val="000000"/>
              </a:solidFill>
              <a:effectLst/>
              <a:latin typeface="Consolas" panose="020B0609020204030204" pitchFamily="49" charset="0"/>
              <a:cs typeface="Consolas" panose="020B0609020204030204" pitchFamily="49" charset="0"/>
            </a:endParaRPr>
          </a:p>
          <a:p>
            <a:pPr>
              <a:lnSpc>
                <a:spcPts val="2025"/>
              </a:lnSpc>
            </a:pPr>
            <a:r>
              <a:rPr lang="en-US" b="0">
                <a:solidFill>
                  <a:srgbClr val="001080"/>
                </a:solidFill>
                <a:effectLst/>
                <a:latin typeface="Consolas" panose="020B0609020204030204" pitchFamily="49" charset="0"/>
                <a:cs typeface="Consolas" panose="020B0609020204030204" pitchFamily="49" charset="0"/>
              </a:rPr>
              <a:t>draw</a:t>
            </a:r>
            <a:r>
              <a:rPr lang="en-US" b="0">
                <a:solidFill>
                  <a:srgbClr val="000000"/>
                </a:solidFill>
                <a:effectLst/>
                <a:latin typeface="Consolas" panose="020B0609020204030204" pitchFamily="49" charset="0"/>
                <a:cs typeface="Consolas" panose="020B0609020204030204" pitchFamily="49" charset="0"/>
              </a:rPr>
              <a:t>.</a:t>
            </a:r>
            <a:r>
              <a:rPr lang="en-US" b="0">
                <a:solidFill>
                  <a:srgbClr val="795E26"/>
                </a:solidFill>
                <a:effectLst/>
                <a:latin typeface="Consolas" panose="020B0609020204030204" pitchFamily="49" charset="0"/>
                <a:cs typeface="Consolas" panose="020B0609020204030204" pitchFamily="49" charset="0"/>
              </a:rPr>
              <a:t>text</a:t>
            </a:r>
            <a:r>
              <a:rPr lang="en-US" b="0">
                <a:solidFill>
                  <a:srgbClr val="000000"/>
                </a:solidFill>
                <a:effectLst/>
                <a:latin typeface="Consolas" panose="020B0609020204030204" pitchFamily="49" charset="0"/>
                <a:cs typeface="Consolas" panose="020B0609020204030204" pitchFamily="49" charset="0"/>
              </a:rPr>
              <a:t>((</a:t>
            </a:r>
            <a:r>
              <a:rPr lang="en-US" b="0">
                <a:solidFill>
                  <a:srgbClr val="098658"/>
                </a:solidFill>
                <a:effectLst/>
                <a:latin typeface="Consolas" panose="020B0609020204030204" pitchFamily="49" charset="0"/>
                <a:cs typeface="Consolas" panose="020B0609020204030204" pitchFamily="49" charset="0"/>
              </a:rPr>
              <a:t>10</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098658"/>
                </a:solidFill>
                <a:effectLst/>
                <a:latin typeface="Consolas" panose="020B0609020204030204" pitchFamily="49" charset="0"/>
                <a:cs typeface="Consolas" panose="020B0609020204030204" pitchFamily="49" charset="0"/>
              </a:rPr>
              <a:t>10</a:t>
            </a:r>
            <a:r>
              <a:rPr lang="en-US" b="0">
                <a:solidFill>
                  <a:srgbClr val="000000"/>
                </a:solidFill>
                <a:effectLst/>
                <a:latin typeface="Consolas" panose="020B0609020204030204" pitchFamily="49" charset="0"/>
                <a:cs typeface="Consolas" panose="020B0609020204030204" pitchFamily="49" charset="0"/>
              </a:rPr>
              <a:t>), </a:t>
            </a:r>
            <a:r>
              <a:rPr lang="en-US" b="0">
                <a:solidFill>
                  <a:srgbClr val="001080"/>
                </a:solidFill>
                <a:effectLst/>
                <a:latin typeface="Consolas" panose="020B0609020204030204" pitchFamily="49" charset="0"/>
                <a:cs typeface="Consolas" panose="020B0609020204030204" pitchFamily="49" charset="0"/>
              </a:rPr>
              <a:t>text</a:t>
            </a:r>
            <a:r>
              <a:rPr lang="en-US">
                <a:solidFill>
                  <a:srgbClr val="000000"/>
                </a:solidFill>
                <a:latin typeface="Consolas" panose="020B0609020204030204" pitchFamily="49" charset="0"/>
                <a:cs typeface="Consolas" panose="020B0609020204030204" pitchFamily="49" charset="0"/>
              </a:rPr>
              <a:t>)</a:t>
            </a:r>
            <a:endParaRPr lang="en-US" b="0">
              <a:solidFill>
                <a:srgbClr val="000000"/>
              </a:solidFill>
              <a:effectLst/>
              <a:latin typeface="Consolas" panose="020B0609020204030204" pitchFamily="49" charset="0"/>
              <a:cs typeface="Consolas" panose="020B0609020204030204" pitchFamily="49" charset="0"/>
            </a:endParaRPr>
          </a:p>
        </p:txBody>
      </p:sp>
      <p:sp>
        <p:nvSpPr>
          <p:cNvPr id="8" name="Content Placeholder 2">
            <a:extLst>
              <a:ext uri="{FF2B5EF4-FFF2-40B4-BE49-F238E27FC236}">
                <a16:creationId xmlns:a16="http://schemas.microsoft.com/office/drawing/2014/main" id="{22BEE7D5-BF89-D57A-043E-CACB8EA11AE4}"/>
              </a:ext>
            </a:extLst>
          </p:cNvPr>
          <p:cNvSpPr txBox="1">
            <a:spLocks/>
          </p:cNvSpPr>
          <p:nvPr/>
        </p:nvSpPr>
        <p:spPr>
          <a:xfrm>
            <a:off x="1147280" y="6349292"/>
            <a:ext cx="5411308" cy="430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err="1">
                <a:hlinkClick r:id="rId3"/>
              </a:rPr>
              <a:t>https://aka.ms/ragchat</a:t>
            </a:r>
            <a:r>
              <a:rPr lang="en-US" sz="2000" err="1"/>
              <a:t>: </a:t>
            </a:r>
            <a:r>
              <a:rPr lang="en-US" sz="2000"/>
              <a:t>blobmanager.py</a:t>
            </a:r>
          </a:p>
        </p:txBody>
      </p:sp>
      <p:pic>
        <p:nvPicPr>
          <p:cNvPr id="9" name="Picture 2">
            <a:extLst>
              <a:ext uri="{FF2B5EF4-FFF2-40B4-BE49-F238E27FC236}">
                <a16:creationId xmlns:a16="http://schemas.microsoft.com/office/drawing/2014/main" id="{363B9B8D-5BF9-359F-D6FB-BEE0793DFC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26" r="3631" b="25778"/>
          <a:stretch/>
        </p:blipFill>
        <p:spPr bwMode="auto">
          <a:xfrm>
            <a:off x="1231539" y="3042481"/>
            <a:ext cx="4286290" cy="175740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86D0EF1C-DCC9-AA4E-40B0-BA5908C996F7}"/>
              </a:ext>
            </a:extLst>
          </p:cNvPr>
          <p:cNvCxnSpPr>
            <a:cxnSpLocks/>
          </p:cNvCxnSpPr>
          <p:nvPr/>
        </p:nvCxnSpPr>
        <p:spPr>
          <a:xfrm flipV="1">
            <a:off x="5623058" y="3686645"/>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6218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99054-4279-2D2A-CF00-C46C6781CC7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D4F8535-BB89-D40E-AC1E-DF3704B2FA63}"/>
              </a:ext>
            </a:extLst>
          </p:cNvPr>
          <p:cNvSpPr>
            <a:spLocks noGrp="1"/>
          </p:cNvSpPr>
          <p:nvPr>
            <p:ph type="title"/>
          </p:nvPr>
        </p:nvSpPr>
        <p:spPr/>
        <p:txBody>
          <a:bodyPr/>
          <a:lstStyle/>
          <a:p>
            <a:r>
              <a:rPr lang="en-US"/>
              <a:t>Example ingestion: Store page images</a:t>
            </a:r>
          </a:p>
        </p:txBody>
      </p:sp>
      <p:pic>
        <p:nvPicPr>
          <p:cNvPr id="3" name="Picture 2">
            <a:extLst>
              <a:ext uri="{FF2B5EF4-FFF2-40B4-BE49-F238E27FC236}">
                <a16:creationId xmlns:a16="http://schemas.microsoft.com/office/drawing/2014/main" id="{A3153012-240A-9A61-5C0C-D3CFA7B963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31"/>
          <a:stretch/>
        </p:blipFill>
        <p:spPr bwMode="auto">
          <a:xfrm>
            <a:off x="1138185" y="1783821"/>
            <a:ext cx="2670634" cy="1674374"/>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A38E19C-780A-0759-EAB1-A0468EE1A172}"/>
              </a:ext>
            </a:extLst>
          </p:cNvPr>
          <p:cNvSpPr txBox="1"/>
          <p:nvPr/>
        </p:nvSpPr>
        <p:spPr>
          <a:xfrm>
            <a:off x="1047926" y="4388526"/>
            <a:ext cx="8392160" cy="1619867"/>
          </a:xfrm>
          <a:prstGeom prst="rect">
            <a:avLst/>
          </a:prstGeom>
          <a:solidFill>
            <a:schemeClr val="bg1">
              <a:lumMod val="95000"/>
            </a:schemeClr>
          </a:solidFill>
        </p:spPr>
        <p:txBody>
          <a:bodyPr wrap="square">
            <a:spAutoFit/>
          </a:bodyPr>
          <a:lstStyle/>
          <a:p>
            <a:pPr>
              <a:lnSpc>
                <a:spcPts val="2025"/>
              </a:lnSpc>
            </a:pPr>
            <a:r>
              <a:rPr lang="en-US" sz="2000" b="0">
                <a:solidFill>
                  <a:srgbClr val="001080"/>
                </a:solidFill>
                <a:effectLst/>
                <a:latin typeface="Consolas" panose="020B0609020204030204" pitchFamily="49" charset="0"/>
                <a:cs typeface="Consolas" panose="020B0609020204030204" pitchFamily="49" charset="0"/>
              </a:rPr>
              <a:t>output</a:t>
            </a:r>
            <a:r>
              <a:rPr lang="en-US" sz="2000" b="0">
                <a:solidFill>
                  <a:srgbClr val="000000"/>
                </a:solidFill>
                <a:effectLst/>
                <a:latin typeface="Consolas" panose="020B0609020204030204" pitchFamily="49" charset="0"/>
                <a:cs typeface="Consolas" panose="020B0609020204030204" pitchFamily="49" charset="0"/>
              </a:rPr>
              <a:t> = </a:t>
            </a:r>
            <a:r>
              <a:rPr lang="en-US" sz="2000" b="0">
                <a:solidFill>
                  <a:srgbClr val="267F99"/>
                </a:solidFill>
                <a:effectLst/>
                <a:latin typeface="Consolas" panose="020B0609020204030204" pitchFamily="49" charset="0"/>
                <a:cs typeface="Consolas" panose="020B0609020204030204" pitchFamily="49" charset="0"/>
              </a:rPr>
              <a:t>io</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267F99"/>
                </a:solidFill>
                <a:effectLst/>
                <a:latin typeface="Consolas" panose="020B0609020204030204" pitchFamily="49" charset="0"/>
                <a:cs typeface="Consolas" panose="020B0609020204030204" pitchFamily="49" charset="0"/>
              </a:rPr>
              <a:t>BytesIO</a:t>
            </a:r>
            <a:r>
              <a:rPr lang="en-US" sz="20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2000" b="0">
                <a:solidFill>
                  <a:srgbClr val="001080"/>
                </a:solidFill>
                <a:effectLst/>
                <a:latin typeface="Consolas" panose="020B0609020204030204" pitchFamily="49" charset="0"/>
                <a:cs typeface="Consolas" panose="020B0609020204030204" pitchFamily="49" charset="0"/>
              </a:rPr>
              <a:t>new_img</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795E26"/>
                </a:solidFill>
                <a:effectLst/>
                <a:latin typeface="Consolas" panose="020B0609020204030204" pitchFamily="49" charset="0"/>
                <a:cs typeface="Consolas" panose="020B0609020204030204" pitchFamily="49" charset="0"/>
              </a:rPr>
              <a:t>save</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01080"/>
                </a:solidFill>
                <a:effectLst/>
                <a:latin typeface="Consolas" panose="020B0609020204030204" pitchFamily="49" charset="0"/>
                <a:cs typeface="Consolas" panose="020B0609020204030204" pitchFamily="49" charset="0"/>
              </a:rPr>
              <a:t>output</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001080"/>
                </a:solidFill>
                <a:effectLst/>
                <a:latin typeface="Consolas" panose="020B0609020204030204" pitchFamily="49" charset="0"/>
                <a:cs typeface="Consolas" panose="020B0609020204030204" pitchFamily="49" charset="0"/>
              </a:rPr>
              <a:t>format</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A31515"/>
                </a:solidFill>
                <a:effectLst/>
                <a:latin typeface="Consolas" panose="020B0609020204030204" pitchFamily="49" charset="0"/>
                <a:cs typeface="Consolas" panose="020B0609020204030204" pitchFamily="49" charset="0"/>
              </a:rPr>
              <a:t>"PNG"</a:t>
            </a:r>
            <a:r>
              <a:rPr lang="en-US" sz="20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2000" b="0">
                <a:solidFill>
                  <a:srgbClr val="001080"/>
                </a:solidFill>
                <a:effectLst/>
                <a:latin typeface="Consolas" panose="020B0609020204030204" pitchFamily="49" charset="0"/>
                <a:cs typeface="Consolas" panose="020B0609020204030204" pitchFamily="49" charset="0"/>
              </a:rPr>
              <a:t>output</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795E26"/>
                </a:solidFill>
                <a:effectLst/>
                <a:latin typeface="Consolas" panose="020B0609020204030204" pitchFamily="49" charset="0"/>
                <a:cs typeface="Consolas" panose="020B0609020204030204" pitchFamily="49" charset="0"/>
              </a:rPr>
              <a:t>seek</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098658"/>
                </a:solidFill>
                <a:effectLst/>
                <a:latin typeface="Consolas" panose="020B0609020204030204" pitchFamily="49" charset="0"/>
                <a:cs typeface="Consolas" panose="020B0609020204030204" pitchFamily="49" charset="0"/>
              </a:rPr>
              <a:t>0</a:t>
            </a:r>
            <a:r>
              <a:rPr lang="en-US" sz="2000" b="0">
                <a:solidFill>
                  <a:srgbClr val="000000"/>
                </a:solidFill>
                <a:effectLst/>
                <a:latin typeface="Consolas" panose="020B0609020204030204" pitchFamily="49" charset="0"/>
                <a:cs typeface="Consolas" panose="020B0609020204030204" pitchFamily="49" charset="0"/>
              </a:rPr>
              <a:t>)</a:t>
            </a:r>
          </a:p>
          <a:p>
            <a:pPr>
              <a:lnSpc>
                <a:spcPts val="2025"/>
              </a:lnSpc>
            </a:pPr>
            <a:br>
              <a:rPr lang="en-US" sz="2000" b="0">
                <a:solidFill>
                  <a:srgbClr val="000000"/>
                </a:solidFill>
                <a:effectLst/>
                <a:latin typeface="Consolas" panose="020B0609020204030204" pitchFamily="49" charset="0"/>
                <a:cs typeface="Consolas" panose="020B0609020204030204" pitchFamily="49" charset="0"/>
              </a:rPr>
            </a:br>
            <a:r>
              <a:rPr lang="en-US" sz="2000" b="0">
                <a:solidFill>
                  <a:srgbClr val="001080"/>
                </a:solidFill>
                <a:effectLst/>
                <a:latin typeface="Consolas" panose="020B0609020204030204" pitchFamily="49" charset="0"/>
                <a:cs typeface="Consolas" panose="020B0609020204030204" pitchFamily="49" charset="0"/>
              </a:rPr>
              <a:t>container_client</a:t>
            </a:r>
            <a:r>
              <a:rPr lang="en-US" sz="2000" b="0">
                <a:solidFill>
                  <a:srgbClr val="000000"/>
                </a:solidFill>
                <a:effectLst/>
                <a:latin typeface="Consolas" panose="020B0609020204030204" pitchFamily="49" charset="0"/>
                <a:cs typeface="Consolas" panose="020B0609020204030204" pitchFamily="49" charset="0"/>
              </a:rPr>
              <a:t>.</a:t>
            </a:r>
            <a:r>
              <a:rPr lang="en-US" sz="2000" b="0">
                <a:solidFill>
                  <a:srgbClr val="795E26"/>
                </a:solidFill>
                <a:effectLst/>
                <a:latin typeface="Consolas" panose="020B0609020204030204" pitchFamily="49" charset="0"/>
                <a:cs typeface="Consolas" panose="020B0609020204030204" pitchFamily="49" charset="0"/>
              </a:rPr>
              <a:t>upload_blob</a:t>
            </a:r>
            <a:r>
              <a:rPr lang="en-US" sz="20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2000">
                <a:solidFill>
                  <a:srgbClr val="000000"/>
                </a:solidFill>
                <a:latin typeface="Consolas" panose="020B0609020204030204" pitchFamily="49" charset="0"/>
                <a:cs typeface="Consolas" panose="020B0609020204030204" pitchFamily="49" charset="0"/>
              </a:rPr>
              <a:t>  </a:t>
            </a:r>
            <a:r>
              <a:rPr lang="en-US" sz="2000" b="0">
                <a:solidFill>
                  <a:srgbClr val="001080"/>
                </a:solidFill>
                <a:effectLst/>
                <a:latin typeface="Consolas" panose="020B0609020204030204" pitchFamily="49" charset="0"/>
                <a:cs typeface="Consolas" panose="020B0609020204030204" pitchFamily="49" charset="0"/>
              </a:rPr>
              <a:t>blob_name</a:t>
            </a:r>
            <a:r>
              <a:rPr lang="en-US" sz="2000" b="0">
                <a:solidFill>
                  <a:srgbClr val="000000"/>
                </a:solidFill>
                <a:effectLst/>
                <a:latin typeface="Consolas" panose="020B0609020204030204" pitchFamily="49" charset="0"/>
                <a:cs typeface="Consolas" panose="020B0609020204030204" pitchFamily="49" charset="0"/>
              </a:rPr>
              <a:t>, </a:t>
            </a:r>
            <a:r>
              <a:rPr lang="en-US" sz="2000" b="0">
                <a:solidFill>
                  <a:srgbClr val="001080"/>
                </a:solidFill>
                <a:effectLst/>
                <a:latin typeface="Consolas" panose="020B0609020204030204" pitchFamily="49" charset="0"/>
                <a:cs typeface="Consolas" panose="020B0609020204030204" pitchFamily="49" charset="0"/>
              </a:rPr>
              <a:t>output</a:t>
            </a:r>
            <a:r>
              <a:rPr lang="en-US" sz="2000" b="0">
                <a:solidFill>
                  <a:srgbClr val="000000"/>
                </a:solidFill>
                <a:effectLst/>
                <a:latin typeface="Consolas" panose="020B0609020204030204" pitchFamily="49" charset="0"/>
                <a:cs typeface="Consolas" panose="020B0609020204030204" pitchFamily="49" charset="0"/>
              </a:rPr>
              <a:t>)</a:t>
            </a:r>
          </a:p>
        </p:txBody>
      </p:sp>
      <p:cxnSp>
        <p:nvCxnSpPr>
          <p:cNvPr id="12" name="Straight Arrow Connector 11">
            <a:extLst>
              <a:ext uri="{FF2B5EF4-FFF2-40B4-BE49-F238E27FC236}">
                <a16:creationId xmlns:a16="http://schemas.microsoft.com/office/drawing/2014/main" id="{9EA8FB0B-8E79-DDA8-22C6-0B066E04E22C}"/>
              </a:ext>
            </a:extLst>
          </p:cNvPr>
          <p:cNvCxnSpPr>
            <a:cxnSpLocks/>
          </p:cNvCxnSpPr>
          <p:nvPr/>
        </p:nvCxnSpPr>
        <p:spPr>
          <a:xfrm flipV="1">
            <a:off x="4052610" y="2386921"/>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pic>
        <p:nvPicPr>
          <p:cNvPr id="13" name="Graphic 16">
            <a:extLst>
              <a:ext uri="{FF2B5EF4-FFF2-40B4-BE49-F238E27FC236}">
                <a16:creationId xmlns:a16="http://schemas.microsoft.com/office/drawing/2014/main" id="{24643F73-AB91-E792-EF69-6FD1AE25A4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0515" y="1744018"/>
            <a:ext cx="1005911" cy="1042814"/>
          </a:xfrm>
          <a:prstGeom prst="rect">
            <a:avLst/>
          </a:prstGeom>
        </p:spPr>
      </p:pic>
      <p:sp>
        <p:nvSpPr>
          <p:cNvPr id="14" name="Text Placeholder 5">
            <a:extLst>
              <a:ext uri="{FF2B5EF4-FFF2-40B4-BE49-F238E27FC236}">
                <a16:creationId xmlns:a16="http://schemas.microsoft.com/office/drawing/2014/main" id="{5EC06F8B-E5A5-1DD4-17A1-E733A8D48884}"/>
              </a:ext>
            </a:extLst>
          </p:cNvPr>
          <p:cNvSpPr txBox="1">
            <a:spLocks/>
          </p:cNvSpPr>
          <p:nvPr/>
        </p:nvSpPr>
        <p:spPr>
          <a:xfrm>
            <a:off x="4792731" y="2764304"/>
            <a:ext cx="1610859" cy="334222"/>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latin typeface="Segoe UI" panose="020B0502040204020203" pitchFamily="34" charset="0"/>
                <a:cs typeface="Segoe UI" panose="020B0502040204020203" pitchFamily="34" charset="0"/>
              </a:rPr>
              <a:t>Azure Blob Storage</a:t>
            </a:r>
          </a:p>
        </p:txBody>
      </p:sp>
      <p:cxnSp>
        <p:nvCxnSpPr>
          <p:cNvPr id="16" name="Straight Arrow Connector 15">
            <a:extLst>
              <a:ext uri="{FF2B5EF4-FFF2-40B4-BE49-F238E27FC236}">
                <a16:creationId xmlns:a16="http://schemas.microsoft.com/office/drawing/2014/main" id="{7C9188F5-C70D-07A8-D3E0-F83BF642B62C}"/>
              </a:ext>
            </a:extLst>
          </p:cNvPr>
          <p:cNvCxnSpPr>
            <a:cxnSpLocks/>
          </p:cNvCxnSpPr>
          <p:nvPr/>
        </p:nvCxnSpPr>
        <p:spPr>
          <a:xfrm flipV="1">
            <a:off x="6519963" y="2386921"/>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E29494-EE2C-ADEF-D671-F3B5199709AB}"/>
              </a:ext>
            </a:extLst>
          </p:cNvPr>
          <p:cNvSpPr txBox="1"/>
          <p:nvPr/>
        </p:nvSpPr>
        <p:spPr>
          <a:xfrm>
            <a:off x="7557905" y="1690685"/>
            <a:ext cx="3795895" cy="2308324"/>
          </a:xfrm>
          <a:prstGeom prst="rect">
            <a:avLst/>
          </a:prstGeom>
          <a:noFill/>
        </p:spPr>
        <p:txBody>
          <a:bodyPr wrap="square">
            <a:spAutoFit/>
          </a:bodyPr>
          <a:lstStyle/>
          <a:p>
            <a:r>
              <a:rPr lang="en-US" sz="1600" u="sng">
                <a:latin typeface="Segoe UI" panose="020B0502040204020203" pitchFamily="34" charset="0"/>
                <a:cs typeface="Segoe UI" panose="020B0502040204020203" pitchFamily="34" charset="0"/>
              </a:rPr>
              <a:t>https://stfvid7hrxoifmi.blob.core.windows.net/content/Keystone-Plant-Signs-Sunflower-8.5x11-1.png?st=2025-01-22T21%3A30%3A27Z&amp;se=2025-01-23T21%3Asdf30%3A27Z&amp;sp=r&amp;sv=2024-08-04&amp;sr=b&amp;skoid=c589476e-841sdfs7-4bb9-bc33-15d1eb1c2503&amp;sktid=c37ef95c-b0dsfcd-4200-a919-2e04c2f8c2cfsd</a:t>
            </a:r>
          </a:p>
        </p:txBody>
      </p:sp>
      <p:sp>
        <p:nvSpPr>
          <p:cNvPr id="19" name="Content Placeholder 2">
            <a:extLst>
              <a:ext uri="{FF2B5EF4-FFF2-40B4-BE49-F238E27FC236}">
                <a16:creationId xmlns:a16="http://schemas.microsoft.com/office/drawing/2014/main" id="{6964E5EE-6337-FF26-BA33-BF28FBFC4D71}"/>
              </a:ext>
            </a:extLst>
          </p:cNvPr>
          <p:cNvSpPr txBox="1">
            <a:spLocks/>
          </p:cNvSpPr>
          <p:nvPr/>
        </p:nvSpPr>
        <p:spPr>
          <a:xfrm>
            <a:off x="992282" y="6062900"/>
            <a:ext cx="5411308" cy="430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err="1">
                <a:hlinkClick r:id="rId5"/>
              </a:rPr>
              <a:t>https://aka.ms/ragchat</a:t>
            </a:r>
            <a:r>
              <a:rPr lang="en-US" sz="2000" err="1"/>
              <a:t>: </a:t>
            </a:r>
            <a:r>
              <a:rPr lang="en-US" sz="2000"/>
              <a:t>blobmanager.py</a:t>
            </a:r>
          </a:p>
        </p:txBody>
      </p:sp>
    </p:spTree>
    <p:extLst>
      <p:ext uri="{BB962C8B-B14F-4D97-AF65-F5344CB8AC3E}">
        <p14:creationId xmlns:p14="http://schemas.microsoft.com/office/powerpoint/2010/main" val="3343126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84B57-E8B8-C2A5-16EF-2EDB1474D10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31434505-074A-9AC8-0892-7EB164FD9927}"/>
              </a:ext>
            </a:extLst>
          </p:cNvPr>
          <p:cNvSpPr>
            <a:spLocks noGrp="1"/>
          </p:cNvSpPr>
          <p:nvPr>
            <p:ph type="title"/>
          </p:nvPr>
        </p:nvSpPr>
        <p:spPr/>
        <p:txBody>
          <a:bodyPr/>
          <a:lstStyle/>
          <a:p>
            <a:r>
              <a:rPr lang="en-US"/>
              <a:t>Example ingestion: Vectorize image</a:t>
            </a:r>
          </a:p>
        </p:txBody>
      </p:sp>
      <p:sp>
        <p:nvSpPr>
          <p:cNvPr id="2" name="TextBox 1">
            <a:extLst>
              <a:ext uri="{FF2B5EF4-FFF2-40B4-BE49-F238E27FC236}">
                <a16:creationId xmlns:a16="http://schemas.microsoft.com/office/drawing/2014/main" id="{AA5B85CE-2562-C02B-7F50-2E39D6751154}"/>
              </a:ext>
            </a:extLst>
          </p:cNvPr>
          <p:cNvSpPr txBox="1"/>
          <p:nvPr/>
        </p:nvSpPr>
        <p:spPr>
          <a:xfrm>
            <a:off x="1140746" y="4154816"/>
            <a:ext cx="9284794" cy="2129494"/>
          </a:xfrm>
          <a:prstGeom prst="rect">
            <a:avLst/>
          </a:prstGeom>
          <a:solidFill>
            <a:schemeClr val="bg1">
              <a:lumMod val="95000"/>
            </a:schemeClr>
          </a:solidFill>
        </p:spPr>
        <p:txBody>
          <a:bodyPr wrap="square">
            <a:spAutoFit/>
          </a:bodyPr>
          <a:lstStyle/>
          <a:p>
            <a:pPr>
              <a:lnSpc>
                <a:spcPts val="2025"/>
              </a:lnSpc>
            </a:pPr>
            <a:r>
              <a:rPr lang="en-US" sz="1500" b="0">
                <a:solidFill>
                  <a:srgbClr val="001080"/>
                </a:solidFill>
                <a:effectLst/>
                <a:latin typeface="Consolas" panose="020B0609020204030204" pitchFamily="49" charset="0"/>
                <a:cs typeface="Consolas" panose="020B0609020204030204" pitchFamily="49" charset="0"/>
              </a:rPr>
              <a:t>endpoint</a:t>
            </a:r>
            <a:r>
              <a:rPr lang="en-US" sz="1500" b="0">
                <a:solidFill>
                  <a:srgbClr val="000000"/>
                </a:solidFill>
                <a:effectLst/>
                <a:latin typeface="Consolas" panose="020B0609020204030204" pitchFamily="49" charset="0"/>
                <a:cs typeface="Consolas" panose="020B0609020204030204" pitchFamily="49" charset="0"/>
              </a:rPr>
              <a:t> = </a:t>
            </a:r>
            <a:r>
              <a:rPr lang="en-US" sz="1500" b="0">
                <a:solidFill>
                  <a:srgbClr val="795E26"/>
                </a:solidFill>
                <a:effectLst/>
                <a:latin typeface="Consolas" panose="020B0609020204030204" pitchFamily="49" charset="0"/>
                <a:cs typeface="Consolas" panose="020B0609020204030204" pitchFamily="49" charset="0"/>
              </a:rPr>
              <a:t>urljoin</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self</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endpoint</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A31515"/>
                </a:solidFill>
                <a:effectLst/>
                <a:latin typeface="Consolas" panose="020B0609020204030204" pitchFamily="49" charset="0"/>
                <a:cs typeface="Consolas" panose="020B0609020204030204" pitchFamily="49" charset="0"/>
              </a:rPr>
              <a:t>"computervision/retrieval:vectorizeImage"</a:t>
            </a:r>
            <a:r>
              <a:rPr lang="en-US" sz="1500" b="0">
                <a:solidFill>
                  <a:srgbClr val="000000"/>
                </a:solidFill>
                <a:effectLst/>
                <a:latin typeface="Consolas" panose="020B0609020204030204" pitchFamily="49" charset="0"/>
                <a:cs typeface="Consolas" panose="020B0609020204030204" pitchFamily="49" charset="0"/>
              </a:rPr>
              <a:t>)</a:t>
            </a:r>
            <a:br>
              <a:rPr lang="en-US" sz="1500" b="0">
                <a:solidFill>
                  <a:srgbClr val="000000"/>
                </a:solidFill>
                <a:effectLst/>
                <a:latin typeface="Consolas" panose="020B0609020204030204" pitchFamily="49" charset="0"/>
                <a:cs typeface="Consolas" panose="020B0609020204030204" pitchFamily="49" charset="0"/>
              </a:rPr>
            </a:br>
            <a:r>
              <a:rPr lang="en-US" sz="1500" b="0">
                <a:solidFill>
                  <a:srgbClr val="001080"/>
                </a:solidFill>
                <a:effectLst/>
                <a:latin typeface="Consolas" panose="020B0609020204030204" pitchFamily="49" charset="0"/>
                <a:cs typeface="Consolas" panose="020B0609020204030204" pitchFamily="49" charset="0"/>
              </a:rPr>
              <a:t>embeddings</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List</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List</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267F99"/>
                </a:solidFill>
                <a:effectLst/>
                <a:latin typeface="Consolas" panose="020B0609020204030204" pitchFamily="49" charset="0"/>
                <a:cs typeface="Consolas" panose="020B0609020204030204" pitchFamily="49" charset="0"/>
              </a:rPr>
              <a:t>float</a:t>
            </a:r>
            <a:r>
              <a:rPr lang="en-US" sz="1500" b="0">
                <a:solidFill>
                  <a:srgbClr val="000000"/>
                </a:solidFill>
                <a:effectLst/>
                <a:latin typeface="Consolas" panose="020B0609020204030204" pitchFamily="49" charset="0"/>
                <a:cs typeface="Consolas" panose="020B0609020204030204" pitchFamily="49" charset="0"/>
              </a:rPr>
              <a:t>]] = []</a:t>
            </a:r>
          </a:p>
          <a:p>
            <a:pPr>
              <a:lnSpc>
                <a:spcPts val="2025"/>
              </a:lnSpc>
            </a:pPr>
            <a:r>
              <a:rPr lang="en-US" sz="1500" b="0">
                <a:solidFill>
                  <a:srgbClr val="AF00DB"/>
                </a:solidFill>
                <a:effectLst/>
                <a:latin typeface="Consolas" panose="020B0609020204030204" pitchFamily="49" charset="0"/>
                <a:cs typeface="Consolas" panose="020B0609020204030204" pitchFamily="49" charset="0"/>
              </a:rPr>
              <a:t>async</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AF00DB"/>
                </a:solidFill>
                <a:effectLst/>
                <a:latin typeface="Consolas" panose="020B0609020204030204" pitchFamily="49" charset="0"/>
                <a:cs typeface="Consolas" panose="020B0609020204030204" pitchFamily="49" charset="0"/>
              </a:rPr>
              <a:t>with</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267F99"/>
                </a:solidFill>
                <a:effectLst/>
                <a:latin typeface="Consolas" panose="020B0609020204030204" pitchFamily="49" charset="0"/>
                <a:cs typeface="Consolas" panose="020B0609020204030204" pitchFamily="49" charset="0"/>
              </a:rPr>
              <a:t>aiohttp</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267F99"/>
                </a:solidFill>
                <a:effectLst/>
                <a:latin typeface="Consolas" panose="020B0609020204030204" pitchFamily="49" charset="0"/>
                <a:cs typeface="Consolas" panose="020B0609020204030204" pitchFamily="49" charset="0"/>
              </a:rPr>
              <a:t>ClientSession</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headers</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headers</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AF00DB"/>
                </a:solidFill>
                <a:effectLst/>
                <a:latin typeface="Consolas" panose="020B0609020204030204" pitchFamily="49" charset="0"/>
                <a:cs typeface="Consolas" panose="020B0609020204030204" pitchFamily="49" charset="0"/>
              </a:rPr>
              <a:t>as</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session</a:t>
            </a:r>
            <a:r>
              <a:rPr lang="en-US" sz="15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500">
                <a:solidFill>
                  <a:srgbClr val="AF00DB"/>
                </a:solidFill>
                <a:latin typeface="Consolas" panose="020B0609020204030204" pitchFamily="49" charset="0"/>
                <a:cs typeface="Consolas" panose="020B0609020204030204" pitchFamily="49" charset="0"/>
              </a:rPr>
              <a:t>  </a:t>
            </a:r>
            <a:r>
              <a:rPr lang="en-US" sz="1500" b="0">
                <a:solidFill>
                  <a:srgbClr val="AF00DB"/>
                </a:solidFill>
                <a:effectLst/>
                <a:latin typeface="Consolas" panose="020B0609020204030204" pitchFamily="49" charset="0"/>
                <a:cs typeface="Consolas" panose="020B0609020204030204" pitchFamily="49" charset="0"/>
              </a:rPr>
              <a:t>for</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blob_url</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AF00DB"/>
                </a:solidFill>
                <a:effectLst/>
                <a:latin typeface="Consolas" panose="020B0609020204030204" pitchFamily="49" charset="0"/>
                <a:cs typeface="Consolas" panose="020B0609020204030204" pitchFamily="49" charset="0"/>
              </a:rPr>
              <a:t>in</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blob_urls</a:t>
            </a:r>
            <a:r>
              <a:rPr lang="en-US" sz="15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500" b="0">
                <a:solidFill>
                  <a:srgbClr val="001080"/>
                </a:solidFill>
                <a:effectLst/>
                <a:latin typeface="Consolas" panose="020B0609020204030204" pitchFamily="49" charset="0"/>
                <a:cs typeface="Consolas" panose="020B0609020204030204" pitchFamily="49" charset="0"/>
              </a:rPr>
              <a:t>    body</a:t>
            </a:r>
            <a:r>
              <a:rPr lang="en-US" sz="1500" b="0">
                <a:solidFill>
                  <a:srgbClr val="000000"/>
                </a:solidFill>
                <a:effectLst/>
                <a:latin typeface="Consolas" panose="020B0609020204030204" pitchFamily="49" charset="0"/>
                <a:cs typeface="Consolas" panose="020B0609020204030204" pitchFamily="49" charset="0"/>
              </a:rPr>
              <a:t> = {</a:t>
            </a:r>
            <a:r>
              <a:rPr lang="en-US" sz="1500" b="0">
                <a:solidFill>
                  <a:srgbClr val="A31515"/>
                </a:solidFill>
                <a:effectLst/>
                <a:latin typeface="Consolas" panose="020B0609020204030204" pitchFamily="49" charset="0"/>
                <a:cs typeface="Consolas" panose="020B0609020204030204" pitchFamily="49" charset="0"/>
              </a:rPr>
              <a:t>"url"</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blob_url</a:t>
            </a:r>
            <a:r>
              <a:rPr lang="en-US" sz="15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500" b="0">
                <a:solidFill>
                  <a:srgbClr val="AF00DB"/>
                </a:solidFill>
                <a:effectLst/>
                <a:latin typeface="Consolas" panose="020B0609020204030204" pitchFamily="49" charset="0"/>
                <a:cs typeface="Consolas" panose="020B0609020204030204" pitchFamily="49" charset="0"/>
              </a:rPr>
              <a:t>    async</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AF00DB"/>
                </a:solidFill>
                <a:effectLst/>
                <a:latin typeface="Consolas" panose="020B0609020204030204" pitchFamily="49" charset="0"/>
                <a:cs typeface="Consolas" panose="020B0609020204030204" pitchFamily="49" charset="0"/>
              </a:rPr>
              <a:t>with</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session</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795E26"/>
                </a:solidFill>
                <a:effectLst/>
                <a:latin typeface="Consolas" panose="020B0609020204030204" pitchFamily="49" charset="0"/>
                <a:cs typeface="Consolas" panose="020B0609020204030204" pitchFamily="49" charset="0"/>
              </a:rPr>
              <a:t>post</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url</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endpoint</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params</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params</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json</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body</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AF00DB"/>
                </a:solidFill>
                <a:effectLst/>
                <a:latin typeface="Consolas" panose="020B0609020204030204" pitchFamily="49" charset="0"/>
                <a:cs typeface="Consolas" panose="020B0609020204030204" pitchFamily="49" charset="0"/>
              </a:rPr>
              <a:t>as</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resp</a:t>
            </a:r>
            <a:r>
              <a:rPr lang="en-US" sz="15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500" b="0">
                <a:solidFill>
                  <a:srgbClr val="001080"/>
                </a:solidFill>
                <a:effectLst/>
                <a:latin typeface="Consolas" panose="020B0609020204030204" pitchFamily="49" charset="0"/>
                <a:cs typeface="Consolas" panose="020B0609020204030204" pitchFamily="49" charset="0"/>
              </a:rPr>
              <a:t>      resp_json</a:t>
            </a:r>
            <a:r>
              <a:rPr lang="en-US" sz="1500" b="0">
                <a:solidFill>
                  <a:srgbClr val="000000"/>
                </a:solidFill>
                <a:effectLst/>
                <a:latin typeface="Consolas" panose="020B0609020204030204" pitchFamily="49" charset="0"/>
                <a:cs typeface="Consolas" panose="020B0609020204030204" pitchFamily="49" charset="0"/>
              </a:rPr>
              <a:t> = </a:t>
            </a:r>
            <a:r>
              <a:rPr lang="en-US" sz="1500" b="0">
                <a:solidFill>
                  <a:srgbClr val="AF00DB"/>
                </a:solidFill>
                <a:effectLst/>
                <a:latin typeface="Consolas" panose="020B0609020204030204" pitchFamily="49" charset="0"/>
                <a:cs typeface="Consolas" panose="020B0609020204030204" pitchFamily="49" charset="0"/>
              </a:rPr>
              <a:t>await</a:t>
            </a:r>
            <a:r>
              <a:rPr lang="en-US" sz="1500" b="0">
                <a:solidFill>
                  <a:srgbClr val="000000"/>
                </a:solidFill>
                <a:effectLst/>
                <a:latin typeface="Consolas" panose="020B0609020204030204" pitchFamily="49" charset="0"/>
                <a:cs typeface="Consolas" panose="020B0609020204030204" pitchFamily="49" charset="0"/>
              </a:rPr>
              <a:t> </a:t>
            </a:r>
            <a:r>
              <a:rPr lang="en-US" sz="1500" b="0">
                <a:solidFill>
                  <a:srgbClr val="001080"/>
                </a:solidFill>
                <a:effectLst/>
                <a:latin typeface="Consolas" panose="020B0609020204030204" pitchFamily="49" charset="0"/>
                <a:cs typeface="Consolas" panose="020B0609020204030204" pitchFamily="49" charset="0"/>
              </a:rPr>
              <a:t>resp</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795E26"/>
                </a:solidFill>
                <a:effectLst/>
                <a:latin typeface="Consolas" panose="020B0609020204030204" pitchFamily="49" charset="0"/>
                <a:cs typeface="Consolas" panose="020B0609020204030204" pitchFamily="49" charset="0"/>
              </a:rPr>
              <a:t>json</a:t>
            </a:r>
            <a:r>
              <a:rPr lang="en-US" sz="1500" b="0">
                <a:solidFill>
                  <a:srgbClr val="000000"/>
                </a:solidFill>
                <a:effectLst/>
                <a:latin typeface="Consolas" panose="020B0609020204030204" pitchFamily="49" charset="0"/>
                <a:cs typeface="Consolas" panose="020B0609020204030204" pitchFamily="49" charset="0"/>
              </a:rPr>
              <a:t>()</a:t>
            </a:r>
          </a:p>
          <a:p>
            <a:pPr>
              <a:lnSpc>
                <a:spcPts val="2025"/>
              </a:lnSpc>
            </a:pPr>
            <a:r>
              <a:rPr lang="en-US" sz="1500" b="0">
                <a:solidFill>
                  <a:srgbClr val="001080"/>
                </a:solidFill>
                <a:effectLst/>
                <a:latin typeface="Consolas" panose="020B0609020204030204" pitchFamily="49" charset="0"/>
                <a:cs typeface="Consolas" panose="020B0609020204030204" pitchFamily="49" charset="0"/>
              </a:rPr>
              <a:t>      embeddings</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795E26"/>
                </a:solidFill>
                <a:effectLst/>
                <a:latin typeface="Consolas" panose="020B0609020204030204" pitchFamily="49" charset="0"/>
                <a:cs typeface="Consolas" panose="020B0609020204030204" pitchFamily="49" charset="0"/>
              </a:rPr>
              <a:t>append</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001080"/>
                </a:solidFill>
                <a:effectLst/>
                <a:latin typeface="Consolas" panose="020B0609020204030204" pitchFamily="49" charset="0"/>
                <a:cs typeface="Consolas" panose="020B0609020204030204" pitchFamily="49" charset="0"/>
              </a:rPr>
              <a:t>resp_json</a:t>
            </a:r>
            <a:r>
              <a:rPr lang="en-US" sz="1500" b="0">
                <a:solidFill>
                  <a:srgbClr val="000000"/>
                </a:solidFill>
                <a:effectLst/>
                <a:latin typeface="Consolas" panose="020B0609020204030204" pitchFamily="49" charset="0"/>
                <a:cs typeface="Consolas" panose="020B0609020204030204" pitchFamily="49" charset="0"/>
              </a:rPr>
              <a:t>[</a:t>
            </a:r>
            <a:r>
              <a:rPr lang="en-US" sz="1500" b="0">
                <a:solidFill>
                  <a:srgbClr val="A31515"/>
                </a:solidFill>
                <a:effectLst/>
                <a:latin typeface="Consolas" panose="020B0609020204030204" pitchFamily="49" charset="0"/>
                <a:cs typeface="Consolas" panose="020B0609020204030204" pitchFamily="49" charset="0"/>
              </a:rPr>
              <a:t>"vector"</a:t>
            </a:r>
            <a:r>
              <a:rPr lang="en-US" sz="1500" b="0">
                <a:solidFill>
                  <a:srgbClr val="000000"/>
                </a:solidFill>
                <a:effectLst/>
                <a:latin typeface="Consolas" panose="020B0609020204030204" pitchFamily="49" charset="0"/>
                <a:cs typeface="Consolas" panose="020B0609020204030204" pitchFamily="49" charset="0"/>
              </a:rPr>
              <a:t>])</a:t>
            </a:r>
          </a:p>
        </p:txBody>
      </p:sp>
      <p:sp>
        <p:nvSpPr>
          <p:cNvPr id="4" name="Text Placeholder 5">
            <a:extLst>
              <a:ext uri="{FF2B5EF4-FFF2-40B4-BE49-F238E27FC236}">
                <a16:creationId xmlns:a16="http://schemas.microsoft.com/office/drawing/2014/main" id="{AD82B2FA-4F9C-521F-DDD4-A331EE5519C3}"/>
              </a:ext>
            </a:extLst>
          </p:cNvPr>
          <p:cNvSpPr txBox="1">
            <a:spLocks/>
          </p:cNvSpPr>
          <p:nvPr/>
        </p:nvSpPr>
        <p:spPr>
          <a:xfrm>
            <a:off x="6073188" y="2907178"/>
            <a:ext cx="1142192" cy="637131"/>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latin typeface="Segoe UI" panose="020B0502040204020203" pitchFamily="34" charset="0"/>
                <a:cs typeface="Segoe UI" panose="020B0502040204020203" pitchFamily="34" charset="0"/>
              </a:rPr>
              <a:t>Azure AI</a:t>
            </a:r>
          </a:p>
          <a:p>
            <a:pPr marL="0" indent="0" algn="ctr" defTabSz="1865484">
              <a:buNone/>
              <a:defRPr/>
            </a:pPr>
            <a:r>
              <a:rPr lang="en-US" sz="1800">
                <a:latin typeface="Segoe UI" panose="020B0502040204020203" pitchFamily="34" charset="0"/>
                <a:cs typeface="Segoe UI" panose="020B0502040204020203" pitchFamily="34" charset="0"/>
              </a:rPr>
              <a:t>Vision</a:t>
            </a:r>
          </a:p>
        </p:txBody>
      </p:sp>
      <p:pic>
        <p:nvPicPr>
          <p:cNvPr id="5" name="Graphic 4">
            <a:extLst>
              <a:ext uri="{FF2B5EF4-FFF2-40B4-BE49-F238E27FC236}">
                <a16:creationId xmlns:a16="http://schemas.microsoft.com/office/drawing/2014/main" id="{4FF0968B-4B5C-5323-F9A3-C2E9A4E16A2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1692" y="1846947"/>
            <a:ext cx="905184" cy="905184"/>
          </a:xfrm>
          <a:prstGeom prst="rect">
            <a:avLst/>
          </a:prstGeom>
        </p:spPr>
      </p:pic>
      <p:cxnSp>
        <p:nvCxnSpPr>
          <p:cNvPr id="6" name="Straight Arrow Connector 5">
            <a:extLst>
              <a:ext uri="{FF2B5EF4-FFF2-40B4-BE49-F238E27FC236}">
                <a16:creationId xmlns:a16="http://schemas.microsoft.com/office/drawing/2014/main" id="{C4EAB77C-7D09-508F-1CCF-9856961CC03F}"/>
              </a:ext>
            </a:extLst>
          </p:cNvPr>
          <p:cNvCxnSpPr>
            <a:cxnSpLocks/>
          </p:cNvCxnSpPr>
          <p:nvPr/>
        </p:nvCxnSpPr>
        <p:spPr>
          <a:xfrm flipV="1">
            <a:off x="5173807" y="2535200"/>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93DF243-B07A-23CA-A3F6-BA54630EDE63}"/>
              </a:ext>
            </a:extLst>
          </p:cNvPr>
          <p:cNvCxnSpPr>
            <a:cxnSpLocks/>
          </p:cNvCxnSpPr>
          <p:nvPr/>
        </p:nvCxnSpPr>
        <p:spPr>
          <a:xfrm flipV="1">
            <a:off x="7668559" y="2535200"/>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18673D4-A070-D774-6F78-92BB5746E386}"/>
              </a:ext>
            </a:extLst>
          </p:cNvPr>
          <p:cNvSpPr txBox="1"/>
          <p:nvPr/>
        </p:nvSpPr>
        <p:spPr>
          <a:xfrm>
            <a:off x="8350509" y="1981794"/>
            <a:ext cx="2670634" cy="1200329"/>
          </a:xfrm>
          <a:prstGeom prst="rect">
            <a:avLst/>
          </a:prstGeom>
          <a:noFill/>
        </p:spPr>
        <p:txBody>
          <a:bodyPr wrap="square">
            <a:spAutoFit/>
          </a:bodyPr>
          <a:lstStyle/>
          <a:p>
            <a:r>
              <a:rPr lang="en-US" sz="2400" b="0" i="0">
                <a:effectLst/>
                <a:latin typeface="Consolas" panose="020B0609020204030204" pitchFamily="49" charset="0"/>
                <a:cs typeface="Consolas" panose="020B0609020204030204" pitchFamily="49" charset="0"/>
              </a:rPr>
              <a:t>[-3.203125, 1.5576172 ...+1022 more]</a:t>
            </a:r>
            <a:endParaRPr lang="en-US" sz="240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DD67BE44-9E6B-B4E4-BACD-9CB42245B403}"/>
              </a:ext>
            </a:extLst>
          </p:cNvPr>
          <p:cNvSpPr txBox="1"/>
          <p:nvPr/>
        </p:nvSpPr>
        <p:spPr>
          <a:xfrm>
            <a:off x="1049416" y="1638437"/>
            <a:ext cx="3956809" cy="2308324"/>
          </a:xfrm>
          <a:prstGeom prst="rect">
            <a:avLst/>
          </a:prstGeom>
          <a:noFill/>
        </p:spPr>
        <p:txBody>
          <a:bodyPr wrap="square">
            <a:spAutoFit/>
          </a:bodyPr>
          <a:lstStyle/>
          <a:p>
            <a:r>
              <a:rPr lang="en-US" sz="1600" u="sng">
                <a:latin typeface="Segoe UI" panose="020B0502040204020203" pitchFamily="34" charset="0"/>
                <a:cs typeface="Segoe UI" panose="020B0502040204020203" pitchFamily="34" charset="0"/>
              </a:rPr>
              <a:t>https://stfvid7hrxoifmi.blob.core.windows.net/content/Keystone-Plant-Signs-Sunflower-8.5x11-1.png?st=2025-01-22T21%3A30%3A27Z&amp;se=2025-01-23T21%3Asdf30%3A27Z&amp;sp=r&amp;sv=2024-08-04&amp;sr=b&amp;skoid=c589476e-841sdfs7-4bb9-bc33-15d1eb1c2503&amp;sktid=c37ef95c-b0dsfcd-4200-a919-2e04c2f8c2cfsd</a:t>
            </a:r>
          </a:p>
        </p:txBody>
      </p:sp>
      <p:sp>
        <p:nvSpPr>
          <p:cNvPr id="18" name="Content Placeholder 2">
            <a:extLst>
              <a:ext uri="{FF2B5EF4-FFF2-40B4-BE49-F238E27FC236}">
                <a16:creationId xmlns:a16="http://schemas.microsoft.com/office/drawing/2014/main" id="{805BC202-8C42-A4A6-BF61-CC804057A65E}"/>
              </a:ext>
            </a:extLst>
          </p:cNvPr>
          <p:cNvSpPr txBox="1">
            <a:spLocks/>
          </p:cNvSpPr>
          <p:nvPr/>
        </p:nvSpPr>
        <p:spPr>
          <a:xfrm>
            <a:off x="1086134" y="6362581"/>
            <a:ext cx="5411308" cy="430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err="1">
                <a:hlinkClick r:id="rId4"/>
              </a:rPr>
              <a:t>https://aka.ms/ragchat</a:t>
            </a:r>
            <a:r>
              <a:rPr lang="en-US" sz="2000" err="1"/>
              <a:t>: </a:t>
            </a:r>
            <a:r>
              <a:rPr lang="en-US" sz="2000"/>
              <a:t>embeddings.py</a:t>
            </a:r>
          </a:p>
        </p:txBody>
      </p:sp>
    </p:spTree>
    <p:extLst>
      <p:ext uri="{BB962C8B-B14F-4D97-AF65-F5344CB8AC3E}">
        <p14:creationId xmlns:p14="http://schemas.microsoft.com/office/powerpoint/2010/main" val="1913626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EC6EA-CAA0-7747-BD7A-D1850DE5A0B6}"/>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33A0BA7-C1CC-61F9-7C11-AF45B4E4DBAD}"/>
              </a:ext>
            </a:extLst>
          </p:cNvPr>
          <p:cNvSpPr>
            <a:spLocks noGrp="1"/>
          </p:cNvSpPr>
          <p:nvPr>
            <p:ph type="title"/>
          </p:nvPr>
        </p:nvSpPr>
        <p:spPr/>
        <p:txBody>
          <a:bodyPr/>
          <a:lstStyle/>
          <a:p>
            <a:r>
              <a:rPr lang="en-US"/>
              <a:t>Example ingestion: Index image &amp; text</a:t>
            </a:r>
          </a:p>
        </p:txBody>
      </p:sp>
      <p:pic>
        <p:nvPicPr>
          <p:cNvPr id="3" name="Picture 2">
            <a:extLst>
              <a:ext uri="{FF2B5EF4-FFF2-40B4-BE49-F238E27FC236}">
                <a16:creationId xmlns:a16="http://schemas.microsoft.com/office/drawing/2014/main" id="{B15398EA-4373-87CA-0609-7F764A211C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31"/>
          <a:stretch/>
        </p:blipFill>
        <p:spPr bwMode="auto">
          <a:xfrm>
            <a:off x="1093226" y="1951946"/>
            <a:ext cx="1914504" cy="120031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39DDC7E0-1CD0-3077-90E1-9B90212B88D0}"/>
              </a:ext>
            </a:extLst>
          </p:cNvPr>
          <p:cNvCxnSpPr>
            <a:cxnSpLocks/>
          </p:cNvCxnSpPr>
          <p:nvPr/>
        </p:nvCxnSpPr>
        <p:spPr>
          <a:xfrm flipV="1">
            <a:off x="3250808" y="2646133"/>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B02D4FD-4273-3B18-2666-EFEFB7FAA906}"/>
              </a:ext>
            </a:extLst>
          </p:cNvPr>
          <p:cNvCxnSpPr>
            <a:cxnSpLocks/>
          </p:cNvCxnSpPr>
          <p:nvPr/>
        </p:nvCxnSpPr>
        <p:spPr>
          <a:xfrm flipV="1">
            <a:off x="5153110" y="2646133"/>
            <a:ext cx="514368" cy="3"/>
          </a:xfrm>
          <a:prstGeom prst="straightConnector1">
            <a:avLst/>
          </a:prstGeom>
          <a:ln w="28575" cap="rnd">
            <a:solidFill>
              <a:srgbClr val="2454C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pic>
        <p:nvPicPr>
          <p:cNvPr id="13" name="Graphic 437806336">
            <a:extLst>
              <a:ext uri="{FF2B5EF4-FFF2-40B4-BE49-F238E27FC236}">
                <a16:creationId xmlns:a16="http://schemas.microsoft.com/office/drawing/2014/main" id="{B970F63B-ED81-F78D-46CE-127A3CFF04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10918" y="1951946"/>
            <a:ext cx="887868" cy="888750"/>
          </a:xfrm>
          <a:prstGeom prst="rect">
            <a:avLst/>
          </a:prstGeom>
        </p:spPr>
      </p:pic>
      <p:sp>
        <p:nvSpPr>
          <p:cNvPr id="14" name="Text Placeholder 5">
            <a:extLst>
              <a:ext uri="{FF2B5EF4-FFF2-40B4-BE49-F238E27FC236}">
                <a16:creationId xmlns:a16="http://schemas.microsoft.com/office/drawing/2014/main" id="{1BC7A23D-4276-558E-530A-FF104D4B0600}"/>
              </a:ext>
            </a:extLst>
          </p:cNvPr>
          <p:cNvSpPr txBox="1">
            <a:spLocks/>
          </p:cNvSpPr>
          <p:nvPr/>
        </p:nvSpPr>
        <p:spPr>
          <a:xfrm>
            <a:off x="3830475" y="2946368"/>
            <a:ext cx="1142192" cy="637131"/>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800">
                <a:latin typeface="Segoe UI" panose="020B0502040204020203" pitchFamily="34" charset="0"/>
                <a:cs typeface="Segoe UI" panose="020B0502040204020203" pitchFamily="34" charset="0"/>
              </a:rPr>
              <a:t>Azure</a:t>
            </a:r>
          </a:p>
          <a:p>
            <a:pPr marL="0" indent="0" algn="ctr" defTabSz="1865484">
              <a:buNone/>
              <a:defRPr/>
            </a:pPr>
            <a:r>
              <a:rPr lang="en-US" sz="1800">
                <a:latin typeface="Segoe UI" panose="020B0502040204020203" pitchFamily="34" charset="0"/>
                <a:cs typeface="Segoe UI" panose="020B0502040204020203" pitchFamily="34" charset="0"/>
              </a:rPr>
              <a:t>AI Search</a:t>
            </a:r>
          </a:p>
        </p:txBody>
      </p:sp>
      <p:sp>
        <p:nvSpPr>
          <p:cNvPr id="15" name="TextBox 14">
            <a:extLst>
              <a:ext uri="{FF2B5EF4-FFF2-40B4-BE49-F238E27FC236}">
                <a16:creationId xmlns:a16="http://schemas.microsoft.com/office/drawing/2014/main" id="{923F6594-9BF9-BACA-C02E-2DD5888DF858}"/>
              </a:ext>
            </a:extLst>
          </p:cNvPr>
          <p:cNvSpPr txBox="1"/>
          <p:nvPr/>
        </p:nvSpPr>
        <p:spPr>
          <a:xfrm>
            <a:off x="6060137" y="1951946"/>
            <a:ext cx="5652493" cy="3893374"/>
          </a:xfrm>
          <a:prstGeom prst="rect">
            <a:avLst/>
          </a:prstGeom>
          <a:solidFill>
            <a:schemeClr val="bg1">
              <a:lumMod val="95000"/>
            </a:schemeClr>
          </a:solidFill>
        </p:spPr>
        <p:txBody>
          <a:bodyPr wrap="square">
            <a:spAutoFit/>
          </a:bodyPr>
          <a:lstStyle/>
          <a:p>
            <a:r>
              <a:rPr lang="en-US" sz="1300" b="0" i="0">
                <a:solidFill>
                  <a:srgbClr val="545454"/>
                </a:solidFill>
                <a:effectLst/>
                <a:latin typeface="Consolas" panose="020B0609020204030204" pitchFamily="49" charset="0"/>
                <a:cs typeface="Consolas" panose="020B0609020204030204" pitchFamily="49" charset="0"/>
              </a:rPr>
              <a:t>{</a:t>
            </a:r>
          </a:p>
          <a:p>
            <a:r>
              <a:rPr lang="en-US" sz="1300" b="0" i="0">
                <a:solidFill>
                  <a:srgbClr val="545454"/>
                </a:solidFill>
                <a:effectLst/>
                <a:latin typeface="Consolas" panose="020B0609020204030204" pitchFamily="49" charset="0"/>
                <a:cs typeface="Consolas" panose="020B0609020204030204" pitchFamily="49" charset="0"/>
              </a:rPr>
              <a:t>"id": </a:t>
            </a:r>
            <a:r>
              <a:rPr lang="en-US" sz="1300" b="0" i="0">
                <a:solidFill>
                  <a:srgbClr val="008000"/>
                </a:solidFill>
                <a:effectLst/>
                <a:latin typeface="Consolas" panose="020B0609020204030204" pitchFamily="49" charset="0"/>
                <a:cs typeface="Consolas" panose="020B0609020204030204" pitchFamily="49" charset="0"/>
              </a:rPr>
              <a:t>"file-Financial_Market_Analysis_Report_2023_pdf-46696E616E6369616C204D61726B657420416E616C79736973205265706F727420323032332E706466-page-2"</a:t>
            </a:r>
            <a:r>
              <a:rPr lang="en-US" sz="1300" b="0" i="0">
                <a:solidFill>
                  <a:srgbClr val="545454"/>
                </a:solidFill>
                <a:effectLst/>
                <a:latin typeface="Consolas" panose="020B0609020204030204" pitchFamily="49" charset="0"/>
                <a:cs typeface="Consolas" panose="020B0609020204030204" pitchFamily="49" charset="0"/>
              </a:rPr>
              <a:t>,</a:t>
            </a:r>
          </a:p>
          <a:p>
            <a:r>
              <a:rPr lang="en-US" sz="1300" b="0" i="0">
                <a:solidFill>
                  <a:srgbClr val="545454"/>
                </a:solidFill>
                <a:effectLst/>
                <a:latin typeface="Consolas" panose="020B0609020204030204" pitchFamily="49" charset="0"/>
                <a:cs typeface="Consolas" panose="020B0609020204030204" pitchFamily="49" charset="0"/>
              </a:rPr>
              <a:t>"content": </a:t>
            </a:r>
            <a:r>
              <a:rPr lang="en-US" sz="1300" b="0" i="0">
                <a:solidFill>
                  <a:srgbClr val="008000"/>
                </a:solidFill>
                <a:effectLst/>
                <a:latin typeface="Consolas" panose="020B0609020204030204" pitchFamily="49" charset="0"/>
                <a:cs typeface="Consolas" panose="020B0609020204030204" pitchFamily="49" charset="0"/>
              </a:rPr>
              <a:t>"Cryptocurrency Market Dynamics\nPrice Fluctuations of Bitcoin and Ethereum (Last 12 Months)\n47500\n45000\n42500\n40000\n37500\n35000\n32500\n30000\n27500\n25000\n22500\n20000\n17500\n15000\n12500\n10000\n7500\n5000\n2500\n0\nJan\nFeb\nMar\nApr\nMay\nJun\nJul\nAug\nSep\nOct\nNov\nDec\n-Bitcoin -Ethereum\nCryptocurrencies have emerged as a new asset class, captivating investors with their potential for high returns and their role in the future of finance. This section explores the price dynamics of major cryptocurrencies like Bitcoin and Ethereum..."</a:t>
            </a:r>
            <a:r>
              <a:rPr lang="en-US" sz="1300" b="0" i="0">
                <a:solidFill>
                  <a:srgbClr val="545454"/>
                </a:solidFill>
                <a:effectLst/>
                <a:latin typeface="Consolas" panose="020B0609020204030204" pitchFamily="49" charset="0"/>
                <a:cs typeface="Consolas" panose="020B0609020204030204" pitchFamily="49" charset="0"/>
              </a:rPr>
              <a:t>,</a:t>
            </a:r>
          </a:p>
          <a:p>
            <a:r>
              <a:rPr lang="en-US" sz="1300" b="0" i="0">
                <a:solidFill>
                  <a:srgbClr val="545454"/>
                </a:solidFill>
                <a:effectLst/>
                <a:latin typeface="Consolas" panose="020B0609020204030204" pitchFamily="49" charset="0"/>
                <a:cs typeface="Consolas" panose="020B0609020204030204" pitchFamily="49" charset="0"/>
              </a:rPr>
              <a:t>"embedding": </a:t>
            </a:r>
            <a:r>
              <a:rPr lang="en-US" sz="1300" b="0" i="0">
                <a:solidFill>
                  <a:srgbClr val="008000"/>
                </a:solidFill>
                <a:effectLst/>
                <a:latin typeface="Consolas" panose="020B0609020204030204" pitchFamily="49" charset="0"/>
                <a:cs typeface="Consolas" panose="020B0609020204030204" pitchFamily="49" charset="0"/>
              </a:rPr>
              <a:t>"[-0.009356536, -0.035459142 ...+1534 more]"</a:t>
            </a:r>
            <a:r>
              <a:rPr lang="en-US" sz="1300" b="0" i="0">
                <a:solidFill>
                  <a:srgbClr val="545454"/>
                </a:solidFill>
                <a:effectLst/>
                <a:latin typeface="Consolas" panose="020B0609020204030204" pitchFamily="49" charset="0"/>
                <a:cs typeface="Consolas" panose="020B0609020204030204" pitchFamily="49" charset="0"/>
              </a:rPr>
              <a:t>,</a:t>
            </a:r>
          </a:p>
          <a:p>
            <a:r>
              <a:rPr lang="en-US" sz="1300" b="0" i="0">
                <a:solidFill>
                  <a:srgbClr val="545454"/>
                </a:solidFill>
                <a:effectLst/>
                <a:latin typeface="Consolas" panose="020B0609020204030204" pitchFamily="49" charset="0"/>
                <a:cs typeface="Consolas" panose="020B0609020204030204" pitchFamily="49" charset="0"/>
              </a:rPr>
              <a:t>"imageEmbedding": </a:t>
            </a:r>
            <a:r>
              <a:rPr lang="en-US" sz="1300" b="0" i="0">
                <a:solidFill>
                  <a:srgbClr val="008000"/>
                </a:solidFill>
                <a:effectLst/>
                <a:latin typeface="Consolas" panose="020B0609020204030204" pitchFamily="49" charset="0"/>
                <a:cs typeface="Consolas" panose="020B0609020204030204" pitchFamily="49" charset="0"/>
              </a:rPr>
              <a:t>"[-0.94384766, 1.5185547 ...+1022 more]"</a:t>
            </a:r>
            <a:r>
              <a:rPr lang="en-US" sz="1300" b="0" i="0">
                <a:solidFill>
                  <a:srgbClr val="545454"/>
                </a:solidFill>
                <a:effectLst/>
                <a:latin typeface="Consolas" panose="020B0609020204030204" pitchFamily="49" charset="0"/>
                <a:cs typeface="Consolas" panose="020B0609020204030204" pitchFamily="49" charset="0"/>
              </a:rPr>
              <a:t>,</a:t>
            </a:r>
          </a:p>
          <a:p>
            <a:r>
              <a:rPr lang="en-US" sz="1300" b="0" i="0">
                <a:solidFill>
                  <a:srgbClr val="545454"/>
                </a:solidFill>
                <a:effectLst/>
                <a:latin typeface="Consolas" panose="020B0609020204030204" pitchFamily="49" charset="0"/>
                <a:cs typeface="Consolas" panose="020B0609020204030204" pitchFamily="49" charset="0"/>
              </a:rPr>
              <a:t>"sourcepage": </a:t>
            </a:r>
            <a:r>
              <a:rPr lang="en-US" sz="1300" b="0" i="0">
                <a:solidFill>
                  <a:srgbClr val="008000"/>
                </a:solidFill>
                <a:effectLst/>
                <a:latin typeface="Consolas" panose="020B0609020204030204" pitchFamily="49" charset="0"/>
                <a:cs typeface="Consolas" panose="020B0609020204030204" pitchFamily="49" charset="0"/>
              </a:rPr>
              <a:t>"Financial Market Analysis Report 2023-4.png"</a:t>
            </a:r>
            <a:r>
              <a:rPr lang="en-US" sz="1300" b="0" i="0">
                <a:solidFill>
                  <a:srgbClr val="545454"/>
                </a:solidFill>
                <a:effectLst/>
                <a:latin typeface="Consolas" panose="020B0609020204030204" pitchFamily="49" charset="0"/>
                <a:cs typeface="Consolas" panose="020B0609020204030204" pitchFamily="49" charset="0"/>
              </a:rPr>
              <a:t>,</a:t>
            </a:r>
          </a:p>
          <a:p>
            <a:r>
              <a:rPr lang="en-US" sz="1300" b="0" i="0">
                <a:solidFill>
                  <a:srgbClr val="545454"/>
                </a:solidFill>
                <a:effectLst/>
                <a:latin typeface="Consolas" panose="020B0609020204030204" pitchFamily="49" charset="0"/>
                <a:cs typeface="Consolas" panose="020B0609020204030204" pitchFamily="49" charset="0"/>
              </a:rPr>
              <a:t>"sourcefile": </a:t>
            </a:r>
            <a:r>
              <a:rPr lang="en-US" sz="1300" b="0" i="0">
                <a:solidFill>
                  <a:srgbClr val="008000"/>
                </a:solidFill>
                <a:effectLst/>
                <a:latin typeface="Consolas" panose="020B0609020204030204" pitchFamily="49" charset="0"/>
                <a:cs typeface="Consolas" panose="020B0609020204030204" pitchFamily="49" charset="0"/>
              </a:rPr>
              <a:t>"Financial Market Analysis Report 2023.pdf"</a:t>
            </a:r>
          </a:p>
          <a:p>
            <a:r>
              <a:rPr lang="en-US" sz="1300" b="0" i="0">
                <a:solidFill>
                  <a:srgbClr val="545454"/>
                </a:solidFill>
                <a:effectLst/>
                <a:latin typeface="Consolas" panose="020B0609020204030204" pitchFamily="49" charset="0"/>
                <a:cs typeface="Consolas" panose="020B0609020204030204" pitchFamily="49" charset="0"/>
              </a:rPr>
              <a:t>}</a:t>
            </a:r>
            <a:endParaRPr lang="en-US" sz="1300">
              <a:latin typeface="Consolas" panose="020B0609020204030204" pitchFamily="49" charset="0"/>
              <a:cs typeface="Consolas" panose="020B0609020204030204" pitchFamily="49" charset="0"/>
            </a:endParaRPr>
          </a:p>
        </p:txBody>
      </p:sp>
      <p:sp>
        <p:nvSpPr>
          <p:cNvPr id="17" name="Content Placeholder 2">
            <a:extLst>
              <a:ext uri="{FF2B5EF4-FFF2-40B4-BE49-F238E27FC236}">
                <a16:creationId xmlns:a16="http://schemas.microsoft.com/office/drawing/2014/main" id="{F0BCA690-7BF6-5633-B030-4B2745AB6A97}"/>
              </a:ext>
            </a:extLst>
          </p:cNvPr>
          <p:cNvSpPr txBox="1">
            <a:spLocks/>
          </p:cNvSpPr>
          <p:nvPr/>
        </p:nvSpPr>
        <p:spPr>
          <a:xfrm>
            <a:off x="1124821" y="6245429"/>
            <a:ext cx="5411308" cy="430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err="1">
                <a:hlinkClick r:id="rId5"/>
              </a:rPr>
              <a:t>https://aka.ms/ragchat</a:t>
            </a:r>
            <a:r>
              <a:rPr lang="en-US" sz="2000" err="1"/>
              <a:t>: </a:t>
            </a:r>
            <a:r>
              <a:rPr lang="en-US" sz="2000"/>
              <a:t>searchmanager.py</a:t>
            </a:r>
          </a:p>
        </p:txBody>
      </p:sp>
    </p:spTree>
    <p:extLst>
      <p:ext uri="{BB962C8B-B14F-4D97-AF65-F5344CB8AC3E}">
        <p14:creationId xmlns:p14="http://schemas.microsoft.com/office/powerpoint/2010/main" val="109620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95CF1-7118-725B-8579-562DDB1C1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065E2-D6EC-2EB0-7C95-17600601BD25}"/>
              </a:ext>
            </a:extLst>
          </p:cNvPr>
          <p:cNvSpPr>
            <a:spLocks noGrp="1"/>
          </p:cNvSpPr>
          <p:nvPr>
            <p:ph type="title"/>
          </p:nvPr>
        </p:nvSpPr>
        <p:spPr>
          <a:xfrm>
            <a:off x="1049416" y="458258"/>
            <a:ext cx="11900230" cy="1325563"/>
          </a:xfrm>
        </p:spPr>
        <p:txBody>
          <a:bodyPr/>
          <a:lstStyle/>
          <a:p>
            <a:r>
              <a:rPr lang="es-MX"/>
              <a:t>RAG with vision: Flow (revisited)</a:t>
            </a:r>
          </a:p>
        </p:txBody>
      </p:sp>
      <p:grpSp>
        <p:nvGrpSpPr>
          <p:cNvPr id="48" name="Group 47">
            <a:extLst>
              <a:ext uri="{FF2B5EF4-FFF2-40B4-BE49-F238E27FC236}">
                <a16:creationId xmlns:a16="http://schemas.microsoft.com/office/drawing/2014/main" id="{24BBD218-E08F-6732-B04F-E99A41214371}"/>
              </a:ext>
            </a:extLst>
          </p:cNvPr>
          <p:cNvGrpSpPr/>
          <p:nvPr/>
        </p:nvGrpSpPr>
        <p:grpSpPr>
          <a:xfrm>
            <a:off x="967039" y="1711340"/>
            <a:ext cx="4504125" cy="4019040"/>
            <a:chOff x="252932" y="1615540"/>
            <a:chExt cx="4504125" cy="4019040"/>
          </a:xfrm>
        </p:grpSpPr>
        <p:pic>
          <p:nvPicPr>
            <p:cNvPr id="49" name="Graphic 13">
              <a:extLst>
                <a:ext uri="{FF2B5EF4-FFF2-40B4-BE49-F238E27FC236}">
                  <a16:creationId xmlns:a16="http://schemas.microsoft.com/office/drawing/2014/main" id="{EEBF2CE4-8CDC-77FA-C7E4-E16B5D8B31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576" y="2985936"/>
              <a:ext cx="1477321" cy="1530271"/>
            </a:xfrm>
            <a:prstGeom prst="rect">
              <a:avLst/>
            </a:prstGeom>
          </p:spPr>
        </p:pic>
        <p:sp>
          <p:nvSpPr>
            <p:cNvPr id="50" name="Text Placeholder 5">
              <a:extLst>
                <a:ext uri="{FF2B5EF4-FFF2-40B4-BE49-F238E27FC236}">
                  <a16:creationId xmlns:a16="http://schemas.microsoft.com/office/drawing/2014/main" id="{91391C53-784C-6B49-27A3-ED11833DE172}"/>
                </a:ext>
              </a:extLst>
            </p:cNvPr>
            <p:cNvSpPr txBox="1">
              <a:spLocks/>
            </p:cNvSpPr>
            <p:nvPr/>
          </p:nvSpPr>
          <p:spPr>
            <a:xfrm>
              <a:off x="252932" y="4624269"/>
              <a:ext cx="2051084" cy="1010311"/>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algn="ctr" defTabSz="1865484">
                <a:defRPr/>
              </a:pPr>
              <a:r>
                <a:rPr lang="en-US" sz="2000" dirty="0">
                  <a:latin typeface="+mj-lt"/>
                  <a:cs typeface="Segoe UI Semilight"/>
                </a:rPr>
                <a:t>User</a:t>
              </a:r>
              <a:endParaRPr lang="en-US" dirty="0"/>
            </a:p>
            <a:p>
              <a:pPr marL="0" indent="0" algn="ctr" defTabSz="1865484">
                <a:buNone/>
                <a:defRPr/>
              </a:pPr>
              <a:r>
                <a:rPr lang="en-US" sz="2000" dirty="0">
                  <a:latin typeface="+mj-lt"/>
                  <a:cs typeface="Segoe UI Semilight"/>
                </a:rPr>
                <a:t>Question</a:t>
              </a:r>
              <a:endParaRPr lang="en-US" sz="2000" dirty="0">
                <a:cs typeface="Segoe UI Semilight"/>
              </a:endParaRPr>
            </a:p>
          </p:txBody>
        </p:sp>
        <p:grpSp>
          <p:nvGrpSpPr>
            <p:cNvPr id="51" name="Group 50">
              <a:extLst>
                <a:ext uri="{FF2B5EF4-FFF2-40B4-BE49-F238E27FC236}">
                  <a16:creationId xmlns:a16="http://schemas.microsoft.com/office/drawing/2014/main" id="{64B2B642-5ECB-1222-4A66-FFC14DAC80C5}"/>
                </a:ext>
              </a:extLst>
            </p:cNvPr>
            <p:cNvGrpSpPr/>
            <p:nvPr/>
          </p:nvGrpSpPr>
          <p:grpSpPr>
            <a:xfrm>
              <a:off x="489983" y="1615540"/>
              <a:ext cx="4267074" cy="1137035"/>
              <a:chOff x="521532" y="3870236"/>
              <a:chExt cx="6688983" cy="1824380"/>
            </a:xfrm>
          </p:grpSpPr>
          <p:sp>
            <p:nvSpPr>
              <p:cNvPr id="52" name="Speech Bubble: Rectangle with Corners Rounded 7">
                <a:extLst>
                  <a:ext uri="{FF2B5EF4-FFF2-40B4-BE49-F238E27FC236}">
                    <a16:creationId xmlns:a16="http://schemas.microsoft.com/office/drawing/2014/main" id="{D7931C17-6C3F-39B4-9C28-DF72F936CDE4}"/>
                  </a:ext>
                </a:extLst>
              </p:cNvPr>
              <p:cNvSpPr/>
              <p:nvPr/>
            </p:nvSpPr>
            <p:spPr bwMode="auto">
              <a:xfrm>
                <a:off x="521532" y="3870236"/>
                <a:ext cx="6688983" cy="1824380"/>
              </a:xfrm>
              <a:prstGeom prst="wedgeRoundRectCallout">
                <a:avLst>
                  <a:gd name="adj1" fmla="val -31139"/>
                  <a:gd name="adj2" fmla="val 75138"/>
                  <a:gd name="adj3" fmla="val 16667"/>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53" name="Text Placeholder 5">
                <a:extLst>
                  <a:ext uri="{FF2B5EF4-FFF2-40B4-BE49-F238E27FC236}">
                    <a16:creationId xmlns:a16="http://schemas.microsoft.com/office/drawing/2014/main" id="{377E132E-B57A-B190-ABE8-3CBBAC56517D}"/>
                  </a:ext>
                </a:extLst>
              </p:cNvPr>
              <p:cNvSpPr txBox="1">
                <a:spLocks/>
              </p:cNvSpPr>
              <p:nvPr/>
            </p:nvSpPr>
            <p:spPr>
              <a:xfrm>
                <a:off x="672028" y="4229325"/>
                <a:ext cx="6401973" cy="993810"/>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defTabSz="1865484">
                  <a:buNone/>
                  <a:defRPr/>
                </a:pPr>
                <a:r>
                  <a:rPr lang="en-US" sz="2000" b="0" i="0">
                    <a:effectLst/>
                    <a:latin typeface="Segoe UI" panose="020B0502040204020203" pitchFamily="34" charset="0"/>
                  </a:rPr>
                  <a:t>Is there any correlation between oil prices and stock market trends?</a:t>
                </a:r>
                <a:endParaRPr lang="en-US" sz="2000" dirty="0">
                  <a:latin typeface="Segoe UI"/>
                  <a:cs typeface="Segoe UI"/>
                </a:endParaRPr>
              </a:p>
            </p:txBody>
          </p:sp>
        </p:grpSp>
      </p:grpSp>
      <p:grpSp>
        <p:nvGrpSpPr>
          <p:cNvPr id="54" name="Group 53">
            <a:extLst>
              <a:ext uri="{FF2B5EF4-FFF2-40B4-BE49-F238E27FC236}">
                <a16:creationId xmlns:a16="http://schemas.microsoft.com/office/drawing/2014/main" id="{01D8BDDD-8EBB-F523-7680-05B88CC46AC5}"/>
              </a:ext>
            </a:extLst>
          </p:cNvPr>
          <p:cNvGrpSpPr/>
          <p:nvPr/>
        </p:nvGrpSpPr>
        <p:grpSpPr>
          <a:xfrm>
            <a:off x="7318783" y="4409278"/>
            <a:ext cx="1135064" cy="2409283"/>
            <a:chOff x="6604676" y="4313478"/>
            <a:chExt cx="1135064" cy="2409283"/>
          </a:xfrm>
        </p:grpSpPr>
        <p:sp>
          <p:nvSpPr>
            <p:cNvPr id="55" name="TextBox 7">
              <a:extLst>
                <a:ext uri="{FF2B5EF4-FFF2-40B4-BE49-F238E27FC236}">
                  <a16:creationId xmlns:a16="http://schemas.microsoft.com/office/drawing/2014/main" id="{36656C73-0055-1920-0E87-E913B4CEE733}"/>
                </a:ext>
              </a:extLst>
            </p:cNvPr>
            <p:cNvSpPr txBox="1"/>
            <p:nvPr/>
          </p:nvSpPr>
          <p:spPr>
            <a:xfrm>
              <a:off x="6664992" y="4313478"/>
              <a:ext cx="1055936" cy="738664"/>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dk1"/>
                  </a:solidFill>
                  <a:latin typeface="+mn-lt"/>
                  <a:ea typeface="+mn-ea"/>
                  <a:cs typeface="+mn-cs"/>
                </a:defRPr>
              </a:lvl1pPr>
              <a:lvl2pPr marL="1828983" algn="l" defTabSz="3657965" rtl="0" eaLnBrk="1" latinLnBrk="0" hangingPunct="1">
                <a:defRPr sz="7200" kern="1200">
                  <a:solidFill>
                    <a:schemeClr val="dk1"/>
                  </a:solidFill>
                  <a:latin typeface="+mn-lt"/>
                  <a:ea typeface="+mn-ea"/>
                  <a:cs typeface="+mn-cs"/>
                </a:defRPr>
              </a:lvl2pPr>
              <a:lvl3pPr marL="3657965" algn="l" defTabSz="3657965" rtl="0" eaLnBrk="1" latinLnBrk="0" hangingPunct="1">
                <a:defRPr sz="7200" kern="1200">
                  <a:solidFill>
                    <a:schemeClr val="dk1"/>
                  </a:solidFill>
                  <a:latin typeface="+mn-lt"/>
                  <a:ea typeface="+mn-ea"/>
                  <a:cs typeface="+mn-cs"/>
                </a:defRPr>
              </a:lvl3pPr>
              <a:lvl4pPr marL="5486948" algn="l" defTabSz="3657965" rtl="0" eaLnBrk="1" latinLnBrk="0" hangingPunct="1">
                <a:defRPr sz="7200" kern="1200">
                  <a:solidFill>
                    <a:schemeClr val="dk1"/>
                  </a:solidFill>
                  <a:latin typeface="+mn-lt"/>
                  <a:ea typeface="+mn-ea"/>
                  <a:cs typeface="+mn-cs"/>
                </a:defRPr>
              </a:lvl4pPr>
              <a:lvl5pPr marL="7315932" algn="l" defTabSz="3657965" rtl="0" eaLnBrk="1" latinLnBrk="0" hangingPunct="1">
                <a:defRPr sz="7200" kern="1200">
                  <a:solidFill>
                    <a:schemeClr val="dk1"/>
                  </a:solidFill>
                  <a:latin typeface="+mn-lt"/>
                  <a:ea typeface="+mn-ea"/>
                  <a:cs typeface="+mn-cs"/>
                </a:defRPr>
              </a:lvl5pPr>
              <a:lvl6pPr marL="9144915" algn="l" defTabSz="3657965" rtl="0" eaLnBrk="1" latinLnBrk="0" hangingPunct="1">
                <a:defRPr sz="7200" kern="1200">
                  <a:solidFill>
                    <a:schemeClr val="dk1"/>
                  </a:solidFill>
                  <a:latin typeface="+mn-lt"/>
                  <a:ea typeface="+mn-ea"/>
                  <a:cs typeface="+mn-cs"/>
                </a:defRPr>
              </a:lvl6pPr>
              <a:lvl7pPr marL="10973897" algn="l" defTabSz="3657965" rtl="0" eaLnBrk="1" latinLnBrk="0" hangingPunct="1">
                <a:defRPr sz="7200" kern="1200">
                  <a:solidFill>
                    <a:schemeClr val="dk1"/>
                  </a:solidFill>
                  <a:latin typeface="+mn-lt"/>
                  <a:ea typeface="+mn-ea"/>
                  <a:cs typeface="+mn-cs"/>
                </a:defRPr>
              </a:lvl7pPr>
              <a:lvl8pPr marL="12802880" algn="l" defTabSz="3657965" rtl="0" eaLnBrk="1" latinLnBrk="0" hangingPunct="1">
                <a:defRPr sz="7200" kern="1200">
                  <a:solidFill>
                    <a:schemeClr val="dk1"/>
                  </a:solidFill>
                  <a:latin typeface="+mn-lt"/>
                  <a:ea typeface="+mn-ea"/>
                  <a:cs typeface="+mn-cs"/>
                </a:defRPr>
              </a:lvl8pPr>
              <a:lvl9pPr marL="14631864" algn="l" defTabSz="3657965" rtl="0" eaLnBrk="1" latinLnBrk="0" hangingPunct="1">
                <a:defRPr sz="7200" kern="1200">
                  <a:solidFill>
                    <a:schemeClr val="dk1"/>
                  </a:solidFill>
                  <a:latin typeface="+mn-lt"/>
                  <a:ea typeface="+mn-ea"/>
                  <a:cs typeface="+mn-cs"/>
                </a:defRPr>
              </a:lvl9pPr>
            </a:lstStyle>
            <a:p>
              <a:pPr algn="l"/>
              <a:r>
                <a:rPr lang="en-US" sz="800" b="1" i="0">
                  <a:solidFill>
                    <a:schemeClr val="tx1"/>
                  </a:solidFill>
                  <a:effectLst/>
                  <a:latin typeface="Segoe UI" panose="020B0502040204020203" pitchFamily="34" charset="0"/>
                </a:rPr>
                <a:t>Financial Market Analysis 2023-6.png</a:t>
              </a:r>
            </a:p>
            <a:p>
              <a:pPr algn="l"/>
              <a:r>
                <a:rPr lang="en-US" sz="800" b="0" i="0">
                  <a:solidFill>
                    <a:schemeClr val="tx1"/>
                  </a:solidFill>
                  <a:effectLst/>
                  <a:latin typeface="Segoe UI" panose="020B0502040204020203" pitchFamily="34" charset="0"/>
                </a:rPr>
                <a:t>This section examines the correlations between stock indices, cryptocurrency prices...</a:t>
              </a:r>
            </a:p>
          </p:txBody>
        </p:sp>
        <p:pic>
          <p:nvPicPr>
            <p:cNvPr id="56" name="Picture 2">
              <a:extLst>
                <a:ext uri="{FF2B5EF4-FFF2-40B4-BE49-F238E27FC236}">
                  <a16:creationId xmlns:a16="http://schemas.microsoft.com/office/drawing/2014/main" id="{38D870FD-7413-3F59-0FFB-DCB3713050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4677" y="5227349"/>
              <a:ext cx="1135063" cy="68580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
              <a:extLst>
                <a:ext uri="{FF2B5EF4-FFF2-40B4-BE49-F238E27FC236}">
                  <a16:creationId xmlns:a16="http://schemas.microsoft.com/office/drawing/2014/main" id="{526124DD-E78C-11A2-B6E0-32BE2E0681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4676" y="6036961"/>
              <a:ext cx="1135063" cy="685800"/>
            </a:xfrm>
            <a:prstGeom prst="rect">
              <a:avLst/>
            </a:prstGeom>
            <a:noFill/>
            <a:extLst>
              <a:ext uri="{909E8E84-426E-40DD-AFC4-6F175D3DCCD1}">
                <a14:hiddenFill xmlns:a14="http://schemas.microsoft.com/office/drawing/2010/main">
                  <a:solidFill>
                    <a:srgbClr val="FFFFFF"/>
                  </a:solidFill>
                </a14:hiddenFill>
              </a:ext>
            </a:extLst>
          </p:spPr>
        </p:pic>
      </p:grpSp>
      <p:sp>
        <p:nvSpPr>
          <p:cNvPr id="58" name="Arrow: Right 11">
            <a:extLst>
              <a:ext uri="{FF2B5EF4-FFF2-40B4-BE49-F238E27FC236}">
                <a16:creationId xmlns:a16="http://schemas.microsoft.com/office/drawing/2014/main" id="{EFD690C3-7662-E852-2E8D-6A9BB1A62989}"/>
              </a:ext>
            </a:extLst>
          </p:cNvPr>
          <p:cNvSpPr/>
          <p:nvPr/>
        </p:nvSpPr>
        <p:spPr bwMode="auto">
          <a:xfrm>
            <a:off x="4878014" y="3077692"/>
            <a:ext cx="994658"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9" name="Arrow: Right 8">
            <a:extLst>
              <a:ext uri="{FF2B5EF4-FFF2-40B4-BE49-F238E27FC236}">
                <a16:creationId xmlns:a16="http://schemas.microsoft.com/office/drawing/2014/main" id="{5368353F-28D7-9D5E-064F-28E2EA84E363}"/>
              </a:ext>
            </a:extLst>
          </p:cNvPr>
          <p:cNvSpPr/>
          <p:nvPr/>
        </p:nvSpPr>
        <p:spPr bwMode="auto">
          <a:xfrm>
            <a:off x="4890673" y="3860750"/>
            <a:ext cx="1019913"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0" name="TextBox 59">
            <a:extLst>
              <a:ext uri="{FF2B5EF4-FFF2-40B4-BE49-F238E27FC236}">
                <a16:creationId xmlns:a16="http://schemas.microsoft.com/office/drawing/2014/main" id="{660E2806-27E9-F1CE-EF8A-8BF562A09377}"/>
              </a:ext>
            </a:extLst>
          </p:cNvPr>
          <p:cNvSpPr txBox="1"/>
          <p:nvPr/>
        </p:nvSpPr>
        <p:spPr>
          <a:xfrm>
            <a:off x="4794757" y="3373761"/>
            <a:ext cx="1368670" cy="215444"/>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sp>
        <p:nvSpPr>
          <p:cNvPr id="61" name="Text Placeholder 5">
            <a:extLst>
              <a:ext uri="{FF2B5EF4-FFF2-40B4-BE49-F238E27FC236}">
                <a16:creationId xmlns:a16="http://schemas.microsoft.com/office/drawing/2014/main" id="{7D9021E0-F36D-52BC-9F7D-33AEC0CCE1EB}"/>
              </a:ext>
            </a:extLst>
          </p:cNvPr>
          <p:cNvSpPr txBox="1">
            <a:spLocks/>
          </p:cNvSpPr>
          <p:nvPr/>
        </p:nvSpPr>
        <p:spPr>
          <a:xfrm>
            <a:off x="5757791" y="4648502"/>
            <a:ext cx="1648090" cy="843158"/>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2000" dirty="0">
                <a:latin typeface="+mj-lt"/>
                <a:cs typeface="Segoe UI Semilight"/>
              </a:rPr>
              <a:t>Azure AI Search</a:t>
            </a:r>
          </a:p>
        </p:txBody>
      </p:sp>
      <p:sp>
        <p:nvSpPr>
          <p:cNvPr id="62" name="Arrow: Right 8">
            <a:extLst>
              <a:ext uri="{FF2B5EF4-FFF2-40B4-BE49-F238E27FC236}">
                <a16:creationId xmlns:a16="http://schemas.microsoft.com/office/drawing/2014/main" id="{AF2BBB7A-6042-BDA2-71D6-97515F14C060}"/>
              </a:ext>
            </a:extLst>
          </p:cNvPr>
          <p:cNvSpPr/>
          <p:nvPr/>
        </p:nvSpPr>
        <p:spPr bwMode="auto">
          <a:xfrm>
            <a:off x="4933991" y="5220898"/>
            <a:ext cx="976595"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63" name="Group 62">
            <a:extLst>
              <a:ext uri="{FF2B5EF4-FFF2-40B4-BE49-F238E27FC236}">
                <a16:creationId xmlns:a16="http://schemas.microsoft.com/office/drawing/2014/main" id="{B3AE71BC-52FA-11CF-C5F9-D36EFA40E51B}"/>
              </a:ext>
            </a:extLst>
          </p:cNvPr>
          <p:cNvGrpSpPr/>
          <p:nvPr/>
        </p:nvGrpSpPr>
        <p:grpSpPr>
          <a:xfrm>
            <a:off x="4888334" y="4137115"/>
            <a:ext cx="1065570" cy="1944923"/>
            <a:chOff x="4174227" y="4041315"/>
            <a:chExt cx="1065570" cy="1944923"/>
          </a:xfrm>
        </p:grpSpPr>
        <p:sp>
          <p:nvSpPr>
            <p:cNvPr id="64" name="TextBox 63">
              <a:extLst>
                <a:ext uri="{FF2B5EF4-FFF2-40B4-BE49-F238E27FC236}">
                  <a16:creationId xmlns:a16="http://schemas.microsoft.com/office/drawing/2014/main" id="{4AE6AAFB-769A-4BB6-7D4F-F866F91F1256}"/>
                </a:ext>
              </a:extLst>
            </p:cNvPr>
            <p:cNvSpPr txBox="1"/>
            <p:nvPr/>
          </p:nvSpPr>
          <p:spPr>
            <a:xfrm>
              <a:off x="4174227" y="4041315"/>
              <a:ext cx="1022252" cy="584775"/>
            </a:xfrm>
            <a:prstGeom prst="rect">
              <a:avLst/>
            </a:prstGeom>
            <a:noFill/>
          </p:spPr>
          <p:txBody>
            <a:bodyPr wrap="square">
              <a:spAutoFit/>
            </a:bodyPr>
            <a:lstStyle/>
            <a:p>
              <a:r>
                <a:rPr lang="en-US" sz="800" dirty="0"/>
                <a:t>[[0.0014615238, -0.015594152, -0.0072768144, -0.012787478,…]</a:t>
              </a:r>
              <a:endParaRPr lang="en-US" sz="800" dirty="0">
                <a:solidFill>
                  <a:schemeClr val="tx1"/>
                </a:solidFill>
                <a:ea typeface="+mn-lt"/>
                <a:cs typeface="+mn-lt"/>
              </a:endParaRPr>
            </a:p>
          </p:txBody>
        </p:sp>
        <p:sp>
          <p:nvSpPr>
            <p:cNvPr id="65" name="TextBox 64">
              <a:extLst>
                <a:ext uri="{FF2B5EF4-FFF2-40B4-BE49-F238E27FC236}">
                  <a16:creationId xmlns:a16="http://schemas.microsoft.com/office/drawing/2014/main" id="{619B4F4E-48EF-F2F8-10AD-441D7B9BEF76}"/>
                </a:ext>
              </a:extLst>
            </p:cNvPr>
            <p:cNvSpPr txBox="1"/>
            <p:nvPr/>
          </p:nvSpPr>
          <p:spPr>
            <a:xfrm>
              <a:off x="4217545" y="5401463"/>
              <a:ext cx="1022252" cy="584775"/>
            </a:xfrm>
            <a:prstGeom prst="rect">
              <a:avLst/>
            </a:prstGeom>
            <a:noFill/>
          </p:spPr>
          <p:txBody>
            <a:bodyPr wrap="square">
              <a:spAutoFit/>
            </a:bodyPr>
            <a:lstStyle/>
            <a:p>
              <a:r>
                <a:rPr lang="en-US" sz="800" dirty="0"/>
                <a:t>[[0.0021338, -0.01123152, -0.0238144, -0.0123478,…]</a:t>
              </a:r>
              <a:endParaRPr lang="en-US" sz="800" dirty="0">
                <a:solidFill>
                  <a:schemeClr val="tx1"/>
                </a:solidFill>
                <a:ea typeface="+mn-lt"/>
                <a:cs typeface="+mn-lt"/>
              </a:endParaRPr>
            </a:p>
          </p:txBody>
        </p:sp>
      </p:grpSp>
      <p:sp>
        <p:nvSpPr>
          <p:cNvPr id="66" name="Text Placeholder 5">
            <a:extLst>
              <a:ext uri="{FF2B5EF4-FFF2-40B4-BE49-F238E27FC236}">
                <a16:creationId xmlns:a16="http://schemas.microsoft.com/office/drawing/2014/main" id="{697DF9D5-14C0-6EE5-E47D-12026F2D565D}"/>
              </a:ext>
            </a:extLst>
          </p:cNvPr>
          <p:cNvSpPr txBox="1">
            <a:spLocks/>
          </p:cNvSpPr>
          <p:nvPr/>
        </p:nvSpPr>
        <p:spPr>
          <a:xfrm>
            <a:off x="8395814" y="4705980"/>
            <a:ext cx="1648090" cy="773949"/>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2000" dirty="0">
                <a:latin typeface="+mj-lt"/>
                <a:cs typeface="Segoe UI Semilight"/>
              </a:rPr>
              <a:t>OpenAI</a:t>
            </a:r>
          </a:p>
          <a:p>
            <a:pPr marL="0" indent="0" algn="ctr" defTabSz="1865484">
              <a:buNone/>
              <a:defRPr/>
            </a:pPr>
            <a:r>
              <a:rPr lang="en-US" sz="2000" dirty="0">
                <a:latin typeface="+mj-lt"/>
                <a:cs typeface="Segoe UI Semilight"/>
              </a:rPr>
              <a:t>gpt-4o</a:t>
            </a:r>
            <a:endParaRPr lang="en-US" sz="2000" dirty="0">
              <a:cs typeface="Arial"/>
            </a:endParaRPr>
          </a:p>
        </p:txBody>
      </p:sp>
      <p:sp>
        <p:nvSpPr>
          <p:cNvPr id="67" name="Arrow: Right 10">
            <a:extLst>
              <a:ext uri="{FF2B5EF4-FFF2-40B4-BE49-F238E27FC236}">
                <a16:creationId xmlns:a16="http://schemas.microsoft.com/office/drawing/2014/main" id="{F5E1FCEC-8D8B-7D13-D7A7-7AA35E9524F2}"/>
              </a:ext>
            </a:extLst>
          </p:cNvPr>
          <p:cNvSpPr/>
          <p:nvPr/>
        </p:nvSpPr>
        <p:spPr bwMode="auto">
          <a:xfrm>
            <a:off x="7318783" y="4000075"/>
            <a:ext cx="1090457" cy="293302"/>
          </a:xfrm>
          <a:prstGeom prst="rightArrow">
            <a:avLst>
              <a:gd name="adj1" fmla="val 50000"/>
              <a:gd name="adj2"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68" name="Group 67">
            <a:extLst>
              <a:ext uri="{FF2B5EF4-FFF2-40B4-BE49-F238E27FC236}">
                <a16:creationId xmlns:a16="http://schemas.microsoft.com/office/drawing/2014/main" id="{C0E82F4F-B54B-0A62-4981-9C7FF7329CA5}"/>
              </a:ext>
            </a:extLst>
          </p:cNvPr>
          <p:cNvGrpSpPr/>
          <p:nvPr/>
        </p:nvGrpSpPr>
        <p:grpSpPr>
          <a:xfrm>
            <a:off x="7321875" y="2998138"/>
            <a:ext cx="1128878" cy="561470"/>
            <a:chOff x="6607768" y="2902338"/>
            <a:chExt cx="1128878" cy="561470"/>
          </a:xfrm>
        </p:grpSpPr>
        <p:sp>
          <p:nvSpPr>
            <p:cNvPr id="69" name="TextBox 68">
              <a:extLst>
                <a:ext uri="{FF2B5EF4-FFF2-40B4-BE49-F238E27FC236}">
                  <a16:creationId xmlns:a16="http://schemas.microsoft.com/office/drawing/2014/main" id="{FFBD3880-9681-FD50-EAC9-FCA53F1432AE}"/>
                </a:ext>
              </a:extLst>
            </p:cNvPr>
            <p:cNvSpPr txBox="1"/>
            <p:nvPr/>
          </p:nvSpPr>
          <p:spPr>
            <a:xfrm>
              <a:off x="6607768" y="3248365"/>
              <a:ext cx="1128878" cy="215443"/>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sp>
          <p:nvSpPr>
            <p:cNvPr id="70" name="Arrow: Right 10">
              <a:extLst>
                <a:ext uri="{FF2B5EF4-FFF2-40B4-BE49-F238E27FC236}">
                  <a16:creationId xmlns:a16="http://schemas.microsoft.com/office/drawing/2014/main" id="{4DA62950-9C76-C553-72F3-D01215BEB80E}"/>
                </a:ext>
              </a:extLst>
            </p:cNvPr>
            <p:cNvSpPr/>
            <p:nvPr/>
          </p:nvSpPr>
          <p:spPr bwMode="auto">
            <a:xfrm>
              <a:off x="6617977" y="2902338"/>
              <a:ext cx="1090457" cy="293302"/>
            </a:xfrm>
            <a:prstGeom prst="rightArrow">
              <a:avLst>
                <a:gd name="adj1" fmla="val 50000"/>
                <a:gd name="adj2"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sp>
        <p:nvSpPr>
          <p:cNvPr id="71" name="Text Placeholder 5">
            <a:extLst>
              <a:ext uri="{FF2B5EF4-FFF2-40B4-BE49-F238E27FC236}">
                <a16:creationId xmlns:a16="http://schemas.microsoft.com/office/drawing/2014/main" id="{71FFDA05-5DD7-F7BE-789C-63CB32C661C4}"/>
              </a:ext>
            </a:extLst>
          </p:cNvPr>
          <p:cNvSpPr txBox="1">
            <a:spLocks/>
          </p:cNvSpPr>
          <p:nvPr/>
        </p:nvSpPr>
        <p:spPr>
          <a:xfrm>
            <a:off x="3709088" y="4302063"/>
            <a:ext cx="1380273" cy="843158"/>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dirty="0">
                <a:latin typeface="+mj-lt"/>
                <a:cs typeface="Segoe UI Semilight"/>
              </a:rPr>
              <a:t>OpenAI</a:t>
            </a:r>
          </a:p>
          <a:p>
            <a:pPr marL="0" indent="0" algn="ctr" defTabSz="1865484">
              <a:buNone/>
              <a:defRPr/>
            </a:pPr>
            <a:r>
              <a:rPr lang="en-US" sz="1400" dirty="0">
                <a:latin typeface="+mj-lt"/>
                <a:cs typeface="Segoe UI Semilight"/>
              </a:rPr>
              <a:t>text embedding</a:t>
            </a:r>
            <a:endParaRPr lang="en-US" sz="1400" dirty="0">
              <a:cs typeface="Arial"/>
            </a:endParaRPr>
          </a:p>
        </p:txBody>
      </p:sp>
      <p:sp>
        <p:nvSpPr>
          <p:cNvPr id="72" name="Arrow: Right 8">
            <a:extLst>
              <a:ext uri="{FF2B5EF4-FFF2-40B4-BE49-F238E27FC236}">
                <a16:creationId xmlns:a16="http://schemas.microsoft.com/office/drawing/2014/main" id="{82095F75-8B7C-2D08-9C8E-FEEE43703BCD}"/>
              </a:ext>
            </a:extLst>
          </p:cNvPr>
          <p:cNvSpPr/>
          <p:nvPr/>
        </p:nvSpPr>
        <p:spPr bwMode="auto">
          <a:xfrm>
            <a:off x="2814109" y="3984634"/>
            <a:ext cx="1056614"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3" name="TextBox 72">
            <a:extLst>
              <a:ext uri="{FF2B5EF4-FFF2-40B4-BE49-F238E27FC236}">
                <a16:creationId xmlns:a16="http://schemas.microsoft.com/office/drawing/2014/main" id="{F7D4FE09-EAC2-7628-643F-D0E72AFB8B5B}"/>
              </a:ext>
            </a:extLst>
          </p:cNvPr>
          <p:cNvSpPr txBox="1"/>
          <p:nvPr/>
        </p:nvSpPr>
        <p:spPr>
          <a:xfrm>
            <a:off x="2761915" y="4270203"/>
            <a:ext cx="1105071" cy="222688"/>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sp>
        <p:nvSpPr>
          <p:cNvPr id="74" name="Text Placeholder 5">
            <a:extLst>
              <a:ext uri="{FF2B5EF4-FFF2-40B4-BE49-F238E27FC236}">
                <a16:creationId xmlns:a16="http://schemas.microsoft.com/office/drawing/2014/main" id="{A9BF5906-49DA-93E6-8F8C-4B2A2EB9BD1E}"/>
              </a:ext>
            </a:extLst>
          </p:cNvPr>
          <p:cNvSpPr txBox="1">
            <a:spLocks/>
          </p:cNvSpPr>
          <p:nvPr/>
        </p:nvSpPr>
        <p:spPr>
          <a:xfrm>
            <a:off x="3652026" y="5960247"/>
            <a:ext cx="1428486" cy="843158"/>
          </a:xfrm>
          <a:prstGeom prst="rect">
            <a:avLst/>
          </a:prstGeom>
        </p:spPr>
        <p:txBody>
          <a:bodyPr lIns="91440" tIns="45720" rIns="91440" bIns="45720" anchor="t"/>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pPr marL="0" indent="0" algn="ctr" defTabSz="1865484">
              <a:buNone/>
              <a:defRPr/>
            </a:pPr>
            <a:r>
              <a:rPr lang="en-US" sz="1400" dirty="0">
                <a:latin typeface="+mj-lt"/>
                <a:cs typeface="Segoe UI Semilight"/>
              </a:rPr>
              <a:t>AI vision API</a:t>
            </a:r>
          </a:p>
          <a:p>
            <a:pPr marL="0" indent="0" algn="ctr" defTabSz="1865484">
              <a:buNone/>
              <a:defRPr/>
            </a:pPr>
            <a:r>
              <a:rPr lang="en-US" sz="1400" dirty="0">
                <a:latin typeface="+mj-lt"/>
                <a:cs typeface="Segoe UI Semilight"/>
              </a:rPr>
              <a:t>/vectorizeText</a:t>
            </a:r>
            <a:endParaRPr lang="en-US" sz="1400" dirty="0">
              <a:cs typeface="Arial"/>
            </a:endParaRPr>
          </a:p>
        </p:txBody>
      </p:sp>
      <p:sp>
        <p:nvSpPr>
          <p:cNvPr id="75" name="Arrow: Right 8">
            <a:extLst>
              <a:ext uri="{FF2B5EF4-FFF2-40B4-BE49-F238E27FC236}">
                <a16:creationId xmlns:a16="http://schemas.microsoft.com/office/drawing/2014/main" id="{8F74E950-384A-F879-36C8-9502B37DF8E4}"/>
              </a:ext>
            </a:extLst>
          </p:cNvPr>
          <p:cNvSpPr/>
          <p:nvPr/>
        </p:nvSpPr>
        <p:spPr bwMode="auto">
          <a:xfrm>
            <a:off x="2810372" y="5267544"/>
            <a:ext cx="1056614" cy="293302"/>
          </a:xfrm>
          <a:prstGeom prst="right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6" name="TextBox 75">
            <a:extLst>
              <a:ext uri="{FF2B5EF4-FFF2-40B4-BE49-F238E27FC236}">
                <a16:creationId xmlns:a16="http://schemas.microsoft.com/office/drawing/2014/main" id="{16278119-93E5-CB4C-2593-7CCDBE48E4E0}"/>
              </a:ext>
            </a:extLst>
          </p:cNvPr>
          <p:cNvSpPr txBox="1"/>
          <p:nvPr/>
        </p:nvSpPr>
        <p:spPr>
          <a:xfrm>
            <a:off x="2758178" y="5553113"/>
            <a:ext cx="1105071" cy="222688"/>
          </a:xfrm>
          <a:prstGeom prst="rect">
            <a:avLst/>
          </a:prstGeom>
          <a:noFill/>
        </p:spPr>
        <p:txBody>
          <a:bodyPr wrap="square">
            <a:spAutoFit/>
          </a:bodyPr>
          <a:lstStyle/>
          <a:p>
            <a:r>
              <a:rPr lang="en-US" sz="800" dirty="0"/>
              <a:t>“Is there any…”</a:t>
            </a:r>
            <a:endParaRPr lang="en-US" sz="800" dirty="0">
              <a:solidFill>
                <a:schemeClr val="tx1"/>
              </a:solidFill>
              <a:ea typeface="+mn-lt"/>
              <a:cs typeface="+mn-lt"/>
            </a:endParaRPr>
          </a:p>
        </p:txBody>
      </p:sp>
      <p:pic>
        <p:nvPicPr>
          <p:cNvPr id="77" name="Graphic 76">
            <a:extLst>
              <a:ext uri="{FF2B5EF4-FFF2-40B4-BE49-F238E27FC236}">
                <a16:creationId xmlns:a16="http://schemas.microsoft.com/office/drawing/2014/main" id="{E1B5D6E2-81AB-FC10-2480-43BC674323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34859" y="3248850"/>
            <a:ext cx="1276979" cy="1276979"/>
          </a:xfrm>
          <a:prstGeom prst="rect">
            <a:avLst/>
          </a:prstGeom>
        </p:spPr>
      </p:pic>
      <p:pic>
        <p:nvPicPr>
          <p:cNvPr id="78" name="Graphic 77">
            <a:extLst>
              <a:ext uri="{FF2B5EF4-FFF2-40B4-BE49-F238E27FC236}">
                <a16:creationId xmlns:a16="http://schemas.microsoft.com/office/drawing/2014/main" id="{AE4C9E14-20C7-4041-283C-47A1784266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63270" y="3633926"/>
            <a:ext cx="623417" cy="623417"/>
          </a:xfrm>
          <a:prstGeom prst="rect">
            <a:avLst/>
          </a:prstGeom>
        </p:spPr>
      </p:pic>
      <p:pic>
        <p:nvPicPr>
          <p:cNvPr id="79" name="Graphic 78">
            <a:extLst>
              <a:ext uri="{FF2B5EF4-FFF2-40B4-BE49-F238E27FC236}">
                <a16:creationId xmlns:a16="http://schemas.microsoft.com/office/drawing/2014/main" id="{5AFACF52-DC93-2A5E-D759-69FCF54166C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34888" y="5253534"/>
            <a:ext cx="684866" cy="684866"/>
          </a:xfrm>
          <a:prstGeom prst="rect">
            <a:avLst/>
          </a:prstGeom>
        </p:spPr>
      </p:pic>
      <p:pic>
        <p:nvPicPr>
          <p:cNvPr id="80" name="Graphic 79">
            <a:extLst>
              <a:ext uri="{FF2B5EF4-FFF2-40B4-BE49-F238E27FC236}">
                <a16:creationId xmlns:a16="http://schemas.microsoft.com/office/drawing/2014/main" id="{63B67D18-9F8B-B08F-EA86-773C90860AC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12505" y="3600962"/>
            <a:ext cx="1060502" cy="1060502"/>
          </a:xfrm>
          <a:prstGeom prst="rect">
            <a:avLst/>
          </a:prstGeom>
        </p:spPr>
      </p:pic>
      <p:sp>
        <p:nvSpPr>
          <p:cNvPr id="81" name="Speech Bubble: Rectangle with Corners Rounded 18">
            <a:extLst>
              <a:ext uri="{FF2B5EF4-FFF2-40B4-BE49-F238E27FC236}">
                <a16:creationId xmlns:a16="http://schemas.microsoft.com/office/drawing/2014/main" id="{21650132-BDE6-0D38-8F2C-F701DD3D87D7}"/>
              </a:ext>
            </a:extLst>
          </p:cNvPr>
          <p:cNvSpPr/>
          <p:nvPr/>
        </p:nvSpPr>
        <p:spPr bwMode="auto">
          <a:xfrm>
            <a:off x="8641545" y="1598125"/>
            <a:ext cx="3248960" cy="1290070"/>
          </a:xfrm>
          <a:prstGeom prst="wedgeRoundRectCallout">
            <a:avLst>
              <a:gd name="adj1" fmla="val -31818"/>
              <a:gd name="adj2" fmla="val 76079"/>
              <a:gd name="adj3" fmla="val 16667"/>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3657965" rtl="0" eaLnBrk="1" latinLnBrk="0" hangingPunct="1">
              <a:defRPr sz="7200" kern="1200">
                <a:solidFill>
                  <a:schemeClr val="lt1"/>
                </a:solidFill>
                <a:latin typeface="+mn-lt"/>
                <a:ea typeface="+mn-ea"/>
                <a:cs typeface="+mn-cs"/>
              </a:defRPr>
            </a:lvl1pPr>
            <a:lvl2pPr marL="1828983" algn="l" defTabSz="3657965" rtl="0" eaLnBrk="1" latinLnBrk="0" hangingPunct="1">
              <a:defRPr sz="7200" kern="1200">
                <a:solidFill>
                  <a:schemeClr val="lt1"/>
                </a:solidFill>
                <a:latin typeface="+mn-lt"/>
                <a:ea typeface="+mn-ea"/>
                <a:cs typeface="+mn-cs"/>
              </a:defRPr>
            </a:lvl2pPr>
            <a:lvl3pPr marL="3657965" algn="l" defTabSz="3657965" rtl="0" eaLnBrk="1" latinLnBrk="0" hangingPunct="1">
              <a:defRPr sz="7200" kern="1200">
                <a:solidFill>
                  <a:schemeClr val="lt1"/>
                </a:solidFill>
                <a:latin typeface="+mn-lt"/>
                <a:ea typeface="+mn-ea"/>
                <a:cs typeface="+mn-cs"/>
              </a:defRPr>
            </a:lvl3pPr>
            <a:lvl4pPr marL="5486948" algn="l" defTabSz="3657965" rtl="0" eaLnBrk="1" latinLnBrk="0" hangingPunct="1">
              <a:defRPr sz="7200" kern="1200">
                <a:solidFill>
                  <a:schemeClr val="lt1"/>
                </a:solidFill>
                <a:latin typeface="+mn-lt"/>
                <a:ea typeface="+mn-ea"/>
                <a:cs typeface="+mn-cs"/>
              </a:defRPr>
            </a:lvl4pPr>
            <a:lvl5pPr marL="7315932" algn="l" defTabSz="3657965" rtl="0" eaLnBrk="1" latinLnBrk="0" hangingPunct="1">
              <a:defRPr sz="7200" kern="1200">
                <a:solidFill>
                  <a:schemeClr val="lt1"/>
                </a:solidFill>
                <a:latin typeface="+mn-lt"/>
                <a:ea typeface="+mn-ea"/>
                <a:cs typeface="+mn-cs"/>
              </a:defRPr>
            </a:lvl5pPr>
            <a:lvl6pPr marL="9144915" algn="l" defTabSz="3657965" rtl="0" eaLnBrk="1" latinLnBrk="0" hangingPunct="1">
              <a:defRPr sz="7200" kern="1200">
                <a:solidFill>
                  <a:schemeClr val="lt1"/>
                </a:solidFill>
                <a:latin typeface="+mn-lt"/>
                <a:ea typeface="+mn-ea"/>
                <a:cs typeface="+mn-cs"/>
              </a:defRPr>
            </a:lvl6pPr>
            <a:lvl7pPr marL="10973897" algn="l" defTabSz="3657965" rtl="0" eaLnBrk="1" latinLnBrk="0" hangingPunct="1">
              <a:defRPr sz="7200" kern="1200">
                <a:solidFill>
                  <a:schemeClr val="lt1"/>
                </a:solidFill>
                <a:latin typeface="+mn-lt"/>
                <a:ea typeface="+mn-ea"/>
                <a:cs typeface="+mn-cs"/>
              </a:defRPr>
            </a:lvl7pPr>
            <a:lvl8pPr marL="12802880" algn="l" defTabSz="3657965" rtl="0" eaLnBrk="1" latinLnBrk="0" hangingPunct="1">
              <a:defRPr sz="7200" kern="1200">
                <a:solidFill>
                  <a:schemeClr val="lt1"/>
                </a:solidFill>
                <a:latin typeface="+mn-lt"/>
                <a:ea typeface="+mn-ea"/>
                <a:cs typeface="+mn-cs"/>
              </a:defRPr>
            </a:lvl8pPr>
            <a:lvl9pPr marL="14631864" algn="l" defTabSz="3657965" rtl="0" eaLnBrk="1" latinLnBrk="0" hangingPunct="1">
              <a:defRPr sz="7200"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82" name="TextBox 12">
            <a:extLst>
              <a:ext uri="{FF2B5EF4-FFF2-40B4-BE49-F238E27FC236}">
                <a16:creationId xmlns:a16="http://schemas.microsoft.com/office/drawing/2014/main" id="{3B237882-9B4C-4BB4-8D8E-BFBF3DAD479B}"/>
              </a:ext>
            </a:extLst>
          </p:cNvPr>
          <p:cNvSpPr txBox="1"/>
          <p:nvPr/>
        </p:nvSpPr>
        <p:spPr>
          <a:xfrm>
            <a:off x="8882053" y="1790241"/>
            <a:ext cx="3248959" cy="112851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3657965" rtl="0" eaLnBrk="1" latinLnBrk="0" hangingPunct="1">
              <a:defRPr sz="7200" kern="1200">
                <a:solidFill>
                  <a:schemeClr val="tx1"/>
                </a:solidFill>
                <a:latin typeface="+mn-lt"/>
                <a:ea typeface="+mn-ea"/>
                <a:cs typeface="+mn-cs"/>
              </a:defRPr>
            </a:lvl1pPr>
            <a:lvl2pPr marL="1828983" algn="l" defTabSz="3657965" rtl="0" eaLnBrk="1" latinLnBrk="0" hangingPunct="1">
              <a:defRPr sz="7200" kern="1200">
                <a:solidFill>
                  <a:schemeClr val="tx1"/>
                </a:solidFill>
                <a:latin typeface="+mn-lt"/>
                <a:ea typeface="+mn-ea"/>
                <a:cs typeface="+mn-cs"/>
              </a:defRPr>
            </a:lvl2pPr>
            <a:lvl3pPr marL="3657965" algn="l" defTabSz="3657965" rtl="0" eaLnBrk="1" latinLnBrk="0" hangingPunct="1">
              <a:defRPr sz="7200" kern="1200">
                <a:solidFill>
                  <a:schemeClr val="tx1"/>
                </a:solidFill>
                <a:latin typeface="+mn-lt"/>
                <a:ea typeface="+mn-ea"/>
                <a:cs typeface="+mn-cs"/>
              </a:defRPr>
            </a:lvl3pPr>
            <a:lvl4pPr marL="5486948" algn="l" defTabSz="3657965" rtl="0" eaLnBrk="1" latinLnBrk="0" hangingPunct="1">
              <a:defRPr sz="7200" kern="1200">
                <a:solidFill>
                  <a:schemeClr val="tx1"/>
                </a:solidFill>
                <a:latin typeface="+mn-lt"/>
                <a:ea typeface="+mn-ea"/>
                <a:cs typeface="+mn-cs"/>
              </a:defRPr>
            </a:lvl4pPr>
            <a:lvl5pPr marL="7315932" algn="l" defTabSz="3657965" rtl="0" eaLnBrk="1" latinLnBrk="0" hangingPunct="1">
              <a:defRPr sz="7200" kern="1200">
                <a:solidFill>
                  <a:schemeClr val="tx1"/>
                </a:solidFill>
                <a:latin typeface="+mn-lt"/>
                <a:ea typeface="+mn-ea"/>
                <a:cs typeface="+mn-cs"/>
              </a:defRPr>
            </a:lvl5pPr>
            <a:lvl6pPr marL="9144915" algn="l" defTabSz="3657965" rtl="0" eaLnBrk="1" latinLnBrk="0" hangingPunct="1">
              <a:defRPr sz="7200" kern="1200">
                <a:solidFill>
                  <a:schemeClr val="tx1"/>
                </a:solidFill>
                <a:latin typeface="+mn-lt"/>
                <a:ea typeface="+mn-ea"/>
                <a:cs typeface="+mn-cs"/>
              </a:defRPr>
            </a:lvl6pPr>
            <a:lvl7pPr marL="10973897" algn="l" defTabSz="3657965" rtl="0" eaLnBrk="1" latinLnBrk="0" hangingPunct="1">
              <a:defRPr sz="7200" kern="1200">
                <a:solidFill>
                  <a:schemeClr val="tx1"/>
                </a:solidFill>
                <a:latin typeface="+mn-lt"/>
                <a:ea typeface="+mn-ea"/>
                <a:cs typeface="+mn-cs"/>
              </a:defRPr>
            </a:lvl7pPr>
            <a:lvl8pPr marL="12802880" algn="l" defTabSz="3657965" rtl="0" eaLnBrk="1" latinLnBrk="0" hangingPunct="1">
              <a:defRPr sz="7200" kern="1200">
                <a:solidFill>
                  <a:schemeClr val="tx1"/>
                </a:solidFill>
                <a:latin typeface="+mn-lt"/>
                <a:ea typeface="+mn-ea"/>
                <a:cs typeface="+mn-cs"/>
              </a:defRPr>
            </a:lvl8pPr>
            <a:lvl9pPr marL="14631864" algn="l" defTabSz="3657965" rtl="0" eaLnBrk="1" latinLnBrk="0" hangingPunct="1">
              <a:defRPr sz="7200" kern="1200">
                <a:solidFill>
                  <a:schemeClr val="tx1"/>
                </a:solidFill>
                <a:latin typeface="+mn-lt"/>
                <a:ea typeface="+mn-ea"/>
                <a:cs typeface="+mn-cs"/>
              </a:defRPr>
            </a:lvl9pPr>
          </a:lstStyle>
          <a:p>
            <a:r>
              <a:rPr lang="en-US" sz="2000" b="0" i="0">
                <a:effectLst/>
                <a:latin typeface="Segoe UI" panose="020B0502040204020203" pitchFamily="34" charset="0"/>
              </a:rPr>
              <a:t>Yes, there is a correlation between oil prices and</a:t>
            </a:r>
          </a:p>
          <a:p>
            <a:r>
              <a:rPr lang="en-US" sz="2000" b="0" i="0">
                <a:effectLst/>
                <a:latin typeface="Segoe UI" panose="020B0502040204020203" pitchFamily="34" charset="0"/>
              </a:rPr>
              <a:t>stock market trends</a:t>
            </a:r>
            <a:r>
              <a:rPr lang="en-US" sz="2000" baseline="30000" dirty="0">
                <a:latin typeface="Segoe UI"/>
                <a:ea typeface="Menlo"/>
                <a:cs typeface="Menlo"/>
              </a:rPr>
              <a:t>2</a:t>
            </a:r>
          </a:p>
          <a:p>
            <a:endParaRPr lang="en-US" sz="2000" baseline="30000" dirty="0">
              <a:latin typeface="Segoe UI"/>
              <a:ea typeface="Menlo"/>
              <a:cs typeface="Menlo"/>
            </a:endParaRPr>
          </a:p>
        </p:txBody>
      </p:sp>
    </p:spTree>
    <p:extLst>
      <p:ext uri="{BB962C8B-B14F-4D97-AF65-F5344CB8AC3E}">
        <p14:creationId xmlns:p14="http://schemas.microsoft.com/office/powerpoint/2010/main" val="36541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B831-0E7F-DCB4-1664-07EBD7EF5CBF}"/>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F8786B5-AA08-9DD4-B36D-7FD94E58C08C}"/>
              </a:ext>
            </a:extLst>
          </p:cNvPr>
          <p:cNvSpPr>
            <a:spLocks noGrp="1"/>
          </p:cNvSpPr>
          <p:nvPr>
            <p:ph type="title"/>
          </p:nvPr>
        </p:nvSpPr>
        <p:spPr/>
        <p:txBody>
          <a:bodyPr/>
          <a:lstStyle/>
          <a:p>
            <a:r>
              <a:rPr lang="en-US"/>
              <a:t>RAG with vision: System prompt</a:t>
            </a:r>
          </a:p>
        </p:txBody>
      </p:sp>
      <p:sp>
        <p:nvSpPr>
          <p:cNvPr id="2" name="Content Placeholder 2">
            <a:extLst>
              <a:ext uri="{FF2B5EF4-FFF2-40B4-BE49-F238E27FC236}">
                <a16:creationId xmlns:a16="http://schemas.microsoft.com/office/drawing/2014/main" id="{5EB314AC-0070-1DE4-9650-1638FD6E1E2B}"/>
              </a:ext>
            </a:extLst>
          </p:cNvPr>
          <p:cNvSpPr>
            <a:spLocks noGrp="1"/>
          </p:cNvSpPr>
          <p:nvPr>
            <p:ph idx="1"/>
          </p:nvPr>
        </p:nvSpPr>
        <p:spPr>
          <a:xfrm>
            <a:off x="1143000" y="1783821"/>
            <a:ext cx="10215880" cy="4952394"/>
          </a:xfrm>
          <a:solidFill>
            <a:schemeClr val="bg1">
              <a:lumMod val="95000"/>
            </a:schemeClr>
          </a:solidFill>
        </p:spPr>
        <p:txBody>
          <a:bodyPr>
            <a:normAutofit/>
          </a:bodyPr>
          <a:lstStyle/>
          <a:p>
            <a:pPr marL="0" indent="0">
              <a:buNone/>
            </a:pPr>
            <a:r>
              <a:rPr lang="en-US" sz="1800" b="0">
                <a:effectLst/>
                <a:latin typeface="Menlo" panose="020B0609030804020204" pitchFamily="49" charset="0"/>
              </a:rPr>
              <a:t>You are an intelligent assistant helping analyze the Annual Financial Report of Contoso Ltd. </a:t>
            </a:r>
            <a:r>
              <a:rPr lang="en-US" sz="1800" b="0">
                <a:effectLst/>
                <a:highlight>
                  <a:srgbClr val="FFFF00"/>
                </a:highlight>
                <a:latin typeface="Menlo" panose="020B0609030804020204" pitchFamily="49" charset="0"/>
              </a:rPr>
              <a:t>The documents contain text, graphs, tables and images.</a:t>
            </a:r>
          </a:p>
          <a:p>
            <a:pPr marL="0" indent="0">
              <a:buNone/>
            </a:pPr>
            <a:r>
              <a:rPr lang="en-US" sz="1800" b="0">
                <a:effectLst/>
                <a:highlight>
                  <a:srgbClr val="FFFF00"/>
                </a:highlight>
                <a:latin typeface="Menlo" panose="020B0609030804020204" pitchFamily="49" charset="0"/>
              </a:rPr>
              <a:t>Each image source has the file name in the top left corner of the image with coordinates (10,10) pixels and is in the format SourceFileName:&lt;file_name&gt;</a:t>
            </a:r>
          </a:p>
          <a:p>
            <a:pPr marL="0" indent="0">
              <a:buNone/>
            </a:pPr>
            <a:r>
              <a:rPr lang="en-US" sz="1800" b="0">
                <a:effectLst/>
                <a:latin typeface="Menlo" panose="020B0609030804020204" pitchFamily="49" charset="0"/>
              </a:rPr>
              <a:t>Each text source starts in a new line and has the file name followed by colon and the actual information</a:t>
            </a:r>
          </a:p>
          <a:p>
            <a:pPr marL="0" indent="0">
              <a:buNone/>
            </a:pPr>
            <a:r>
              <a:rPr lang="en-US" sz="1800" b="0">
                <a:effectLst/>
                <a:latin typeface="Menlo" panose="020B0609030804020204" pitchFamily="49" charset="0"/>
              </a:rPr>
              <a:t>Always include the source name </a:t>
            </a:r>
            <a:r>
              <a:rPr lang="en-US" sz="1800" b="0">
                <a:effectLst/>
                <a:highlight>
                  <a:srgbClr val="FFFF00"/>
                </a:highlight>
                <a:latin typeface="Menlo" panose="020B0609030804020204" pitchFamily="49" charset="0"/>
              </a:rPr>
              <a:t>from the image </a:t>
            </a:r>
            <a:r>
              <a:rPr lang="en-US" sz="1800" b="0">
                <a:effectLst/>
                <a:latin typeface="Menlo" panose="020B0609030804020204" pitchFamily="49" charset="0"/>
              </a:rPr>
              <a:t>or text for each fact you use in the response in the format: [filename]</a:t>
            </a:r>
          </a:p>
          <a:p>
            <a:pPr marL="0" indent="0">
              <a:buNone/>
            </a:pPr>
            <a:r>
              <a:rPr lang="en-US" sz="1800" b="0">
                <a:effectLst/>
                <a:latin typeface="Menlo" panose="020B0609030804020204" pitchFamily="49" charset="0"/>
              </a:rPr>
              <a:t>Answer the following question using only the data provided in the sources below.</a:t>
            </a:r>
          </a:p>
          <a:p>
            <a:pPr marL="0" indent="0">
              <a:buNone/>
            </a:pPr>
            <a:r>
              <a:rPr lang="en-US" sz="1800" b="0">
                <a:effectLst/>
                <a:latin typeface="Menlo" panose="020B0609030804020204" pitchFamily="49" charset="0"/>
              </a:rPr>
              <a:t>If asking a clarifying question to the user would help, ask the question.</a:t>
            </a:r>
          </a:p>
          <a:p>
            <a:pPr marL="0" indent="0">
              <a:buNone/>
            </a:pPr>
            <a:r>
              <a:rPr lang="en-US" sz="1800" b="0">
                <a:effectLst/>
                <a:latin typeface="Menlo" panose="020B0609030804020204" pitchFamily="49" charset="0"/>
              </a:rPr>
              <a:t>Be brief in your answers.</a:t>
            </a:r>
          </a:p>
          <a:p>
            <a:pPr marL="0" indent="0">
              <a:buNone/>
            </a:pPr>
            <a:r>
              <a:rPr lang="en-US" sz="1800" b="0">
                <a:effectLst/>
                <a:highlight>
                  <a:srgbClr val="FFFF00"/>
                </a:highlight>
                <a:latin typeface="Menlo" panose="020B0609030804020204" pitchFamily="49" charset="0"/>
              </a:rPr>
              <a:t>The text and image source can be the same file name, don't use the image title when citing the image source, only use the file name as mentioned.</a:t>
            </a:r>
          </a:p>
          <a:p>
            <a:pPr marL="0" indent="0">
              <a:buNone/>
            </a:pPr>
            <a:r>
              <a:rPr lang="en-US" sz="1800" b="0">
                <a:effectLst/>
                <a:latin typeface="Menlo" panose="020B0609030804020204" pitchFamily="49" charset="0"/>
              </a:rPr>
              <a:t>If you cannot answer using the sources below, say you don't know. Return just the answer without any input texts.</a:t>
            </a:r>
          </a:p>
          <a:p>
            <a:pPr marL="0" indent="0">
              <a:buNone/>
            </a:pPr>
            <a:endParaRPr lang="en-US" sz="1800"/>
          </a:p>
        </p:txBody>
      </p:sp>
    </p:spTree>
    <p:extLst>
      <p:ext uri="{BB962C8B-B14F-4D97-AF65-F5344CB8AC3E}">
        <p14:creationId xmlns:p14="http://schemas.microsoft.com/office/powerpoint/2010/main" val="2122371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6014-1594-2F73-8B9E-720AFA0345C2}"/>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4D939DAE-50DA-C96D-65C4-B4774F5345F7}"/>
              </a:ext>
            </a:extLst>
          </p:cNvPr>
          <p:cNvSpPr>
            <a:spLocks noGrp="1"/>
          </p:cNvSpPr>
          <p:nvPr>
            <p:ph type="title"/>
          </p:nvPr>
        </p:nvSpPr>
        <p:spPr/>
        <p:txBody>
          <a:bodyPr/>
          <a:lstStyle/>
          <a:p>
            <a:r>
              <a:rPr lang="en-US"/>
              <a:t>RAG with vision: Chat completion messages</a:t>
            </a:r>
          </a:p>
        </p:txBody>
      </p:sp>
      <p:sp>
        <p:nvSpPr>
          <p:cNvPr id="7" name="TextBox 6">
            <a:extLst>
              <a:ext uri="{FF2B5EF4-FFF2-40B4-BE49-F238E27FC236}">
                <a16:creationId xmlns:a16="http://schemas.microsoft.com/office/drawing/2014/main" id="{4EFA6E0B-9B49-BD15-7491-A96B7262C295}"/>
              </a:ext>
            </a:extLst>
          </p:cNvPr>
          <p:cNvSpPr txBox="1"/>
          <p:nvPr/>
        </p:nvSpPr>
        <p:spPr>
          <a:xfrm>
            <a:off x="1134291" y="2159561"/>
            <a:ext cx="10948640" cy="4524315"/>
          </a:xfrm>
          <a:prstGeom prst="rect">
            <a:avLst/>
          </a:prstGeom>
          <a:solidFill>
            <a:schemeClr val="bg1">
              <a:lumMod val="95000"/>
            </a:schemeClr>
          </a:solidFill>
        </p:spPr>
        <p:txBody>
          <a:bodyPr wrap="square">
            <a:spAutoFit/>
          </a:bodyPr>
          <a:lstStyle/>
          <a:p>
            <a:r>
              <a:rPr lang="en-US" b="0" i="0">
                <a:solidFill>
                  <a:srgbClr val="545454"/>
                </a:solidFill>
                <a:effectLst/>
                <a:latin typeface="Consolas" panose="020B0609020204030204" pitchFamily="49" charset="0"/>
                <a:cs typeface="Consolas" panose="020B0609020204030204" pitchFamily="49" charset="0"/>
              </a:rPr>
              <a:t>{ "role": </a:t>
            </a:r>
            <a:r>
              <a:rPr lang="en-US" b="0" i="0">
                <a:solidFill>
                  <a:srgbClr val="008000"/>
                </a:solidFill>
                <a:effectLst/>
                <a:latin typeface="Consolas" panose="020B0609020204030204" pitchFamily="49" charset="0"/>
                <a:cs typeface="Consolas" panose="020B0609020204030204" pitchFamily="49" charset="0"/>
              </a:rPr>
              <a:t>"user"</a:t>
            </a:r>
            <a:r>
              <a:rPr lang="en-US" b="0" i="0">
                <a:solidFill>
                  <a:srgbClr val="545454"/>
                </a:solidFill>
                <a:effectLst/>
                <a:latin typeface="Consolas" panose="020B0609020204030204" pitchFamily="49" charset="0"/>
                <a:cs typeface="Consolas" panose="020B0609020204030204" pitchFamily="49" charset="0"/>
              </a:rPr>
              <a:t>,</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"content": [</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 "type": </a:t>
            </a:r>
            <a:r>
              <a:rPr lang="en-US" b="0" i="0">
                <a:solidFill>
                  <a:srgbClr val="008000"/>
                </a:solidFill>
                <a:effectLst/>
                <a:latin typeface="Consolas" panose="020B0609020204030204" pitchFamily="49" charset="0"/>
                <a:cs typeface="Consolas" panose="020B0609020204030204" pitchFamily="49" charset="0"/>
              </a:rPr>
              <a:t>"text"</a:t>
            </a:r>
            <a:r>
              <a:rPr lang="en-US" b="0" i="0">
                <a:solidFill>
                  <a:srgbClr val="545454"/>
                </a:solidFill>
                <a:effectLst/>
                <a:latin typeface="Consolas" panose="020B0609020204030204" pitchFamily="49" charset="0"/>
                <a:cs typeface="Consolas" panose="020B0609020204030204" pitchFamily="49" charset="0"/>
              </a:rPr>
              <a:t>, "text": </a:t>
            </a:r>
            <a:r>
              <a:rPr lang="en-US" b="0" i="0">
                <a:solidFill>
                  <a:srgbClr val="008000"/>
                </a:solidFill>
                <a:effectLst/>
                <a:latin typeface="Consolas" panose="020B0609020204030204" pitchFamily="49" charset="0"/>
                <a:cs typeface="Consolas" panose="020B0609020204030204" pitchFamily="49" charset="0"/>
              </a:rPr>
              <a:t>"how have bitcoin and ethereum been fluctuating?"</a:t>
            </a:r>
            <a:r>
              <a:rPr lang="en-US" b="0" i="0">
                <a:solidFill>
                  <a:srgbClr val="545454"/>
                </a:solidFill>
                <a:effectLst/>
                <a:latin typeface="Consolas" panose="020B0609020204030204" pitchFamily="49" charset="0"/>
                <a:cs typeface="Consolas" panose="020B0609020204030204" pitchFamily="49" charset="0"/>
              </a:rPr>
              <a:t> },</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 "type": </a:t>
            </a:r>
            <a:r>
              <a:rPr lang="en-US" b="0" i="0">
                <a:solidFill>
                  <a:srgbClr val="008000"/>
                </a:solidFill>
                <a:effectLst/>
                <a:latin typeface="Consolas" panose="020B0609020204030204" pitchFamily="49" charset="0"/>
                <a:cs typeface="Consolas" panose="020B0609020204030204" pitchFamily="49" charset="0"/>
              </a:rPr>
              <a:t>"image_url"</a:t>
            </a:r>
            <a:r>
              <a:rPr lang="en-US" b="0" i="0">
                <a:solidFill>
                  <a:srgbClr val="545454"/>
                </a:solidFill>
                <a:effectLst/>
                <a:latin typeface="Consolas" panose="020B0609020204030204" pitchFamily="49" charset="0"/>
                <a:cs typeface="Consolas" panose="020B0609020204030204" pitchFamily="49" charset="0"/>
              </a:rPr>
              <a:t>,</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"image_url": { "url": </a:t>
            </a:r>
            <a:r>
              <a:rPr lang="en-US" b="0" i="0">
                <a:solidFill>
                  <a:srgbClr val="008000"/>
                </a:solidFill>
                <a:effectLst/>
                <a:latin typeface="Consolas" panose="020B0609020204030204" pitchFamily="49" charset="0"/>
                <a:cs typeface="Consolas" panose="020B0609020204030204" pitchFamily="49" charset="0"/>
              </a:rPr>
              <a:t>"data:image/png;base64,iVBORw0KGgoAAAANSUhEUgA..."</a:t>
            </a:r>
            <a:r>
              <a:rPr lang="en-US" b="0" i="0">
                <a:solidFill>
                  <a:srgbClr val="545454"/>
                </a:solidFill>
                <a:effectLst/>
                <a:latin typeface="Consolas" panose="020B0609020204030204" pitchFamily="49" charset="0"/>
                <a:cs typeface="Consolas" panose="020B0609020204030204" pitchFamily="49" charset="0"/>
              </a:rPr>
              <a:t>} },</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 "type": </a:t>
            </a:r>
            <a:r>
              <a:rPr lang="en-US" b="0" i="0">
                <a:solidFill>
                  <a:srgbClr val="008000"/>
                </a:solidFill>
                <a:effectLst/>
                <a:latin typeface="Consolas" panose="020B0609020204030204" pitchFamily="49" charset="0"/>
                <a:cs typeface="Consolas" panose="020B0609020204030204" pitchFamily="49" charset="0"/>
              </a:rPr>
              <a:t>"image_url"</a:t>
            </a:r>
            <a:r>
              <a:rPr lang="en-US" b="0" i="0">
                <a:solidFill>
                  <a:srgbClr val="545454"/>
                </a:solidFill>
                <a:effectLst/>
                <a:latin typeface="Consolas" panose="020B0609020204030204" pitchFamily="49" charset="0"/>
                <a:cs typeface="Consolas" panose="020B0609020204030204" pitchFamily="49" charset="0"/>
              </a:rPr>
              <a:t>,</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"image_url": { "url": </a:t>
            </a:r>
            <a:r>
              <a:rPr lang="en-US" b="0" i="0">
                <a:solidFill>
                  <a:srgbClr val="008000"/>
                </a:solidFill>
                <a:effectLst/>
                <a:latin typeface="Consolas" panose="020B0609020204030204" pitchFamily="49" charset="0"/>
                <a:cs typeface="Consolas" panose="020B0609020204030204" pitchFamily="49" charset="0"/>
              </a:rPr>
              <a:t>"data:image/png;base64,iVBORw0KGgoAAAANSUhEUgAA..."</a:t>
            </a:r>
            <a:r>
              <a:rPr lang="en-US" b="0" i="0">
                <a:solidFill>
                  <a:srgbClr val="545454"/>
                </a:solidFill>
                <a:effectLst/>
                <a:latin typeface="Consolas" panose="020B0609020204030204" pitchFamily="49" charset="0"/>
                <a:cs typeface="Consolas" panose="020B0609020204030204" pitchFamily="49" charset="0"/>
              </a:rPr>
              <a:t>} },</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 "type": </a:t>
            </a:r>
            <a:r>
              <a:rPr lang="en-US" b="0" i="0">
                <a:solidFill>
                  <a:srgbClr val="008000"/>
                </a:solidFill>
                <a:effectLst/>
                <a:latin typeface="Consolas" panose="020B0609020204030204" pitchFamily="49" charset="0"/>
                <a:cs typeface="Consolas" panose="020B0609020204030204" pitchFamily="49" charset="0"/>
              </a:rPr>
              <a:t>"image_url"</a:t>
            </a:r>
            <a:r>
              <a:rPr lang="en-US" b="0" i="0">
                <a:solidFill>
                  <a:srgbClr val="545454"/>
                </a:solidFill>
                <a:effectLst/>
                <a:latin typeface="Consolas" panose="020B0609020204030204" pitchFamily="49" charset="0"/>
                <a:cs typeface="Consolas" panose="020B0609020204030204" pitchFamily="49" charset="0"/>
              </a:rPr>
              <a:t>,</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"image_url": { "url": </a:t>
            </a:r>
            <a:r>
              <a:rPr lang="en-US" b="0" i="0">
                <a:solidFill>
                  <a:srgbClr val="008000"/>
                </a:solidFill>
                <a:effectLst/>
                <a:latin typeface="Consolas" panose="020B0609020204030204" pitchFamily="49" charset="0"/>
                <a:cs typeface="Consolas" panose="020B0609020204030204" pitchFamily="49" charset="0"/>
              </a:rPr>
              <a:t>"data:image/png;base64,iVBORw0KGgoAAAAA8AAAAJECAI..."</a:t>
            </a:r>
            <a:r>
              <a:rPr lang="en-US" b="0" i="0">
                <a:solidFill>
                  <a:srgbClr val="545454"/>
                </a:solidFill>
                <a:effectLst/>
                <a:latin typeface="Consolas" panose="020B0609020204030204" pitchFamily="49" charset="0"/>
                <a:cs typeface="Consolas" panose="020B0609020204030204" pitchFamily="49" charset="0"/>
              </a:rPr>
              <a:t>} },</a:t>
            </a:r>
          </a:p>
          <a:p>
            <a:r>
              <a:rPr lang="en-US" b="0" i="0">
                <a:solidFill>
                  <a:srgbClr val="545454"/>
                </a:solidFill>
                <a:effectLst/>
                <a:latin typeface="Consolas" panose="020B0609020204030204" pitchFamily="49" charset="0"/>
                <a:cs typeface="Consolas" panose="020B0609020204030204" pitchFamily="49" charset="0"/>
              </a:rPr>
              <a:t>    { "type": </a:t>
            </a:r>
            <a:r>
              <a:rPr lang="en-US" b="0" i="0">
                <a:solidFill>
                  <a:srgbClr val="008000"/>
                </a:solidFill>
                <a:effectLst/>
                <a:latin typeface="Consolas" panose="020B0609020204030204" pitchFamily="49" charset="0"/>
                <a:cs typeface="Consolas" panose="020B0609020204030204" pitchFamily="49" charset="0"/>
              </a:rPr>
              <a:t>"text"</a:t>
            </a:r>
            <a:r>
              <a:rPr lang="en-US" b="0" i="0">
                <a:solidFill>
                  <a:srgbClr val="545454"/>
                </a:solidFill>
                <a:effectLst/>
                <a:latin typeface="Consolas" panose="020B0609020204030204" pitchFamily="49" charset="0"/>
                <a:cs typeface="Consolas" panose="020B0609020204030204" pitchFamily="49" charset="0"/>
              </a:rPr>
              <a:t>,</a:t>
            </a:r>
          </a:p>
          <a:p>
            <a:r>
              <a:rPr lang="en-US">
                <a:solidFill>
                  <a:srgbClr val="545454"/>
                </a:solidFill>
                <a:latin typeface="Consolas" panose="020B0609020204030204" pitchFamily="49" charset="0"/>
                <a:cs typeface="Consolas" panose="020B0609020204030204" pitchFamily="49" charset="0"/>
              </a:rPr>
              <a:t>      </a:t>
            </a:r>
            <a:r>
              <a:rPr lang="en-US" b="0" i="0">
                <a:solidFill>
                  <a:srgbClr val="545454"/>
                </a:solidFill>
                <a:effectLst/>
                <a:latin typeface="Consolas" panose="020B0609020204030204" pitchFamily="49" charset="0"/>
                <a:cs typeface="Consolas" panose="020B0609020204030204" pitchFamily="49" charset="0"/>
              </a:rPr>
              <a:t>"text": </a:t>
            </a:r>
            <a:r>
              <a:rPr lang="en-US" b="0" i="0">
                <a:solidFill>
                  <a:srgbClr val="008000"/>
                </a:solidFill>
                <a:effectLst/>
                <a:latin typeface="Consolas" panose="020B0609020204030204" pitchFamily="49" charset="0"/>
                <a:cs typeface="Consolas" panose="020B0609020204030204" pitchFamily="49" charset="0"/>
              </a:rPr>
              <a:t>"Sources:\n\nFinancial Market Analysis Report 2023-3.png: Commodities The global financial market is a vast and intricate network of exchanges, instruments, and assets, ranging from traditional stocks and bonds to modern cryptocurrencies and commodities.... "</a:t>
            </a:r>
          </a:p>
          <a:p>
            <a:r>
              <a:rPr lang="en-US" b="0" i="0">
                <a:solidFill>
                  <a:srgbClr val="545454"/>
                </a:solidFill>
                <a:effectLst/>
                <a:latin typeface="Consolas" panose="020B0609020204030204" pitchFamily="49" charset="0"/>
                <a:cs typeface="Consolas" panose="020B0609020204030204" pitchFamily="49" charset="0"/>
              </a:rPr>
              <a:t>  ]</a:t>
            </a:r>
            <a:endParaRPr lang="en-US" b="0" i="0">
              <a:solidFill>
                <a:srgbClr val="008000"/>
              </a:solidFill>
              <a:effectLst/>
              <a:latin typeface="Consolas" panose="020B0609020204030204" pitchFamily="49" charset="0"/>
              <a:cs typeface="Consolas" panose="020B0609020204030204" pitchFamily="49" charset="0"/>
            </a:endParaRPr>
          </a:p>
          <a:p>
            <a:r>
              <a:rPr lang="en-US" b="0" i="0">
                <a:solidFill>
                  <a:srgbClr val="545454"/>
                </a:solidFill>
                <a:effectLst/>
                <a:latin typeface="Consolas" panose="020B0609020204030204" pitchFamily="49" charset="0"/>
                <a:cs typeface="Consolas" panose="020B0609020204030204" pitchFamily="49" charset="0"/>
              </a:rPr>
              <a:t>}</a:t>
            </a:r>
            <a:endParaRPr lang="en-US">
              <a:latin typeface="Consolas" panose="020B0609020204030204" pitchFamily="49" charset="0"/>
              <a:cs typeface="Consolas" panose="020B0609020204030204" pitchFamily="49" charset="0"/>
            </a:endParaRPr>
          </a:p>
        </p:txBody>
      </p:sp>
      <p:sp>
        <p:nvSpPr>
          <p:cNvPr id="8" name="Content Placeholder 2">
            <a:extLst>
              <a:ext uri="{FF2B5EF4-FFF2-40B4-BE49-F238E27FC236}">
                <a16:creationId xmlns:a16="http://schemas.microsoft.com/office/drawing/2014/main" id="{97121F97-4610-A77D-CADE-FA2F63D3BCD3}"/>
              </a:ext>
            </a:extLst>
          </p:cNvPr>
          <p:cNvSpPr txBox="1">
            <a:spLocks/>
          </p:cNvSpPr>
          <p:nvPr/>
        </p:nvSpPr>
        <p:spPr>
          <a:xfrm>
            <a:off x="1134290" y="1605753"/>
            <a:ext cx="8532870" cy="430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Segoe UI"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Segoe UI"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Segoe UI"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Segoe UI"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t>Send a multi-part user message with both text and images:</a:t>
            </a:r>
          </a:p>
        </p:txBody>
      </p:sp>
    </p:spTree>
    <p:extLst>
      <p:ext uri="{BB962C8B-B14F-4D97-AF65-F5344CB8AC3E}">
        <p14:creationId xmlns:p14="http://schemas.microsoft.com/office/powerpoint/2010/main" val="1265964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140A4-A64C-6607-15D9-FA3E94A0960A}"/>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3FBAAC31-854E-7080-A551-FCF0D285B300}"/>
              </a:ext>
            </a:extLst>
          </p:cNvPr>
          <p:cNvSpPr>
            <a:spLocks noGrp="1"/>
          </p:cNvSpPr>
          <p:nvPr>
            <p:ph type="title"/>
          </p:nvPr>
        </p:nvSpPr>
        <p:spPr/>
        <p:txBody>
          <a:bodyPr/>
          <a:lstStyle/>
          <a:p>
            <a:r>
              <a:rPr lang="en-US"/>
              <a:t>RAG with vision: Considerations</a:t>
            </a:r>
          </a:p>
        </p:txBody>
      </p:sp>
      <p:sp>
        <p:nvSpPr>
          <p:cNvPr id="2" name="Content Placeholder 2">
            <a:extLst>
              <a:ext uri="{FF2B5EF4-FFF2-40B4-BE49-F238E27FC236}">
                <a16:creationId xmlns:a16="http://schemas.microsoft.com/office/drawing/2014/main" id="{B93CDC58-E6FA-E593-A4B5-690E118FA198}"/>
              </a:ext>
            </a:extLst>
          </p:cNvPr>
          <p:cNvSpPr>
            <a:spLocks noGrp="1"/>
          </p:cNvSpPr>
          <p:nvPr>
            <p:ph idx="1"/>
          </p:nvPr>
        </p:nvSpPr>
        <p:spPr>
          <a:xfrm>
            <a:off x="1083506" y="1658983"/>
            <a:ext cx="11352333" cy="5364479"/>
          </a:xfrm>
        </p:spPr>
        <p:txBody>
          <a:bodyPr>
            <a:normAutofit/>
          </a:bodyPr>
          <a:lstStyle/>
          <a:p>
            <a:pPr marL="0" indent="0">
              <a:buNone/>
            </a:pPr>
            <a:r>
              <a:rPr lang="en-US" sz="2400"/>
              <a:t>👍🏼 </a:t>
            </a:r>
            <a:r>
              <a:rPr lang="en-US" sz="2400" b="1"/>
              <a:t>Benefits</a:t>
            </a:r>
          </a:p>
          <a:p>
            <a:r>
              <a:rPr lang="en-US" sz="2400"/>
              <a:t>The search step will find anything that semantically matches either the text of the document or or the images in the document.</a:t>
            </a:r>
          </a:p>
          <a:p>
            <a:r>
              <a:rPr lang="en-US" sz="2400"/>
              <a:t>The model will have access to the full image at inference-time, so they can reference details of the image that aren't in the text.</a:t>
            </a:r>
          </a:p>
          <a:p>
            <a:pPr marL="0" indent="0">
              <a:spcBef>
                <a:spcPts val="2800"/>
              </a:spcBef>
              <a:buNone/>
            </a:pPr>
            <a:r>
              <a:rPr lang="en-US" sz="2400"/>
              <a:t>👎🏼 </a:t>
            </a:r>
            <a:r>
              <a:rPr lang="en-US" sz="2400" b="1"/>
              <a:t>Drawbacks</a:t>
            </a:r>
          </a:p>
          <a:p>
            <a:r>
              <a:rPr lang="en-US" sz="2400"/>
              <a:t>Increased latency and cost during RAG flow (extra vector search, more tokens)</a:t>
            </a:r>
          </a:p>
          <a:p>
            <a:r>
              <a:rPr lang="en-US" sz="2400"/>
              <a:t>Limits your model choice to only those with multimodal support</a:t>
            </a:r>
          </a:p>
          <a:p>
            <a:pPr marL="0" indent="0">
              <a:spcBef>
                <a:spcPts val="2200"/>
              </a:spcBef>
              <a:buNone/>
            </a:pPr>
            <a:r>
              <a:rPr lang="en-US" sz="2400"/>
              <a:t>💡 </a:t>
            </a:r>
            <a:r>
              <a:rPr lang="en-US" sz="2400" b="1"/>
              <a:t>Learn more</a:t>
            </a:r>
          </a:p>
          <a:p>
            <a:r>
              <a:rPr lang="en-US" sz="2400"/>
              <a:t>Read Pamela's blog post on the process: </a:t>
            </a:r>
            <a:r>
              <a:rPr lang="en-US" sz="2400">
                <a:hlinkClick r:id="rId2"/>
              </a:rPr>
              <a:t>https://aka.ms/ragchat/vision/blog</a:t>
            </a:r>
            <a:endParaRPr lang="en-US" sz="2400"/>
          </a:p>
          <a:p>
            <a:r>
              <a:rPr lang="en-US" sz="2400"/>
              <a:t>Watch Pamela's talk on Multimedia RAG: </a:t>
            </a:r>
            <a:r>
              <a:rPr lang="en-US" sz="2400">
                <a:hlinkClick r:id="rId3"/>
              </a:rPr>
              <a:t>https://aka.ms/ragdeepdive/watch</a:t>
            </a:r>
            <a:endParaRPr lang="en-US" sz="2400"/>
          </a:p>
        </p:txBody>
      </p:sp>
    </p:spTree>
    <p:extLst>
      <p:ext uri="{BB962C8B-B14F-4D97-AF65-F5344CB8AC3E}">
        <p14:creationId xmlns:p14="http://schemas.microsoft.com/office/powerpoint/2010/main" val="36505270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6D43C-BE2A-3BA3-FE47-062467C16D67}"/>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CF2F0939-562C-8F34-F9BD-79E6E27E01E4}"/>
              </a:ext>
            </a:extLst>
          </p:cNvPr>
          <p:cNvSpPr/>
          <p:nvPr/>
        </p:nvSpPr>
        <p:spPr>
          <a:xfrm>
            <a:off x="5557947" y="809625"/>
            <a:ext cx="6004753" cy="5362576"/>
          </a:xfrm>
          <a:prstGeom prst="roundRect">
            <a:avLst>
              <a:gd name="adj" fmla="val 2125"/>
            </a:avLst>
          </a:prstGeom>
          <a:solidFill>
            <a:srgbClr val="FFFD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D7D348BA-C92C-087A-935B-72F151B2AC44}"/>
              </a:ext>
            </a:extLst>
          </p:cNvPr>
          <p:cNvSpPr>
            <a:spLocks noGrp="1"/>
          </p:cNvSpPr>
          <p:nvPr>
            <p:ph idx="13"/>
          </p:nvPr>
        </p:nvSpPr>
        <p:spPr>
          <a:xfrm>
            <a:off x="859195" y="1832691"/>
            <a:ext cx="5039899" cy="4339510"/>
          </a:xfrm>
        </p:spPr>
        <p:txBody>
          <a:bodyPr>
            <a:normAutofit lnSpcReduction="10000"/>
          </a:bodyPr>
          <a:lstStyle/>
          <a:p>
            <a:pPr marL="0" indent="0">
              <a:buNone/>
            </a:pPr>
            <a:r>
              <a:rPr lang="es-MX" sz="2600">
                <a:latin typeface="Aptos" panose="020B0004020202020204" pitchFamily="34" charset="0"/>
              </a:rPr>
              <a:t>Join upcoming streams! </a:t>
            </a:r>
            <a:r>
              <a:rPr lang="en-US" sz="2600" err="1">
                <a:latin typeface="Aptos" panose="020B0004020202020204" pitchFamily="34" charset="0"/>
                <a:cs typeface="Segoe UI" panose="020B0502040204020203" pitchFamily="34" charset="0"/>
              </a:rPr>
              <a:t>→</a:t>
            </a:r>
            <a:endParaRPr lang="es-MX" sz="2600">
              <a:latin typeface="Aptos" panose="020B0004020202020204" pitchFamily="34" charset="0"/>
            </a:endParaRPr>
          </a:p>
          <a:p>
            <a:pPr marL="0" indent="0">
              <a:spcBef>
                <a:spcPts val="2800"/>
              </a:spcBef>
              <a:buNone/>
            </a:pPr>
            <a:r>
              <a:rPr lang="es-MX" sz="2600">
                <a:latin typeface="Aptos" panose="020B0004020202020204" pitchFamily="34" charset="0"/>
              </a:rPr>
              <a:t>Come to office hours on Thursdays in Discord</a:t>
            </a:r>
          </a:p>
          <a:p>
            <a:pPr marL="0" indent="0">
              <a:buNone/>
            </a:pPr>
            <a:r>
              <a:rPr lang="es-MX" sz="2600">
                <a:latin typeface="Aptos" panose="020B0004020202020204" pitchFamily="34" charset="0"/>
              </a:rPr>
              <a:t> </a:t>
            </a:r>
            <a:r>
              <a:rPr lang="es-MX" sz="2600">
                <a:latin typeface="Aptos" panose="020B0004020202020204" pitchFamily="34" charset="0"/>
                <a:hlinkClick r:id="rId2"/>
              </a:rPr>
              <a:t>aka.ms/pythonai/oh</a:t>
            </a:r>
            <a:endParaRPr lang="es-MX" sz="2600">
              <a:latin typeface="Aptos" panose="020B0004020202020204" pitchFamily="34" charset="0"/>
            </a:endParaRPr>
          </a:p>
          <a:p>
            <a:pPr marL="0" indent="0">
              <a:spcBef>
                <a:spcPts val="3400"/>
              </a:spcBef>
              <a:buNone/>
            </a:pPr>
            <a:r>
              <a:rPr lang="es-MX" sz="2600">
                <a:latin typeface="Aptos" panose="020B0004020202020204" pitchFamily="34" charset="0"/>
              </a:rPr>
              <a:t>Sign up for AI Agents Hackathon</a:t>
            </a:r>
          </a:p>
          <a:p>
            <a:pPr marL="0" indent="0">
              <a:buNone/>
            </a:pPr>
            <a:r>
              <a:rPr lang="es-MX" sz="2600">
                <a:latin typeface="Aptos" panose="020B0004020202020204" pitchFamily="34" charset="0"/>
                <a:hlinkClick r:id="rId3"/>
              </a:rPr>
              <a:t>aka.ms/agentshack</a:t>
            </a:r>
            <a:endParaRPr lang="es-MX" sz="2600">
              <a:latin typeface="Aptos" panose="020B0004020202020204" pitchFamily="34" charset="0"/>
            </a:endParaRPr>
          </a:p>
          <a:p>
            <a:pPr marL="0" indent="0">
              <a:spcBef>
                <a:spcPts val="3400"/>
              </a:spcBef>
              <a:buNone/>
            </a:pPr>
            <a:r>
              <a:rPr lang="es-MX" sz="2600">
                <a:latin typeface="Aptos" panose="020B0004020202020204" pitchFamily="34" charset="0"/>
              </a:rPr>
              <a:t>Get more Python AI resources</a:t>
            </a:r>
          </a:p>
          <a:p>
            <a:pPr marL="0" indent="0">
              <a:buNone/>
            </a:pPr>
            <a:r>
              <a:rPr lang="es-MX" sz="2600">
                <a:latin typeface="Aptos" panose="020B0004020202020204" pitchFamily="34" charset="0"/>
                <a:hlinkClick r:id="rId4"/>
              </a:rPr>
              <a:t>aka.ms/thesource/Python_AI</a:t>
            </a:r>
            <a:endParaRPr lang="es-MX" sz="2600">
              <a:latin typeface="Aptos" panose="020B0004020202020204" pitchFamily="34" charset="0"/>
            </a:endParaRPr>
          </a:p>
        </p:txBody>
      </p:sp>
      <p:sp>
        <p:nvSpPr>
          <p:cNvPr id="3" name="Title 2">
            <a:extLst>
              <a:ext uri="{FF2B5EF4-FFF2-40B4-BE49-F238E27FC236}">
                <a16:creationId xmlns:a16="http://schemas.microsoft.com/office/drawing/2014/main" id="{4233D843-40EC-E1C7-3A23-A590A3011038}"/>
              </a:ext>
            </a:extLst>
          </p:cNvPr>
          <p:cNvSpPr>
            <a:spLocks noGrp="1"/>
          </p:cNvSpPr>
          <p:nvPr>
            <p:ph type="title"/>
          </p:nvPr>
        </p:nvSpPr>
        <p:spPr/>
        <p:txBody>
          <a:bodyPr/>
          <a:lstStyle/>
          <a:p>
            <a:r>
              <a:rPr lang="es-MX"/>
              <a:t>Next steps</a:t>
            </a:r>
          </a:p>
        </p:txBody>
      </p:sp>
      <p:sp>
        <p:nvSpPr>
          <p:cNvPr id="4" name="Content Placeholder 2">
            <a:extLst>
              <a:ext uri="{FF2B5EF4-FFF2-40B4-BE49-F238E27FC236}">
                <a16:creationId xmlns:a16="http://schemas.microsoft.com/office/drawing/2014/main" id="{734022E3-6896-5817-EE1A-D33D2F048642}"/>
              </a:ext>
            </a:extLst>
          </p:cNvPr>
          <p:cNvSpPr txBox="1">
            <a:spLocks/>
          </p:cNvSpPr>
          <p:nvPr/>
        </p:nvSpPr>
        <p:spPr>
          <a:xfrm>
            <a:off x="5674333" y="1409700"/>
            <a:ext cx="6104131" cy="354294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a:latin typeface="Aptos" panose="020B0004020202020204" pitchFamily="34" charset="0"/>
                <a:cs typeface="Segoe UI" panose="020B0502040204020203" pitchFamily="34" charset="0"/>
              </a:rPr>
              <a:t>🧠  3/11: LLMs</a:t>
            </a:r>
          </a:p>
          <a:p>
            <a:pPr marL="0" indent="0">
              <a:buFont typeface="Arial" panose="020B0604020202020204" pitchFamily="34" charset="0"/>
              <a:buNone/>
            </a:pPr>
            <a:r>
              <a:rPr lang="en-US" sz="3600">
                <a:latin typeface="Aptos" panose="020B0004020202020204" pitchFamily="34" charset="0"/>
                <a:cs typeface="Segoe UI" panose="020B0502040204020203" pitchFamily="34" charset="0"/>
              </a:rPr>
              <a:t>↖️  3/13: Vector embeddings</a:t>
            </a:r>
          </a:p>
          <a:p>
            <a:pPr marL="0" indent="0">
              <a:buFont typeface="Arial" panose="020B0604020202020204" pitchFamily="34" charset="0"/>
              <a:buNone/>
            </a:pPr>
            <a:r>
              <a:rPr lang="en-US" sz="3600">
                <a:latin typeface="Aptos" panose="020B0004020202020204" pitchFamily="34" charset="0"/>
                <a:cs typeface="Segoe UI" panose="020B0502040204020203" pitchFamily="34" charset="0"/>
              </a:rPr>
              <a:t>🔍  3/18: RAG</a:t>
            </a:r>
          </a:p>
          <a:p>
            <a:pPr marL="0" indent="0">
              <a:buFont typeface="Arial" panose="020B0604020202020204" pitchFamily="34" charset="0"/>
              <a:buNone/>
            </a:pPr>
            <a:r>
              <a:rPr lang="en-US" sz="3600">
                <a:latin typeface="Aptos" panose="020B0004020202020204" pitchFamily="34" charset="0"/>
                <a:cs typeface="Segoe UI" panose="020B0502040204020203" pitchFamily="34" charset="0"/>
              </a:rPr>
              <a:t>🖼️ 3/20: Vision models</a:t>
            </a:r>
          </a:p>
          <a:p>
            <a:pPr marL="0" indent="0">
              <a:buFont typeface="Arial" panose="020B0604020202020204" pitchFamily="34" charset="0"/>
              <a:buNone/>
            </a:pPr>
            <a:r>
              <a:rPr lang="en-US" sz="3600">
                <a:latin typeface="Aptos" panose="020B0004020202020204" pitchFamily="34" charset="0"/>
                <a:cs typeface="Segoe UI" panose="020B0502040204020203" pitchFamily="34" charset="0"/>
              </a:rPr>
              <a:t>🛠️ 3/25: Structured outputs</a:t>
            </a:r>
          </a:p>
          <a:p>
            <a:pPr marL="0" indent="0">
              <a:buFont typeface="Arial" panose="020B0604020202020204" pitchFamily="34" charset="0"/>
              <a:buNone/>
            </a:pPr>
            <a:r>
              <a:rPr lang="en-US" sz="3600">
                <a:latin typeface="Aptos" panose="020B0004020202020204" pitchFamily="34" charset="0"/>
                <a:cs typeface="Segoe UI" panose="020B0502040204020203" pitchFamily="34" charset="0"/>
              </a:rPr>
              <a:t>🛡️ 3/27: Quality &amp; Safety</a:t>
            </a:r>
          </a:p>
        </p:txBody>
      </p:sp>
      <p:sp>
        <p:nvSpPr>
          <p:cNvPr id="6" name="Content Placeholder 2">
            <a:extLst>
              <a:ext uri="{FF2B5EF4-FFF2-40B4-BE49-F238E27FC236}">
                <a16:creationId xmlns:a16="http://schemas.microsoft.com/office/drawing/2014/main" id="{002CC686-3A8B-F5AD-1674-6FBA919868A7}"/>
              </a:ext>
            </a:extLst>
          </p:cNvPr>
          <p:cNvSpPr txBox="1">
            <a:spLocks/>
          </p:cNvSpPr>
          <p:nvPr/>
        </p:nvSpPr>
        <p:spPr>
          <a:xfrm>
            <a:off x="5721612" y="5155253"/>
            <a:ext cx="5677423" cy="3617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a:latin typeface="Aptos" panose="020B0004020202020204" pitchFamily="34" charset="0"/>
                <a:cs typeface="Segoe UI" panose="020B0502040204020203" pitchFamily="34" charset="0"/>
              </a:rPr>
              <a:t>Register @ </a:t>
            </a:r>
            <a:r>
              <a:rPr lang="en-US" sz="2400">
                <a:latin typeface="Aptos" panose="020B0004020202020204" pitchFamily="34" charset="0"/>
                <a:hlinkClick r:id="rId5"/>
              </a:rPr>
              <a:t>aka.ms/PythonAI/series</a:t>
            </a:r>
            <a:endParaRPr lang="en-US" sz="2400">
              <a:latin typeface="Aptos" panose="020B0004020202020204" pitchFamily="34" charset="0"/>
            </a:endParaRPr>
          </a:p>
        </p:txBody>
      </p:sp>
      <p:sp>
        <p:nvSpPr>
          <p:cNvPr id="5" name="Content Placeholder 2">
            <a:extLst>
              <a:ext uri="{FF2B5EF4-FFF2-40B4-BE49-F238E27FC236}">
                <a16:creationId xmlns:a16="http://schemas.microsoft.com/office/drawing/2014/main" id="{2174F5F6-EEEC-59AD-94D5-BBF807E12F0D}"/>
              </a:ext>
            </a:extLst>
          </p:cNvPr>
          <p:cNvSpPr txBox="1">
            <a:spLocks/>
          </p:cNvSpPr>
          <p:nvPr/>
        </p:nvSpPr>
        <p:spPr>
          <a:xfrm>
            <a:off x="5496532" y="5598930"/>
            <a:ext cx="1825079" cy="3617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400">
                <a:latin typeface="Aptos" panose="020B0004020202020204" pitchFamily="34" charset="0"/>
                <a:cs typeface="Segoe UI" panose="020B0502040204020203" pitchFamily="34" charset="0"/>
              </a:rPr>
              <a:t>Catch up @</a:t>
            </a:r>
          </a:p>
        </p:txBody>
      </p:sp>
      <p:sp>
        <p:nvSpPr>
          <p:cNvPr id="8" name="TextBox 7">
            <a:extLst>
              <a:ext uri="{FF2B5EF4-FFF2-40B4-BE49-F238E27FC236}">
                <a16:creationId xmlns:a16="http://schemas.microsoft.com/office/drawing/2014/main" id="{84F07B86-18BF-B0FD-A069-E0D5053F1498}"/>
              </a:ext>
            </a:extLst>
          </p:cNvPr>
          <p:cNvSpPr txBox="1"/>
          <p:nvPr/>
        </p:nvSpPr>
        <p:spPr>
          <a:xfrm>
            <a:off x="7213878" y="5562282"/>
            <a:ext cx="4516034" cy="461665"/>
          </a:xfrm>
          <a:prstGeom prst="rect">
            <a:avLst/>
          </a:prstGeom>
          <a:noFill/>
        </p:spPr>
        <p:txBody>
          <a:bodyPr wrap="square">
            <a:spAutoFit/>
          </a:bodyPr>
          <a:lstStyle/>
          <a:p>
            <a:r>
              <a:rPr lang="en-US" sz="2400">
                <a:latin typeface="Aptos" panose="020B0004020202020204" pitchFamily="34" charset="0"/>
                <a:hlinkClick r:id="rId6"/>
              </a:rPr>
              <a:t>aka.ms/PythonAI/recordings</a:t>
            </a:r>
            <a:endParaRPr lang="en-US" sz="2400">
              <a:latin typeface="Aptos" panose="020B0004020202020204" pitchFamily="34" charset="0"/>
            </a:endParaRPr>
          </a:p>
        </p:txBody>
      </p:sp>
    </p:spTree>
    <p:extLst>
      <p:ext uri="{BB962C8B-B14F-4D97-AF65-F5344CB8AC3E}">
        <p14:creationId xmlns:p14="http://schemas.microsoft.com/office/powerpoint/2010/main" val="15813287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8FF3-67E2-9D65-63BC-3A79C1D78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86DA3-641F-E5DF-6FC7-61C8DDD6B859}"/>
              </a:ext>
            </a:extLst>
          </p:cNvPr>
          <p:cNvSpPr>
            <a:spLocks noGrp="1"/>
          </p:cNvSpPr>
          <p:nvPr>
            <p:ph type="title"/>
          </p:nvPr>
        </p:nvSpPr>
        <p:spPr/>
        <p:txBody>
          <a:bodyPr/>
          <a:lstStyle/>
          <a:p>
            <a:r>
              <a:rPr lang="es-MX"/>
              <a:t>Thank you!</a:t>
            </a:r>
          </a:p>
        </p:txBody>
      </p:sp>
    </p:spTree>
    <p:extLst>
      <p:ext uri="{BB962C8B-B14F-4D97-AF65-F5344CB8AC3E}">
        <p14:creationId xmlns:p14="http://schemas.microsoft.com/office/powerpoint/2010/main" val="131812030"/>
      </p:ext>
    </p:extLst>
  </p:cSld>
  <p:clrMapOvr>
    <a:masterClrMapping/>
  </p:clrMapOvr>
</p:sld>
</file>

<file path=ppt/theme/theme1.xml><?xml version="1.0" encoding="utf-8"?>
<a:theme xmlns:a="http://schemas.openxmlformats.org/drawingml/2006/main" name="ppt8D3B.tmp">
  <a:themeElements>
    <a:clrScheme name="보라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2028</TotalTime>
  <Words>3469</Words>
  <Application>Microsoft Office PowerPoint</Application>
  <PresentationFormat>와이드스크린</PresentationFormat>
  <Paragraphs>480</Paragraphs>
  <Slides>41</Slides>
  <Notes>4</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41</vt:i4>
      </vt:variant>
    </vt:vector>
  </HeadingPairs>
  <TitlesOfParts>
    <vt:vector size="51" baseType="lpstr">
      <vt:lpstr>Aptos</vt:lpstr>
      <vt:lpstr>Aptos Display</vt:lpstr>
      <vt:lpstr>Aptos Display (Headings)</vt:lpstr>
      <vt:lpstr>Menlo</vt:lpstr>
      <vt:lpstr>Arial</vt:lpstr>
      <vt:lpstr>Consolas</vt:lpstr>
      <vt:lpstr>Segoe UI</vt:lpstr>
      <vt:lpstr>Segoe UI Semibold</vt:lpstr>
      <vt:lpstr>Wingdings</vt:lpstr>
      <vt:lpstr>ppt8D3B.tmp</vt:lpstr>
      <vt:lpstr>PowerPoint 프레젠테이션</vt:lpstr>
      <vt:lpstr>PowerPoint 프레젠테이션</vt:lpstr>
      <vt:lpstr>Python + AI</vt:lpstr>
      <vt:lpstr>Today we'll cover...</vt:lpstr>
      <vt:lpstr>Want to follow along?</vt:lpstr>
      <vt:lpstr>Multimodal LLMs</vt:lpstr>
      <vt:lpstr>What's a multimodal LLM?</vt:lpstr>
      <vt:lpstr>Multimodal LLMs on Azure/GitHub</vt:lpstr>
      <vt:lpstr>Sending images with OpenAI SDK in Python</vt:lpstr>
      <vt:lpstr>Sending images with base64-encoded URI</vt:lpstr>
      <vt:lpstr>Popular use cases</vt:lpstr>
      <vt:lpstr>Sending documents that aren't images (yet)</vt:lpstr>
      <vt:lpstr>Converting PDFs to images</vt:lpstr>
      <vt:lpstr>Multimodal LLMs for OCR?</vt:lpstr>
      <vt:lpstr>Building apps with vision models</vt:lpstr>
      <vt:lpstr>Open-source template: chat with vision</vt:lpstr>
      <vt:lpstr>Chat with vision: Flow</vt:lpstr>
      <vt:lpstr>Chat with vision: App architecture</vt:lpstr>
      <vt:lpstr>Encoding images in frontend (Simplified)</vt:lpstr>
      <vt:lpstr>Handling images in backend (Simplified)</vt:lpstr>
      <vt:lpstr>Alternate ways to handle image upload</vt:lpstr>
      <vt:lpstr>Multimodal embedding models</vt:lpstr>
      <vt:lpstr>Want to follow along?</vt:lpstr>
      <vt:lpstr>Azure AI Vision: Multimodal embeddings API</vt:lpstr>
      <vt:lpstr>Azure AI Vision: Calling API from Python</vt:lpstr>
      <vt:lpstr>Vector search with multimodal embeddings</vt:lpstr>
      <vt:lpstr>Open source template: Image search</vt:lpstr>
      <vt:lpstr>RAG with vision models</vt:lpstr>
      <vt:lpstr>Open-source template: RAG with vision support</vt:lpstr>
      <vt:lpstr>RAG with vision: Flow</vt:lpstr>
      <vt:lpstr>Data ingestion with vision models</vt:lpstr>
      <vt:lpstr>Example ingestion: Generate page images</vt:lpstr>
      <vt:lpstr>Example ingestion: Store page images</vt:lpstr>
      <vt:lpstr>Example ingestion: Vectorize image</vt:lpstr>
      <vt:lpstr>Example ingestion: Index image &amp; text</vt:lpstr>
      <vt:lpstr>RAG with vision: Flow (revisited)</vt:lpstr>
      <vt:lpstr>RAG with vision: System prompt</vt:lpstr>
      <vt:lpstr>RAG with vision: Chat completion messages</vt:lpstr>
      <vt:lpstr>RAG with vision: Considerations</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Abril Ureña</dc:creator>
  <cp:lastModifiedBy>Taewony Kim</cp:lastModifiedBy>
  <cp:revision>4</cp:revision>
  <dcterms:created xsi:type="dcterms:W3CDTF">2025-02-24T19:33:09Z</dcterms:created>
  <dcterms:modified xsi:type="dcterms:W3CDTF">2026-04-28T06:05:40Z</dcterms:modified>
</cp:coreProperties>
</file>