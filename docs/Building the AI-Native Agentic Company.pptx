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Urbanist" panose="020B0600000101010101" charset="0"/>
      <p:regular r:id="rId26"/>
      <p:bold r:id="rId27"/>
      <p:italic r:id="rId28"/>
      <p:boldItalic r:id="rId29"/>
    </p:embeddedFont>
    <p:embeddedFont>
      <p:font typeface="Urbanist ExtraBold" panose="020B0600000101010101" charset="0"/>
      <p:bold r:id="rId30"/>
      <p:boldItalic r:id="rId31"/>
    </p:embeddedFont>
    <p:embeddedFont>
      <p:font typeface="Urbanist SemiBold" panose="020B0600000101010101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B525B9-539A-46DE-87BB-8053DAEBC6AD}">
  <a:tblStyle styleId="{AEB525B9-539A-46DE-87BB-8053DAEBC6A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6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2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64877" y="2179290"/>
            <a:ext cx="10462245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Building the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 AI-Native Agentic Company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13978" y="4084290"/>
            <a:ext cx="9964042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CS 4th Year Practicum: From Branding to RAG Implementation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4575"/>
            <a:ext cx="5334000" cy="306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14575"/>
            <a:ext cx="5334000" cy="30669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705100"/>
            <a:ext cx="478059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The Old Model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105150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Humans in the Loop: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Humans perform manual coding, debugging, and task execution.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825180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Workflow: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Write Code → Compile/Deploy → Software Runs.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454521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4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Scalability limited by human hours.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2705100"/>
            <a:ext cx="478059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The AI-Native Model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77025" y="3105150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Humans as Orchestrators: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Humans design high-level systems and orchestrate agents.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77025" y="3825180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Workflow: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Design System → AI Generates Code → Human Validates.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454521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4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High-level cognitive orchestration.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4592835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592835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The Paradigm Shift in Engineering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524000" y="2417415"/>
            <a:ext cx="91440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AI is not merely replacing jobs. It is transforming white-collar knowledge work into human-AI collaboration. 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42652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— Insights from the Alon Lubieniecki (Luby) CEO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2226915"/>
            <a:ext cx="338137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1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5527"/>
            <a:ext cx="2547937" cy="2584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55527"/>
            <a:ext cx="2547937" cy="2584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55527"/>
            <a:ext cx="2547937" cy="2584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555527"/>
            <a:ext cx="2547937" cy="258499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17840" y="3469927"/>
            <a:ext cx="205525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Product Layer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3850927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AI Product Builders guide generation and validation.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651527" y="3469927"/>
            <a:ext cx="205525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Coordination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700462" y="3850927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Multi-agent ecosystems and automation checkpoints.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485215" y="3469927"/>
            <a:ext cx="205525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Layer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534150" y="3850927"/>
            <a:ext cx="1957387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Knowledge Architects structure RAG pipelines.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318902" y="3469927"/>
            <a:ext cx="205525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Governance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367837" y="3850927"/>
            <a:ext cx="1957387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Auditors test for bias, security, and compliance.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97235" y="287937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30923" y="287937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64610" y="287937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98298" y="2879377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The AI-Native Organization Stack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4559647"/>
            <a:ext cx="341386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Product Builder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4940647"/>
            <a:ext cx="32512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Evolves from manual coding to architecture &amp; product definition.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108549" y="4559647"/>
            <a:ext cx="39076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Orchestrator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108549" y="4940647"/>
            <a:ext cx="3721596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Coordinates multi-agent workflows (Agent 1: Research, Agent 2: Writing).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115895" y="4559647"/>
            <a:ext cx="367999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Knowledge Architect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115895" y="4940647"/>
            <a:ext cx="350475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Transforms messy corporate data into structured vector context.</a:t>
            </a:r>
            <a:endParaRPr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5522"/>
            <a:ext cx="325129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08549" y="2035522"/>
            <a:ext cx="3721596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5895" y="2035522"/>
            <a:ext cx="3504753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Builders &amp; Orchestrators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571500" y="408622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16254" y="2202209"/>
            <a:ext cx="23202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1: Planning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2583209"/>
            <a:ext cx="2209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Humans define goals and constraints.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3462605" y="3726209"/>
            <a:ext cx="23202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2: Assign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3517850" y="4107209"/>
            <a:ext cx="2209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Orchestrator delegates to sub-agents.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408955" y="2202209"/>
            <a:ext cx="23202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3: Synthesis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464200" y="2583209"/>
            <a:ext cx="2209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AI integrates multi-agent outputs.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355306" y="3726209"/>
            <a:ext cx="23202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4: Validation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410551" y="4107209"/>
            <a:ext cx="2209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Human-in-the-loop verification.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Agentic Execution Workflow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581150" y="3990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527500" y="3990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473850" y="3990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10420201" y="3990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209550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 Identity: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Using Generative AI for logo, color palettes, and typography.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283458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Tone of Voice: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Training agents to mimic the unique brand personality across content.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357366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Strategy: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AI agents perform market research and sentiment analysis.</a:t>
            </a:r>
            <a:endParaRPr/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4310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2883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6791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06998"/>
            <a:ext cx="13349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Phase 1: AI-Driven Branding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7519"/>
            <a:ext cx="5334000" cy="2621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37519"/>
            <a:ext cx="5334000" cy="2621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1243607" y="2928044"/>
            <a:ext cx="448493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Agentic Coding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62025" y="3328094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Using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Cursor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or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Claude Code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orchestrate complex frontend development.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962025" y="40481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Agents handle HTML/CSS generation and interactivity implementation.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958607" y="2928044"/>
            <a:ext cx="448493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Dynamic Content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677025" y="3328094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Automated copy generation tailored to different user segments.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677025" y="40481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SEO optimization agents to boost organic reach and engagement.</a:t>
            </a:r>
            <a:endParaRPr/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943671"/>
            <a:ext cx="138707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943671"/>
            <a:ext cx="138707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Phase 2: Promotional Web Systems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4101"/>
            <a:ext cx="4953000" cy="64263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762000" y="571500"/>
            <a:ext cx="5000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Phase 3: RAG Service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1409700"/>
            <a:ext cx="52006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Retrieval-Augmented Generation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1790700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core of modern customer support. Agents don't just "chat"; they search institutional knowledge to provide factual, grounded answers.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278502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Documents → Chunking → Embeddings → Vector Database Search.</a:t>
            </a:r>
            <a:endParaRPr/>
          </a:p>
        </p:txBody>
      </p:sp>
      <p:pic>
        <p:nvPicPr>
          <p:cNvPr id="215" name="Google Shape;21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3666976"/>
            <a:ext cx="4667250" cy="356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22"/>
          <p:cNvGraphicFramePr/>
          <p:nvPr>
            <p:extLst>
              <p:ext uri="{D42A27DB-BD31-4B8C-83A1-F6EECF244321}">
                <p14:modId xmlns:p14="http://schemas.microsoft.com/office/powerpoint/2010/main" val="125718925"/>
              </p:ext>
            </p:extLst>
          </p:nvPr>
        </p:nvGraphicFramePr>
        <p:xfrm>
          <a:off x="571500" y="2232719"/>
          <a:ext cx="11049000" cy="3230750"/>
        </p:xfrm>
        <a:graphic>
          <a:graphicData uri="http://schemas.openxmlformats.org/drawingml/2006/table">
            <a:tbl>
              <a:tblPr firstRow="1" bandRow="1">
                <a:noFill/>
                <a:tableStyleId>{AEB525B9-539A-46DE-87BB-8053DAEBC6AD}</a:tableStyleId>
              </a:tblPr>
              <a:tblGrid>
                <a:gridCol w="22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Domain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Tools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Agentic/AI-Native Stack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Coding</a:t>
                      </a:r>
                      <a:endParaRPr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VS Code, Sublime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Cursor, GitHub Copilot, Claude Code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Orchestration</a:t>
                      </a:r>
                      <a:endParaRPr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Jenkins, Bash</a:t>
                      </a:r>
                      <a:endParaRPr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CrewAI, AutoGen, LangChain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Data/Search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MySQL, </a:t>
                      </a:r>
                      <a:r>
                        <a:rPr lang="en-US" sz="180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ElasticSearch</a:t>
                      </a:r>
                      <a:endParaRPr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Pinecone, </a:t>
                      </a:r>
                      <a:r>
                        <a:rPr lang="en-US" sz="1800" b="1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Weaviate</a:t>
                      </a:r>
                      <a:r>
                        <a:rPr lang="en-US" sz="1800" b="1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800" b="1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LlamaIndex</a:t>
                      </a:r>
                      <a:endParaRPr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Automation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Zapier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Zapier AI, Make.com Agentic Flows</a:t>
                      </a:r>
                      <a:endParaRPr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3" name="Google Shape;223;p22"/>
          <p:cNvSpPr/>
          <p:nvPr/>
        </p:nvSpPr>
        <p:spPr>
          <a:xfrm>
            <a:off x="571500" y="2775644"/>
            <a:ext cx="226203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2833538" y="2775644"/>
            <a:ext cx="336247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196012" y="2775644"/>
            <a:ext cx="542448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71500" y="3454747"/>
            <a:ext cx="2262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2833538" y="3454747"/>
            <a:ext cx="3362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6196012" y="3454747"/>
            <a:ext cx="5424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71500" y="4119562"/>
            <a:ext cx="2262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2833538" y="4119562"/>
            <a:ext cx="3362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6196012" y="4119562"/>
            <a:ext cx="5424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4784377"/>
            <a:ext cx="2262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2833538" y="4784377"/>
            <a:ext cx="3362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6196012" y="4784377"/>
            <a:ext cx="5424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500" y="5449192"/>
            <a:ext cx="2262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2833538" y="5449192"/>
            <a:ext cx="3362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6196012" y="5449192"/>
            <a:ext cx="5424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Agentic Era Technical Stack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571500" y="5615880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"You cannot simply hire your way into an AI-Native organization. You have to build it."</a:t>
            </a:r>
            <a:endParaRPr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Strategic Talent Evolution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196FA-55F3-4592-9EE0-B13D90954065}"/>
              </a:ext>
            </a:extLst>
          </p:cNvPr>
          <p:cNvSpPr txBox="1"/>
          <p:nvPr/>
        </p:nvSpPr>
        <p:spPr>
          <a:xfrm>
            <a:off x="4910667" y="4140200"/>
            <a:ext cx="65362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회사가 </a:t>
            </a:r>
            <a:r>
              <a:rPr lang="en-US" altLang="ko-KR" dirty="0">
                <a:highlight>
                  <a:srgbClr val="FFFF00"/>
                </a:highlight>
              </a:rPr>
              <a:t>AI </a:t>
            </a:r>
            <a:r>
              <a:rPr lang="ko-KR" altLang="en-US" dirty="0">
                <a:highlight>
                  <a:srgbClr val="FFFF00"/>
                </a:highlight>
              </a:rPr>
              <a:t>중심으로 전환하기 위해서는 단순히 외부의 </a:t>
            </a:r>
            <a:r>
              <a:rPr lang="en-US" altLang="ko-KR" dirty="0">
                <a:highlight>
                  <a:srgbClr val="FFFF00"/>
                </a:highlight>
              </a:rPr>
              <a:t>AI </a:t>
            </a:r>
            <a:r>
              <a:rPr lang="ko-KR" altLang="en-US" dirty="0">
                <a:highlight>
                  <a:srgbClr val="FFFF00"/>
                </a:highlight>
              </a:rPr>
              <a:t>전문가 몇 명을 돈을 주고 고용하는 </a:t>
            </a:r>
            <a:r>
              <a:rPr lang="en-US" altLang="ko-KR" dirty="0">
                <a:highlight>
                  <a:srgbClr val="FFFF00"/>
                </a:highlight>
              </a:rPr>
              <a:t>'</a:t>
            </a:r>
            <a:r>
              <a:rPr lang="ko-KR" altLang="en-US" dirty="0">
                <a:highlight>
                  <a:srgbClr val="FFFF00"/>
                </a:highlight>
              </a:rPr>
              <a:t>쉬운 길</a:t>
            </a:r>
            <a:r>
              <a:rPr lang="en-US" altLang="ko-KR" dirty="0">
                <a:highlight>
                  <a:srgbClr val="FFFF00"/>
                </a:highlight>
              </a:rPr>
              <a:t>'</a:t>
            </a:r>
            <a:r>
              <a:rPr lang="ko-KR" altLang="en-US" dirty="0">
                <a:highlight>
                  <a:srgbClr val="FFFF00"/>
                </a:highlight>
              </a:rPr>
              <a:t>은 없다</a:t>
            </a:r>
            <a:r>
              <a:rPr lang="en-US" altLang="ko-KR" dirty="0">
                <a:highlight>
                  <a:srgbClr val="FFFF00"/>
                </a:highlight>
              </a:rPr>
              <a:t>. 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기업은 </a:t>
            </a:r>
            <a:r>
              <a:rPr lang="ko-KR" altLang="en-US" b="1" dirty="0">
                <a:highlight>
                  <a:srgbClr val="FFFF00"/>
                </a:highlight>
              </a:rPr>
              <a:t>기존 직원들의 역량을 강화하고</a:t>
            </a:r>
            <a:r>
              <a:rPr lang="en-US" altLang="ko-KR" b="1" dirty="0">
                <a:highlight>
                  <a:srgbClr val="FFFF00"/>
                </a:highlight>
              </a:rPr>
              <a:t>, </a:t>
            </a:r>
            <a:r>
              <a:rPr lang="ko-KR" altLang="en-US" b="1" dirty="0">
                <a:highlight>
                  <a:srgbClr val="FFFF00"/>
                </a:highlight>
              </a:rPr>
              <a:t>일하는 방식을 재설계하며</a:t>
            </a:r>
            <a:r>
              <a:rPr lang="en-US" altLang="ko-KR" b="1" dirty="0">
                <a:highlight>
                  <a:srgbClr val="FFFF00"/>
                </a:highlight>
              </a:rPr>
              <a:t>, </a:t>
            </a:r>
            <a:r>
              <a:rPr lang="ko-KR" altLang="en-US" b="1" dirty="0">
                <a:highlight>
                  <a:srgbClr val="FFFF00"/>
                </a:highlight>
              </a:rPr>
              <a:t>내부에서부터 스스로 </a:t>
            </a:r>
            <a:r>
              <a:rPr lang="en-US" altLang="ko-KR" b="1" dirty="0">
                <a:highlight>
                  <a:srgbClr val="FFFF00"/>
                </a:highlight>
              </a:rPr>
              <a:t>AI </a:t>
            </a:r>
            <a:r>
              <a:rPr lang="ko-KR" altLang="en-US" b="1" dirty="0">
                <a:highlight>
                  <a:srgbClr val="FFFF00"/>
                </a:highlight>
              </a:rPr>
              <a:t>역량을 </a:t>
            </a:r>
            <a:r>
              <a:rPr lang="en-US" altLang="ko-KR" b="1" dirty="0">
                <a:highlight>
                  <a:srgbClr val="FFFF00"/>
                </a:highlight>
              </a:rPr>
              <a:t>'</a:t>
            </a:r>
            <a:r>
              <a:rPr lang="ko-KR" altLang="en-US" b="1" dirty="0">
                <a:highlight>
                  <a:srgbClr val="FFFF00"/>
                </a:highlight>
              </a:rPr>
              <a:t>구축</a:t>
            </a:r>
            <a:r>
              <a:rPr lang="en-US" altLang="ko-KR" b="1" dirty="0">
                <a:highlight>
                  <a:srgbClr val="FFFF00"/>
                </a:highlight>
              </a:rPr>
              <a:t>(Build)'</a:t>
            </a:r>
            <a:r>
              <a:rPr lang="ko-KR" altLang="en-US" b="1" dirty="0">
                <a:highlight>
                  <a:srgbClr val="FFFF00"/>
                </a:highlight>
              </a:rPr>
              <a:t>해 나가야만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진정한 </a:t>
            </a:r>
            <a:r>
              <a:rPr lang="en-US" altLang="ko-KR" dirty="0">
                <a:highlight>
                  <a:srgbClr val="FFFF00"/>
                </a:highlight>
              </a:rPr>
              <a:t>AI </a:t>
            </a:r>
            <a:r>
              <a:rPr lang="ko-KR" altLang="en-US" dirty="0">
                <a:highlight>
                  <a:srgbClr val="FFFF00"/>
                </a:highlight>
              </a:rPr>
              <a:t>네이티브 조직으로 살아남을 수 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00D4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Expansion Strategy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924050"/>
            <a:ext cx="1104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From </a:t>
            </a:r>
            <a:r>
              <a:rPr lang="en-US" sz="24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Coding Agents </a:t>
            </a:r>
            <a:r>
              <a:rPr lang="en-US" sz="24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 AI-Native Business Orchestration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143500" y="2762250"/>
            <a:ext cx="1905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8432"/>
            <a:ext cx="5286375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18432"/>
            <a:ext cx="52863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333500" y="2913757"/>
            <a:ext cx="434054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의도 정의: DESIGN.md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54240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소프트웨어 설계를 넘어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비즈니스 의사결정의 북극성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으로 확장합니다.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134225" y="2913757"/>
            <a:ext cx="430053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행동 지침: SKILL.md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354240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에이전트가 특정 도메인에서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전문가처럼 행동하게 하는 SOP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입니다.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980432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114425" y="426630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52525" y="426630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Market Fit: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타겟 세그먼트 및 브랜드 톤 정의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14425" y="469493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52525" y="4694932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Architecture: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에이전트 간 협업 거버넌스 설계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14425" y="512355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512355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Goals: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검증 가능한 비즈니스 KPI 명시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298043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877050" y="426630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915150" y="426630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Reusable: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반복되는 비즈니스 프로세스의 모듈화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77050" y="469493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915150" y="4694932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Contextual: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도메인별 페르소나 및 금지 규칙 설정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877050" y="512355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915150" y="512355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Tools: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외부 API(CRM, 광고 등) 연결 가이드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"SPEC-DRIVEN" ORGANIZATION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431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218911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Claude Code &amp; Antigravity 2.0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7415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단순한 코드 생성을 넘어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'터미널 기반의 실시간 오케스트레이션'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능력을 배양해야 합니다.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895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"코드에서 배운 오케스트레이션이 비즈니스 운영의 핵심 역량이 됩니다."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3837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14400" y="35988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52500" y="359881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File-Aware Reasoning: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프로젝트 전체 컨텍스트를 읽고 수정하는 에이전트 다루기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14400" y="431318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52500" y="43131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Multi-turn Planning: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복잡한 비즈니스 문제를 하위 태스크로 쪼개는 능력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50275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52500" y="502756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Self-Correction: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에이전트의 오류를 DESIGN.md 기반으로 교정하는 가이드라인 수립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MASTER THE AGENT BACKBONE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6094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66094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66094"/>
            <a:ext cx="3492549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857250" y="3709094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Growth Skill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57250" y="4261544"/>
            <a:ext cx="2921049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MARKETING.md 기반으로 광고 카피 생성, SEO 분석, 소셜 포스팅 에이전트 오케스트레이션.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35549" y="3709094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Operation Skill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35549" y="4261544"/>
            <a:ext cx="2921049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SUPPORT.md와 RAG 파이프라인을 연결하여 24/7 자동 고객 대응 및 이슈 요약 리포팅.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13849" y="3709094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Strategy Skill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413849" y="4261544"/>
            <a:ext cx="2921049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STRATEGY.md 기반 데이터 분석 에이전트가 시장 동향을 파악하고 의사결정 초안 작성.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8899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28899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849" y="2889944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ORCHESTRATING BUSINESS DOMAINS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7"/>
          <p:cNvGraphicFramePr/>
          <p:nvPr/>
        </p:nvGraphicFramePr>
        <p:xfrm>
          <a:off x="571500" y="2532757"/>
          <a:ext cx="11049000" cy="32956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6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D4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역량 구분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D4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전통적 SW 엔지니어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D4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AI-Native Conductor (Future)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핵심 기술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프로그래밍 언어 문법 (Syntax)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의도 정의 및 오케스트레이션 (Intent)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작업 단위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코드 라인, 함수 구현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에이전트 워크플로우 및 스택 설계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도메인 지식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기술적 스택에 국한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비즈니스/산업 도메인으로의 무한 확장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가치 창출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기능 구현 (Feature)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자율 실행 시스템 구축 (Autonomous System)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8" name="Google Shape;158;p17"/>
          <p:cNvSpPr/>
          <p:nvPr/>
        </p:nvSpPr>
        <p:spPr>
          <a:xfrm>
            <a:off x="571500" y="3209032"/>
            <a:ext cx="1762273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333773" y="3209032"/>
            <a:ext cx="3782317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116091" y="3209032"/>
            <a:ext cx="5504408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1500" y="3871019"/>
            <a:ext cx="17622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333773" y="3871019"/>
            <a:ext cx="37823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116091" y="3871019"/>
            <a:ext cx="55044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4518719"/>
            <a:ext cx="17622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333773" y="4518719"/>
            <a:ext cx="37823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116091" y="4518719"/>
            <a:ext cx="55044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71500" y="5166419"/>
            <a:ext cx="17622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333773" y="5166419"/>
            <a:ext cx="37823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116091" y="5166419"/>
            <a:ext cx="55044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71500" y="5814119"/>
            <a:ext cx="17622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333773" y="5814119"/>
            <a:ext cx="37823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116091" y="5814119"/>
            <a:ext cx="55044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AI-NATIVE LEADERSHIP SHIFT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571500" y="488543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"인원을 늘려 확장하는 것이 아니라, 에이전트 인프라를 최적화하여 무한히 확장합니다."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38225" y="2799457"/>
            <a:ext cx="24669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0D4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100x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038225" y="4037707"/>
            <a:ext cx="2466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Productivity Multiplier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4438650" y="2799457"/>
            <a:ext cx="27336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0D4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80%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4438650" y="4037707"/>
            <a:ext cx="2733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Operational Cost Reduction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105775" y="2799457"/>
            <a:ext cx="3048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0D4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Tiny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105775" y="4037707"/>
            <a:ext cx="304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Team Size (1 Human + Agents)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100X BUSINESS LEVERAGE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571500" y="355193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507968" y="3494782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Month 1-3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1727745" y="396150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571500" y="4380607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Agentic Coding Mastery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Claude Code/Antigravity를 이용한 풀스택 개발 숙달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3343888" y="3494782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Month 4-6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563665" y="396150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3407419" y="4380607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Domain Expansion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마케팅/운영 등 비도메인 업무의 SKILL.md 모듈화 연습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179808" y="3494782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Month 7-9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7399585" y="396150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243339" y="4380607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RAG &amp; System Design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기업용 지식 아키텍처 및 오케스트레이션 거버넌스 구축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015728" y="3494782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Month 10-12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10235505" y="396150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9079259" y="4380607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AI-Native Founder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에이전트 팀 기반의 자율 실행 기업/프로젝트 런칭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12-MONTH MASTERY STRATEGY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295275" y="57150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Build the Future,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0" i="0" u="none" strike="noStrike" cap="none">
                <a:solidFill>
                  <a:srgbClr val="00D4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Don't Just Code It.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71500" y="2533650"/>
            <a:ext cx="11049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여러분이 에이전트와 대화하며 코드를 짜는 그 방식이,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내일의 기업을 운영하는 표준이 됩니다.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71500" y="39052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Questions &amp; Discussion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436245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AI-Native Agentic Practicum |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923</Words>
  <Application>Microsoft Office PowerPoint</Application>
  <PresentationFormat>와이드스크린</PresentationFormat>
  <Paragraphs>148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Urbanist SemiBold</vt:lpstr>
      <vt:lpstr>Calibri</vt:lpstr>
      <vt:lpstr>Urbanist ExtraBold</vt:lpstr>
      <vt:lpstr>Urbanist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Taewony Kim</cp:lastModifiedBy>
  <cp:revision>3</cp:revision>
  <dcterms:modified xsi:type="dcterms:W3CDTF">2026-06-02T00:09:58Z</dcterms:modified>
</cp:coreProperties>
</file>