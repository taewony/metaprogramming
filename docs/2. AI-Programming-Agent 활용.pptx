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0"/>
  </p:notesMasterIdLst>
  <p:sldIdLst>
    <p:sldId id="256" r:id="rId2"/>
    <p:sldId id="295" r:id="rId3"/>
    <p:sldId id="290" r:id="rId4"/>
    <p:sldId id="291" r:id="rId5"/>
    <p:sldId id="293" r:id="rId6"/>
    <p:sldId id="292" r:id="rId7"/>
    <p:sldId id="294" r:id="rId8"/>
    <p:sldId id="289" r:id="rId9"/>
    <p:sldId id="298" r:id="rId10"/>
    <p:sldId id="301" r:id="rId11"/>
    <p:sldId id="257" r:id="rId12"/>
    <p:sldId id="299" r:id="rId13"/>
    <p:sldId id="302" r:id="rId14"/>
    <p:sldId id="303" r:id="rId15"/>
    <p:sldId id="296" r:id="rId16"/>
    <p:sldId id="297" r:id="rId17"/>
    <p:sldId id="281" r:id="rId18"/>
    <p:sldId id="282" r:id="rId19"/>
    <p:sldId id="284" r:id="rId20"/>
    <p:sldId id="283" r:id="rId21"/>
    <p:sldId id="285" r:id="rId22"/>
    <p:sldId id="286" r:id="rId23"/>
    <p:sldId id="287" r:id="rId24"/>
    <p:sldId id="288" r:id="rId25"/>
    <p:sldId id="258" r:id="rId26"/>
    <p:sldId id="259" r:id="rId27"/>
    <p:sldId id="260" r:id="rId28"/>
    <p:sldId id="261" r:id="rId29"/>
    <p:sldId id="264" r:id="rId30"/>
    <p:sldId id="265" r:id="rId31"/>
    <p:sldId id="262" r:id="rId32"/>
    <p:sldId id="266" r:id="rId33"/>
    <p:sldId id="263" r:id="rId34"/>
    <p:sldId id="267" r:id="rId35"/>
    <p:sldId id="268" r:id="rId36"/>
    <p:sldId id="269" r:id="rId37"/>
    <p:sldId id="270" r:id="rId38"/>
    <p:sldId id="272" r:id="rId39"/>
    <p:sldId id="271" r:id="rId40"/>
    <p:sldId id="273" r:id="rId41"/>
    <p:sldId id="276" r:id="rId42"/>
    <p:sldId id="274" r:id="rId43"/>
    <p:sldId id="277" r:id="rId44"/>
    <p:sldId id="278" r:id="rId45"/>
    <p:sldId id="279" r:id="rId46"/>
    <p:sldId id="275" r:id="rId47"/>
    <p:sldId id="300" r:id="rId48"/>
    <p:sldId id="304" r:id="rId49"/>
    <p:sldId id="305" r:id="rId50"/>
    <p:sldId id="306" r:id="rId51"/>
    <p:sldId id="417" r:id="rId52"/>
    <p:sldId id="410" r:id="rId53"/>
    <p:sldId id="411" r:id="rId54"/>
    <p:sldId id="412" r:id="rId55"/>
    <p:sldId id="413" r:id="rId56"/>
    <p:sldId id="414" r:id="rId57"/>
    <p:sldId id="415" r:id="rId58"/>
    <p:sldId id="416" r:id="rId5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769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34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6DAA3F-9DD1-4431-A2B8-6515FDC6E540}" type="datetimeFigureOut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C1A67D-A500-406F-9F0D-A866D25E10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75780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C1A67D-A500-406F-9F0D-A866D25E1030}" type="slidenum">
              <a:rPr lang="ko-KR" altLang="en-US" smtClean="0"/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92930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BB3B04-CA21-47E5-AD6C-27CDEAF6D7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3D40E16-5905-4FB9-B12B-C56AFFA39E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C691F8-D623-452F-BC55-811823AD7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4DA29-84F2-4092-8A7D-CF388ECA6BE6}" type="datetimeFigureOut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EE0FF7-13A2-4094-81DB-9AFE90EE5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69A85E-8964-4BA6-A9C8-9C4F46CDC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ED89B-46ED-4D61-8591-33D7F0C3B2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1330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74DADD-F94F-469C-A97F-96441235B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7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93144FB-7CA5-4561-90F4-9EE830DBFC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7800"/>
            <a:ext cx="10515600" cy="4729163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맑은 고딕" panose="020B0503020000020004" pitchFamily="50" charset="-127"/>
              <a:buChar char="-"/>
              <a:defRPr/>
            </a:lvl2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4CA4A1-E380-4A6E-9C95-628E19F38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4DA29-84F2-4092-8A7D-CF388ECA6BE6}" type="datetimeFigureOut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27D2D5-16E2-4E60-B43F-F014AAF45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1FB96E-D4CF-4FF0-88B4-39171D069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ED89B-46ED-4D61-8591-33D7F0C3B2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24024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3EC2EB-4A95-496F-98A3-1893FE954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588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6B7654F-6806-47EF-B61F-FF65FE2B4C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16050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BE4A204-2109-4C8D-88DF-585CAEAED7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16050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D14D8A1-191D-4591-A5F4-3406D95AB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4DA29-84F2-4092-8A7D-CF388ECA6BE6}" type="datetimeFigureOut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6C6AEF8-C66B-42DF-A392-7B4262233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3509E9C-A1F2-4EB2-8127-CFCAD54E4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ED89B-46ED-4D61-8591-33D7F0C3B2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9554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EDCA36-C389-4443-8158-407A3E1A0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730250"/>
          </a:xfr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BCC4F48-D7C9-4BDB-8F8C-30DF05E68D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290638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EB3F995-4F3E-46F9-9E17-50F412CACB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114550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9106057-E7B8-448A-B6F3-5646371916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290638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C9E1B31-C0B8-4B9F-9893-6C02DCEA5E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114550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E8CD01C-115B-49D3-9215-2014F5085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4DA29-84F2-4092-8A7D-CF388ECA6BE6}" type="datetimeFigureOut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8E79323-A04D-45E3-81C5-D93720356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ECBC923-6BDB-46F0-A3D6-1B3F6C9BB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ED89B-46ED-4D61-8591-33D7F0C3B2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61698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8E168C-EE54-4D04-9C2A-D81D13B9B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255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3BF263B-E755-42E3-B017-64991B406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4DA29-84F2-4092-8A7D-CF388ECA6BE6}" type="datetimeFigureOut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8EFD799-4AC0-4543-A945-7B6FE5912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89E6846-5714-4ED8-BF99-996877A16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ED89B-46ED-4D61-8591-33D7F0C3B2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1808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F54C362-F8AE-4E13-A264-7B761285B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4DA29-84F2-4092-8A7D-CF388ECA6BE6}" type="datetimeFigureOut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D176EE8-F8C0-46AD-BF89-909DBA786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1224591-2DBF-409A-BF20-59E4FF151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ED89B-46ED-4D61-8591-33D7F0C3B2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0787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section">
  <p:cSld name="Subsection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8"/>
          <p:cNvSpPr txBox="1">
            <a:spLocks noGrp="1"/>
          </p:cNvSpPr>
          <p:nvPr>
            <p:ph type="body" idx="1"/>
          </p:nvPr>
        </p:nvSpPr>
        <p:spPr>
          <a:xfrm>
            <a:off x="3687231" y="2145719"/>
            <a:ext cx="4817540" cy="1200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normAutofit/>
          </a:bodyPr>
          <a:lstStyle>
            <a:lvl1pPr marL="609585" lvl="0" indent="-30479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  <a:defRPr sz="48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lvl="1" indent="-364058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700"/>
              <a:buChar char="○"/>
              <a:defRPr sz="667"/>
            </a:lvl2pPr>
            <a:lvl3pPr marL="1828754" lvl="2" indent="-364058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700"/>
              <a:buChar char="■"/>
              <a:defRPr sz="667"/>
            </a:lvl3pPr>
            <a:lvl4pPr marL="2438339" lvl="3" indent="-364058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700"/>
              <a:buChar char="●"/>
              <a:defRPr sz="667"/>
            </a:lvl4pPr>
            <a:lvl5pPr marL="3047924" lvl="4" indent="-364058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700"/>
              <a:buChar char="○"/>
              <a:defRPr sz="667"/>
            </a:lvl5pPr>
            <a:lvl6pPr marL="3657509" lvl="5" indent="-364058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700"/>
              <a:buChar char="■"/>
              <a:defRPr sz="667"/>
            </a:lvl6pPr>
            <a:lvl7pPr marL="4267093" lvl="6" indent="-364058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700"/>
              <a:buChar char="●"/>
              <a:defRPr sz="667"/>
            </a:lvl7pPr>
            <a:lvl8pPr marL="4876678" lvl="7" indent="-364058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700"/>
              <a:buChar char="○"/>
              <a:defRPr sz="667"/>
            </a:lvl8pPr>
            <a:lvl9pPr marL="5486263" lvl="8" indent="-364058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700"/>
              <a:buChar char="■"/>
              <a:defRPr sz="667"/>
            </a:lvl9pPr>
          </a:lstStyle>
          <a:p>
            <a:endParaRPr/>
          </a:p>
        </p:txBody>
      </p:sp>
      <p:sp>
        <p:nvSpPr>
          <p:cNvPr id="59" name="Google Shape;59;p8"/>
          <p:cNvSpPr txBox="1">
            <a:spLocks noGrp="1"/>
          </p:cNvSpPr>
          <p:nvPr>
            <p:ph type="sldNum" idx="12"/>
          </p:nvPr>
        </p:nvSpPr>
        <p:spPr>
          <a:xfrm>
            <a:off x="5988812" y="6407159"/>
            <a:ext cx="208027" cy="366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67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67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67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67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67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67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67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67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67"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sz="667"/>
          </a:p>
        </p:txBody>
      </p:sp>
    </p:spTree>
    <p:extLst>
      <p:ext uri="{BB962C8B-B14F-4D97-AF65-F5344CB8AC3E}">
        <p14:creationId xmlns:p14="http://schemas.microsoft.com/office/powerpoint/2010/main" val="809022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9F17576-2EA6-485A-AB7A-FDCA4F917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1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497ECD7-6EC7-4E7D-AFE0-628B2E74CC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38250"/>
            <a:ext cx="10515600" cy="49387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6A43D4-DD2C-4335-A75F-69FF7B9AA2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44DA29-84F2-4092-8A7D-CF388ECA6BE6}" type="datetimeFigureOut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173235-5CBE-4C26-864D-85B3D1B9E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8D7FC04-8FD2-4E35-9525-CC25CCD9CA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8ED89B-46ED-4D61-8591-33D7F0C3B2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9791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NarimanN2/ollama-playground/blob/main/multi-modal-rag/README.md" TargetMode="External"/><Relationship Id="rId13" Type="http://schemas.openxmlformats.org/officeDocument/2006/relationships/hyperlink" Target="https://github.com/NarimanN2/ollama-playground/blob/main/llm-wiki/README.md" TargetMode="External"/><Relationship Id="rId3" Type="http://schemas.openxmlformats.org/officeDocument/2006/relationships/hyperlink" Target="https://youtu.be/xGbwrPPE0Tg?si=Ps5eYZvVGWn5AbLV" TargetMode="External"/><Relationship Id="rId7" Type="http://schemas.openxmlformats.org/officeDocument/2006/relationships/hyperlink" Target="https://github.com/NarimanN2/ollama-playground/blob/main/hybrid-retrieval-rag/README.md" TargetMode="External"/><Relationship Id="rId12" Type="http://schemas.openxmlformats.org/officeDocument/2006/relationships/hyperlink" Target="https://github.com/NarimanN2/ollama-playground/blob/main/acp-agents/README.md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NarimanN2/ollama-playground/blob/main/chat-with-pdf/README.md" TargetMode="External"/><Relationship Id="rId11" Type="http://schemas.openxmlformats.org/officeDocument/2006/relationships/hyperlink" Target="https://github.com/NarimanN2/ollama-playground/blob/main/gpt-oss-agent-with-mcp/README.md" TargetMode="External"/><Relationship Id="rId5" Type="http://schemas.openxmlformats.org/officeDocument/2006/relationships/hyperlink" Target="https://github.com/NarimanN2/ollama-playground" TargetMode="External"/><Relationship Id="rId10" Type="http://schemas.openxmlformats.org/officeDocument/2006/relationships/hyperlink" Target="https://github.com/NarimanN2/ollama-playground/blob/main/agent-with-memory/README.md" TargetMode="External"/><Relationship Id="rId4" Type="http://schemas.openxmlformats.org/officeDocument/2006/relationships/hyperlink" Target="https://youtu.be/l4EzuMKmeA0?si=85zq7Zu02aiRd_NK" TargetMode="External"/><Relationship Id="rId9" Type="http://schemas.openxmlformats.org/officeDocument/2006/relationships/hyperlink" Target="https://github.com/NarimanN2/ollama-playground/blob/main/voice-rag/README.md" TargetMode="Externa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e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42E331-15BE-48FA-99C1-6383BF8027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Agent </a:t>
            </a:r>
            <a:r>
              <a:rPr lang="ko-KR" altLang="en-US" dirty="0"/>
              <a:t>활용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기업</a:t>
            </a:r>
            <a:r>
              <a:rPr lang="en-US" altLang="ko-KR" dirty="0"/>
              <a:t>, </a:t>
            </a:r>
            <a:r>
              <a:rPr lang="ko-KR" altLang="en-US" dirty="0"/>
              <a:t>개인 연구자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890ADC8-14BD-48D1-B9A2-C7764B2D25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13412"/>
            <a:ext cx="9144000" cy="1044388"/>
          </a:xfrm>
        </p:spPr>
        <p:txBody>
          <a:bodyPr/>
          <a:lstStyle/>
          <a:p>
            <a:r>
              <a:rPr lang="en-US" altLang="ko-KR" b="1" dirty="0">
                <a:solidFill>
                  <a:srgbClr val="0000FF"/>
                </a:solidFill>
              </a:rPr>
              <a:t>Agent</a:t>
            </a:r>
            <a:r>
              <a:rPr lang="ko-KR" altLang="en-US" b="1" dirty="0">
                <a:solidFill>
                  <a:srgbClr val="0000FF"/>
                </a:solidFill>
              </a:rPr>
              <a:t>와 생각하고</a:t>
            </a:r>
            <a:r>
              <a:rPr lang="en-US" altLang="ko-KR" b="1" dirty="0">
                <a:solidFill>
                  <a:srgbClr val="0000FF"/>
                </a:solidFill>
              </a:rPr>
              <a:t>,</a:t>
            </a:r>
            <a:r>
              <a:rPr lang="ko-KR" altLang="en-US" b="1" dirty="0">
                <a:solidFill>
                  <a:srgbClr val="0000FF"/>
                </a:solidFill>
              </a:rPr>
              <a:t> </a:t>
            </a:r>
            <a:r>
              <a:rPr lang="en-US" altLang="ko-KR" b="1" dirty="0">
                <a:solidFill>
                  <a:srgbClr val="0000FF"/>
                </a:solidFill>
              </a:rPr>
              <a:t>Gap </a:t>
            </a:r>
            <a:r>
              <a:rPr lang="ko-KR" altLang="en-US" b="1" dirty="0">
                <a:solidFill>
                  <a:srgbClr val="0000FF"/>
                </a:solidFill>
              </a:rPr>
              <a:t>분석을 하고</a:t>
            </a:r>
            <a:r>
              <a:rPr lang="en-US" altLang="ko-KR" b="1" dirty="0">
                <a:solidFill>
                  <a:srgbClr val="0000FF"/>
                </a:solidFill>
              </a:rPr>
              <a:t>,</a:t>
            </a:r>
          </a:p>
          <a:p>
            <a:r>
              <a:rPr lang="ko-KR" altLang="en-US" b="1" dirty="0">
                <a:solidFill>
                  <a:srgbClr val="0000FF"/>
                </a:solidFill>
              </a:rPr>
              <a:t>전략과 계획을 짜고</a:t>
            </a:r>
            <a:r>
              <a:rPr lang="en-US" altLang="ko-KR" b="1" dirty="0">
                <a:solidFill>
                  <a:srgbClr val="0000FF"/>
                </a:solidFill>
              </a:rPr>
              <a:t>, </a:t>
            </a:r>
            <a:r>
              <a:rPr lang="ko-KR" altLang="en-US" b="1" dirty="0">
                <a:solidFill>
                  <a:srgbClr val="0000FF"/>
                </a:solidFill>
              </a:rPr>
              <a:t>행동하고 점검하고</a:t>
            </a:r>
            <a:r>
              <a:rPr lang="en-US" altLang="ko-KR" b="1" dirty="0">
                <a:solidFill>
                  <a:srgbClr val="0000FF"/>
                </a:solidFill>
              </a:rPr>
              <a:t> </a:t>
            </a:r>
            <a:r>
              <a:rPr lang="ko-KR" altLang="en-US" b="1" dirty="0">
                <a:solidFill>
                  <a:srgbClr val="0000FF"/>
                </a:solidFill>
              </a:rPr>
              <a:t>개선하고</a:t>
            </a:r>
            <a:r>
              <a:rPr lang="en-US" altLang="ko-KR" b="1" dirty="0">
                <a:solidFill>
                  <a:srgbClr val="0000FF"/>
                </a:solidFill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864204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2BDD22-1238-4ED8-B7C6-DFE014F9EC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AI Ready,</a:t>
            </a:r>
            <a:br>
              <a:rPr lang="en-US" altLang="ko-KR" dirty="0"/>
            </a:br>
            <a:r>
              <a:rPr lang="en-US" altLang="ko-KR" dirty="0"/>
              <a:t>Agent Readiness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88800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A209F0-E545-420D-9756-9BBA8CDCC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‘AI Ready’ </a:t>
            </a:r>
            <a:r>
              <a:rPr lang="ko-KR" altLang="en-US" dirty="0"/>
              <a:t>정의와 중요성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AC8FFDF-759A-4506-8D42-5125638937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290918"/>
            <a:ext cx="10833847" cy="5405717"/>
          </a:xfrm>
        </p:spPr>
        <p:txBody>
          <a:bodyPr>
            <a:normAutofit fontScale="92500"/>
          </a:bodyPr>
          <a:lstStyle/>
          <a:p>
            <a:r>
              <a:rPr lang="ko-KR" altLang="en-US" dirty="0"/>
              <a:t>배경</a:t>
            </a:r>
            <a:endParaRPr lang="en-US" altLang="ko-KR" dirty="0"/>
          </a:p>
          <a:p>
            <a:pPr lvl="1"/>
            <a:r>
              <a:rPr lang="ko-KR" altLang="en-US" dirty="0"/>
              <a:t>현재 기술 업계의 패러다임 변화 </a:t>
            </a:r>
            <a:r>
              <a:rPr lang="en-US" altLang="ko-KR" dirty="0"/>
              <a:t>('AI </a:t>
            </a:r>
            <a:r>
              <a:rPr lang="ko-KR" altLang="en-US" dirty="0"/>
              <a:t>모델 자체의 성능 향상</a:t>
            </a:r>
            <a:r>
              <a:rPr lang="en-US" altLang="ko-KR" dirty="0"/>
              <a:t>'</a:t>
            </a:r>
            <a:r>
              <a:rPr lang="ko-KR" altLang="en-US" dirty="0"/>
              <a:t>에서 </a:t>
            </a:r>
            <a:r>
              <a:rPr lang="en-US" altLang="ko-KR" b="1" dirty="0">
                <a:solidFill>
                  <a:srgbClr val="0000FF"/>
                </a:solidFill>
              </a:rPr>
              <a:t>'AI</a:t>
            </a:r>
            <a:r>
              <a:rPr lang="ko-KR" altLang="en-US" b="1" dirty="0">
                <a:solidFill>
                  <a:srgbClr val="0000FF"/>
                </a:solidFill>
              </a:rPr>
              <a:t>가 잘 일할 수 있는 환경과 데이터 구축</a:t>
            </a:r>
            <a:r>
              <a:rPr lang="en-US" altLang="ko-KR" b="1" dirty="0">
                <a:solidFill>
                  <a:srgbClr val="0000FF"/>
                </a:solidFill>
              </a:rPr>
              <a:t>’</a:t>
            </a:r>
            <a:r>
              <a:rPr lang="ko-KR" altLang="en-US" dirty="0"/>
              <a:t>으로 전환됨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＇AI Ready＇</a:t>
            </a:r>
            <a:r>
              <a:rPr lang="ko-KR" altLang="en-US" dirty="0"/>
              <a:t>의 개념부터 구체적인 사례</a:t>
            </a:r>
            <a:r>
              <a:rPr lang="en-US" altLang="ko-KR" dirty="0"/>
              <a:t>, </a:t>
            </a:r>
            <a:r>
              <a:rPr lang="ko-KR" altLang="en-US" dirty="0"/>
              <a:t>그리고 자율형 </a:t>
            </a:r>
            <a:r>
              <a:rPr lang="en-US" altLang="ko-KR" dirty="0"/>
              <a:t>AI </a:t>
            </a:r>
            <a:r>
              <a:rPr lang="ko-KR" altLang="en-US" dirty="0"/>
              <a:t>에이전트</a:t>
            </a:r>
            <a:r>
              <a:rPr lang="en-US" altLang="ko-KR" dirty="0"/>
              <a:t> </a:t>
            </a:r>
            <a:r>
              <a:rPr lang="ko-KR" altLang="en-US" dirty="0"/>
              <a:t>시대에 이것이 왜 필수적인지 알아보자</a:t>
            </a:r>
            <a:endParaRPr lang="en-US" altLang="ko-KR" dirty="0"/>
          </a:p>
          <a:p>
            <a:pPr lvl="1"/>
            <a:endParaRPr lang="en-US" altLang="ko-KR" sz="1200" dirty="0"/>
          </a:p>
          <a:p>
            <a:r>
              <a:rPr lang="en-US" altLang="ko-KR" dirty="0"/>
              <a:t>‘AI Ready’</a:t>
            </a:r>
            <a:r>
              <a:rPr lang="ko-KR" altLang="en-US" dirty="0"/>
              <a:t>란 무엇인가</a:t>
            </a:r>
            <a:r>
              <a:rPr lang="en-US" altLang="ko-KR" dirty="0"/>
              <a:t>?</a:t>
            </a:r>
          </a:p>
          <a:p>
            <a:pPr lvl="1"/>
            <a:r>
              <a:rPr lang="en-US" altLang="ko-KR" dirty="0"/>
              <a:t>＇AI Ready </a:t>
            </a:r>
            <a:r>
              <a:rPr lang="ko-KR" altLang="en-US" dirty="0"/>
              <a:t>혹은 </a:t>
            </a:r>
            <a:r>
              <a:rPr lang="en-US" altLang="ko-KR" dirty="0"/>
              <a:t>AI Readiness＇</a:t>
            </a:r>
            <a:r>
              <a:rPr lang="ko-KR" altLang="en-US" dirty="0"/>
              <a:t>란 </a:t>
            </a:r>
            <a:r>
              <a:rPr lang="ko-KR" altLang="en-US" b="1" dirty="0"/>
              <a:t>데이터</a:t>
            </a:r>
            <a:r>
              <a:rPr lang="en-US" altLang="ko-KR" b="1" dirty="0"/>
              <a:t>, </a:t>
            </a:r>
            <a:r>
              <a:rPr lang="ko-KR" altLang="en-US" b="1" dirty="0"/>
              <a:t>시스템</a:t>
            </a:r>
            <a:r>
              <a:rPr lang="en-US" altLang="ko-KR" b="1" dirty="0"/>
              <a:t>, </a:t>
            </a:r>
            <a:r>
              <a:rPr lang="ko-KR" altLang="en-US" b="1" dirty="0"/>
              <a:t>인프라</a:t>
            </a:r>
            <a:r>
              <a:rPr lang="en-US" altLang="ko-KR" b="1" dirty="0"/>
              <a:t>, </a:t>
            </a:r>
            <a:r>
              <a:rPr lang="ko-KR" altLang="en-US" b="1" dirty="0"/>
              <a:t>나아가 업무 프로세스</a:t>
            </a:r>
            <a:r>
              <a:rPr lang="ko-KR" altLang="en-US" dirty="0"/>
              <a:t>를 </a:t>
            </a:r>
            <a:r>
              <a:rPr lang="en-US" altLang="ko-KR" dirty="0"/>
              <a:t>AI</a:t>
            </a:r>
            <a:r>
              <a:rPr lang="ko-KR" altLang="en-US" dirty="0"/>
              <a:t>가 즉시 이해하고</a:t>
            </a:r>
            <a:r>
              <a:rPr lang="en-US" altLang="ko-KR" dirty="0"/>
              <a:t>, </a:t>
            </a:r>
            <a:r>
              <a:rPr lang="ko-KR" altLang="en-US" dirty="0"/>
              <a:t>처리하고</a:t>
            </a:r>
            <a:r>
              <a:rPr lang="en-US" altLang="ko-KR" dirty="0"/>
              <a:t>, </a:t>
            </a:r>
            <a:r>
              <a:rPr lang="ko-KR" altLang="en-US" dirty="0"/>
              <a:t>상호작용할 수 있는 형태로 </a:t>
            </a:r>
            <a:r>
              <a:rPr lang="ko-KR" altLang="en-US" b="1" dirty="0" err="1"/>
              <a:t>구조화</a:t>
            </a:r>
            <a:r>
              <a:rPr lang="ko-KR" altLang="en-US" dirty="0" err="1"/>
              <a:t>하는</a:t>
            </a:r>
            <a:r>
              <a:rPr lang="ko-KR" altLang="en-US" dirty="0"/>
              <a:t> 것</a:t>
            </a:r>
            <a:endParaRPr lang="en-US" altLang="ko-KR" dirty="0"/>
          </a:p>
          <a:p>
            <a:pPr lvl="1"/>
            <a:r>
              <a:rPr lang="en-US" altLang="ko-KR" dirty="0"/>
              <a:t>'AI Ready'</a:t>
            </a:r>
            <a:r>
              <a:rPr lang="ko-KR" altLang="en-US" dirty="0"/>
              <a:t>는 데이터를 인간 중심의 시각적 형태가 아닌 </a:t>
            </a:r>
            <a:r>
              <a:rPr lang="en-US" altLang="ko-KR" b="1" dirty="0"/>
              <a:t>'</a:t>
            </a:r>
            <a:r>
              <a:rPr lang="ko-KR" altLang="en-US" b="1" dirty="0"/>
              <a:t>의미론적 구조</a:t>
            </a:r>
            <a:r>
              <a:rPr lang="en-US" altLang="ko-KR" b="1" dirty="0"/>
              <a:t>(Semantic Structure)'</a:t>
            </a:r>
            <a:r>
              <a:rPr lang="ko-KR" altLang="en-US" b="1" dirty="0"/>
              <a:t>와 </a:t>
            </a:r>
            <a:r>
              <a:rPr lang="en-US" altLang="ko-KR" b="1" dirty="0"/>
              <a:t>'</a:t>
            </a:r>
            <a:r>
              <a:rPr lang="ko-KR" altLang="en-US" b="1" dirty="0"/>
              <a:t>기계가 읽기 쉬운 형태</a:t>
            </a:r>
            <a:r>
              <a:rPr lang="en-US" altLang="ko-KR" b="1" dirty="0"/>
              <a:t>(Machine-readable)'</a:t>
            </a:r>
            <a:r>
              <a:rPr lang="ko-KR" altLang="en-US" dirty="0"/>
              <a:t>로 변환하는 모든 과정을 말한다</a:t>
            </a:r>
            <a:r>
              <a:rPr lang="en-US" altLang="ko-KR" dirty="0"/>
              <a:t>. </a:t>
            </a:r>
            <a:r>
              <a:rPr lang="en-US" altLang="ko-KR" dirty="0">
                <a:sym typeface="Wingdings" panose="05000000000000000000" pitchFamily="2" charset="2"/>
              </a:rPr>
              <a:t> AI</a:t>
            </a:r>
            <a:r>
              <a:rPr lang="ko-KR" altLang="en-US" dirty="0">
                <a:sym typeface="Wingdings" panose="05000000000000000000" pitchFamily="2" charset="2"/>
              </a:rPr>
              <a:t>가 ‘읽고’</a:t>
            </a:r>
            <a:r>
              <a:rPr lang="en-US" altLang="ko-KR" dirty="0">
                <a:sym typeface="Wingdings" panose="05000000000000000000" pitchFamily="2" charset="2"/>
              </a:rPr>
              <a:t>, ‘</a:t>
            </a:r>
            <a:r>
              <a:rPr lang="ko-KR" altLang="en-US" dirty="0">
                <a:sym typeface="Wingdings" panose="05000000000000000000" pitchFamily="2" charset="2"/>
              </a:rPr>
              <a:t>의미를 </a:t>
            </a:r>
            <a:r>
              <a:rPr lang="ko-KR" altLang="en-US" dirty="0" err="1">
                <a:sym typeface="Wingdings" panose="05000000000000000000" pitchFamily="2" charset="2"/>
              </a:rPr>
              <a:t>파악’하고</a:t>
            </a:r>
            <a:r>
              <a:rPr lang="en-US" altLang="ko-KR" dirty="0">
                <a:sym typeface="Wingdings" panose="05000000000000000000" pitchFamily="2" charset="2"/>
              </a:rPr>
              <a:t>, ‘</a:t>
            </a:r>
            <a:r>
              <a:rPr lang="ko-KR" altLang="en-US" dirty="0">
                <a:sym typeface="Wingdings" panose="05000000000000000000" pitchFamily="2" charset="2"/>
              </a:rPr>
              <a:t>행동으로 옮길 수 있는’ 형태로 만드는 것</a:t>
            </a:r>
            <a:endParaRPr lang="en-US" altLang="ko-KR" dirty="0"/>
          </a:p>
          <a:p>
            <a:pPr lvl="1"/>
            <a:r>
              <a:rPr lang="en-US" altLang="ko-KR" dirty="0"/>
              <a:t>AI Ready</a:t>
            </a:r>
            <a:r>
              <a:rPr lang="ko-KR" altLang="en-US" dirty="0"/>
              <a:t>는 사람이 아닌 </a:t>
            </a:r>
            <a:r>
              <a:rPr lang="en-US" altLang="ko-KR" dirty="0"/>
              <a:t>LLM </a:t>
            </a:r>
            <a:r>
              <a:rPr lang="ko-KR" altLang="en-US" dirty="0"/>
              <a:t>기반의 </a:t>
            </a:r>
            <a:r>
              <a:rPr lang="en-US" altLang="ko-KR" dirty="0"/>
              <a:t>AI </a:t>
            </a:r>
            <a:r>
              <a:rPr lang="ko-KR" altLang="en-US" dirty="0"/>
              <a:t>에이전트가 정보를 정확하게 이해하고</a:t>
            </a:r>
            <a:r>
              <a:rPr lang="en-US" altLang="ko-KR" dirty="0"/>
              <a:t>, </a:t>
            </a:r>
            <a:r>
              <a:rPr lang="ko-KR" altLang="en-US" dirty="0"/>
              <a:t>추론하며</a:t>
            </a:r>
            <a:r>
              <a:rPr lang="en-US" altLang="ko-KR" dirty="0"/>
              <a:t>, </a:t>
            </a:r>
            <a:r>
              <a:rPr lang="ko-KR" altLang="en-US" dirty="0"/>
              <a:t>작업을 수행할 수 있도록 데이터</a:t>
            </a:r>
            <a:r>
              <a:rPr lang="en-US" altLang="ko-KR" dirty="0"/>
              <a:t>, </a:t>
            </a:r>
            <a:r>
              <a:rPr lang="ko-KR" altLang="en-US" dirty="0"/>
              <a:t>문서</a:t>
            </a:r>
            <a:r>
              <a:rPr lang="en-US" altLang="ko-KR" dirty="0"/>
              <a:t>, </a:t>
            </a:r>
            <a:r>
              <a:rPr lang="ko-KR" altLang="en-US" dirty="0"/>
              <a:t>코드</a:t>
            </a:r>
            <a:r>
              <a:rPr lang="en-US" altLang="ko-KR" dirty="0"/>
              <a:t>, </a:t>
            </a:r>
            <a:r>
              <a:rPr lang="ko-KR" altLang="en-US" dirty="0"/>
              <a:t>프로세스를 사전에 정비해둔 상태</a:t>
            </a:r>
          </a:p>
        </p:txBody>
      </p:sp>
    </p:spTree>
    <p:extLst>
      <p:ext uri="{BB962C8B-B14F-4D97-AF65-F5344CB8AC3E}">
        <p14:creationId xmlns:p14="http://schemas.microsoft.com/office/powerpoint/2010/main" val="22838799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A06B5D-1309-4365-86CC-E0503AA70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'AI Ready' </a:t>
            </a:r>
            <a:r>
              <a:rPr lang="ko-KR" altLang="en-US" dirty="0"/>
              <a:t>전환 사례 </a:t>
            </a:r>
            <a:r>
              <a:rPr lang="en-US" altLang="ko-KR" dirty="0"/>
              <a:t>(1)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0773EDC-BFCE-4BB3-9BC1-B118C387FA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7800"/>
            <a:ext cx="10515600" cy="5045075"/>
          </a:xfrm>
        </p:spPr>
        <p:txBody>
          <a:bodyPr/>
          <a:lstStyle/>
          <a:p>
            <a:r>
              <a:rPr lang="ko-KR" altLang="en-US" dirty="0"/>
              <a:t>시각적 디자인에서 명세</a:t>
            </a:r>
            <a:r>
              <a:rPr lang="en-US" altLang="ko-KR" dirty="0"/>
              <a:t>(Specification)</a:t>
            </a:r>
            <a:r>
              <a:rPr lang="ko-KR" altLang="en-US" dirty="0"/>
              <a:t>로 </a:t>
            </a:r>
            <a:r>
              <a:rPr lang="en-US" altLang="ko-KR" dirty="0"/>
              <a:t>- </a:t>
            </a:r>
            <a:r>
              <a:rPr lang="en-US" altLang="ko-KR" dirty="0">
                <a:solidFill>
                  <a:srgbClr val="0000FF"/>
                </a:solidFill>
              </a:rPr>
              <a:t>DESIGN.md</a:t>
            </a:r>
          </a:p>
          <a:p>
            <a:pPr lvl="1"/>
            <a:r>
              <a:rPr lang="ko-KR" altLang="en-US" b="1" dirty="0"/>
              <a:t>과거 </a:t>
            </a:r>
            <a:r>
              <a:rPr lang="en-US" altLang="ko-KR" b="1" dirty="0"/>
              <a:t>(Not AI Ready): </a:t>
            </a:r>
            <a:r>
              <a:rPr lang="ko-KR" altLang="en-US" dirty="0"/>
              <a:t>디자이너가 </a:t>
            </a:r>
            <a:r>
              <a:rPr lang="en-US" altLang="ko-KR" dirty="0"/>
              <a:t>Figma</a:t>
            </a:r>
            <a:r>
              <a:rPr lang="ko-KR" altLang="en-US" dirty="0"/>
              <a:t>나 </a:t>
            </a:r>
            <a:r>
              <a:rPr lang="en-US" altLang="ko-KR" dirty="0"/>
              <a:t>Photoshop </a:t>
            </a:r>
            <a:r>
              <a:rPr lang="ko-KR" altLang="en-US" dirty="0"/>
              <a:t>파일로 화면을 그립니다</a:t>
            </a:r>
            <a:r>
              <a:rPr lang="en-US" altLang="ko-KR" dirty="0"/>
              <a:t>. </a:t>
            </a:r>
            <a:r>
              <a:rPr lang="ko-KR" altLang="en-US" dirty="0"/>
              <a:t>개발자</a:t>
            </a:r>
            <a:r>
              <a:rPr lang="en-US" altLang="ko-KR" dirty="0"/>
              <a:t>(</a:t>
            </a:r>
            <a:r>
              <a:rPr lang="ko-KR" altLang="en-US" dirty="0"/>
              <a:t>인간</a:t>
            </a:r>
            <a:r>
              <a:rPr lang="en-US" altLang="ko-KR" dirty="0"/>
              <a:t>)</a:t>
            </a:r>
            <a:r>
              <a:rPr lang="ko-KR" altLang="en-US" dirty="0"/>
              <a:t>는 눈으로 여백</a:t>
            </a:r>
            <a:r>
              <a:rPr lang="en-US" altLang="ko-KR" dirty="0"/>
              <a:t>, </a:t>
            </a:r>
            <a:r>
              <a:rPr lang="ko-KR" altLang="en-US" dirty="0"/>
              <a:t>색상</a:t>
            </a:r>
            <a:r>
              <a:rPr lang="en-US" altLang="ko-KR" dirty="0"/>
              <a:t>, </a:t>
            </a:r>
            <a:r>
              <a:rPr lang="ko-KR" altLang="en-US" dirty="0"/>
              <a:t>폰트 크기를 확인하고 코드로 옮깁니다</a:t>
            </a:r>
            <a:r>
              <a:rPr lang="en-US" altLang="ko-KR" dirty="0"/>
              <a:t>. AI</a:t>
            </a:r>
            <a:r>
              <a:rPr lang="ko-KR" altLang="en-US" dirty="0"/>
              <a:t>에게 이 파일이나 이미지를 주면</a:t>
            </a:r>
            <a:r>
              <a:rPr lang="en-US" altLang="ko-KR" dirty="0"/>
              <a:t>, </a:t>
            </a:r>
            <a:r>
              <a:rPr lang="ko-KR" altLang="en-US" dirty="0"/>
              <a:t>시각적인 요소만 대략적으로 파악할 뿐 정확한 수치나 디자인 규칙</a:t>
            </a:r>
            <a:r>
              <a:rPr lang="en-US" altLang="ko-KR" dirty="0"/>
              <a:t>(Design System)</a:t>
            </a:r>
            <a:r>
              <a:rPr lang="ko-KR" altLang="en-US" dirty="0"/>
              <a:t>을 완벽히 이해하지 못합니다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b="1" dirty="0"/>
              <a:t>현재 </a:t>
            </a:r>
            <a:r>
              <a:rPr lang="en-US" altLang="ko-KR" b="1" dirty="0"/>
              <a:t>(AI Ready): </a:t>
            </a:r>
            <a:r>
              <a:rPr lang="en-US" altLang="ko-KR" dirty="0"/>
              <a:t>UI/UX </a:t>
            </a:r>
            <a:r>
              <a:rPr lang="ko-KR" altLang="en-US" dirty="0"/>
              <a:t>규칙을 </a:t>
            </a:r>
            <a:r>
              <a:rPr lang="en-US" altLang="ko-KR" dirty="0"/>
              <a:t>DESIGN.md</a:t>
            </a:r>
            <a:r>
              <a:rPr lang="ko-KR" altLang="en-US" dirty="0"/>
              <a:t>라는 마크다운</a:t>
            </a:r>
            <a:r>
              <a:rPr lang="en-US" altLang="ko-KR" dirty="0"/>
              <a:t>(Markdown) </a:t>
            </a:r>
            <a:r>
              <a:rPr lang="ko-KR" altLang="en-US" dirty="0"/>
              <a:t>텍스트 파일로 명세합니다</a:t>
            </a:r>
            <a:r>
              <a:rPr lang="en-US" altLang="ko-KR" dirty="0"/>
              <a:t>.</a:t>
            </a:r>
            <a:r>
              <a:rPr lang="en-US" altLang="ko-KR" b="1" dirty="0"/>
              <a:t>"Primary Color</a:t>
            </a:r>
            <a:r>
              <a:rPr lang="ko-KR" altLang="en-US" b="1" dirty="0"/>
              <a:t>는 </a:t>
            </a:r>
            <a:r>
              <a:rPr lang="en-US" altLang="ko-KR" b="1" dirty="0"/>
              <a:t>#0056b3, </a:t>
            </a:r>
            <a:r>
              <a:rPr lang="ko-KR" altLang="en-US" b="1" dirty="0"/>
              <a:t>버튼의 기본 </a:t>
            </a:r>
            <a:r>
              <a:rPr lang="en-US" altLang="ko-KR" b="1" dirty="0"/>
              <a:t>padding</a:t>
            </a:r>
            <a:r>
              <a:rPr lang="ko-KR" altLang="en-US" b="1" dirty="0"/>
              <a:t>은 </a:t>
            </a:r>
            <a:r>
              <a:rPr lang="en-US" altLang="ko-KR" b="1" dirty="0"/>
              <a:t>12px 24px, </a:t>
            </a:r>
            <a:r>
              <a:rPr lang="ko-KR" altLang="en-US" b="1" dirty="0"/>
              <a:t>비활성화 상태에서는 </a:t>
            </a:r>
            <a:r>
              <a:rPr lang="en-US" altLang="ko-KR" b="1" dirty="0"/>
              <a:t>opacity 50% </a:t>
            </a:r>
            <a:r>
              <a:rPr lang="ko-KR" altLang="en-US" b="1" dirty="0"/>
              <a:t>적용</a:t>
            </a:r>
            <a:r>
              <a:rPr lang="en-US" altLang="ko-KR" b="1" dirty="0"/>
              <a:t>"</a:t>
            </a:r>
            <a:r>
              <a:rPr lang="ko-KR" altLang="en-US" dirty="0"/>
              <a:t>과 같이 디자인 토큰과 상태</a:t>
            </a:r>
            <a:r>
              <a:rPr lang="en-US" altLang="ko-KR" dirty="0"/>
              <a:t>(State) </a:t>
            </a:r>
            <a:r>
              <a:rPr lang="ko-KR" altLang="en-US" dirty="0"/>
              <a:t>규칙을 자연어와 코드로 정의합니다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b="1" dirty="0"/>
              <a:t>결과</a:t>
            </a:r>
            <a:r>
              <a:rPr lang="en-US" altLang="ko-KR" b="1" dirty="0"/>
              <a:t>:</a:t>
            </a:r>
            <a:r>
              <a:rPr lang="en-US" altLang="ko-KR" dirty="0"/>
              <a:t> </a:t>
            </a:r>
            <a:r>
              <a:rPr lang="ko-KR" altLang="en-US" dirty="0"/>
              <a:t>코딩 </a:t>
            </a:r>
            <a:r>
              <a:rPr lang="en-US" altLang="ko-KR" dirty="0"/>
              <a:t>AI </a:t>
            </a:r>
            <a:r>
              <a:rPr lang="ko-KR" altLang="en-US" dirty="0"/>
              <a:t>에이전트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 Cursor, GitHub Copilot)</a:t>
            </a:r>
            <a:r>
              <a:rPr lang="ko-KR" altLang="en-US" dirty="0"/>
              <a:t>는 이 </a:t>
            </a:r>
            <a:r>
              <a:rPr lang="en-US" altLang="ko-KR" dirty="0"/>
              <a:t>DESIGN.md</a:t>
            </a:r>
            <a:r>
              <a:rPr lang="ko-KR" altLang="en-US" dirty="0"/>
              <a:t>를 컨텍스트로 읽고</a:t>
            </a:r>
            <a:r>
              <a:rPr lang="en-US" altLang="ko-KR" dirty="0"/>
              <a:t>, </a:t>
            </a:r>
            <a:r>
              <a:rPr lang="ko-KR" altLang="en-US" dirty="0"/>
              <a:t>인간의 개입 없이 규칙에 정확히 들어맞는 완벽한 </a:t>
            </a:r>
            <a:r>
              <a:rPr lang="ko-KR" altLang="en-US" dirty="0" err="1"/>
              <a:t>프론트엔드</a:t>
            </a:r>
            <a:r>
              <a:rPr lang="ko-KR" altLang="en-US" dirty="0"/>
              <a:t> 코드</a:t>
            </a:r>
            <a:r>
              <a:rPr lang="en-US" altLang="ko-KR" dirty="0"/>
              <a:t>(React, HTML/CSS)</a:t>
            </a:r>
            <a:r>
              <a:rPr lang="ko-KR" altLang="en-US" dirty="0"/>
              <a:t>를 생성해 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412940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A06B5D-1309-4365-86CC-E0503AA70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'AI Ready' </a:t>
            </a:r>
            <a:r>
              <a:rPr lang="ko-KR" altLang="en-US" dirty="0"/>
              <a:t>전환 사례 </a:t>
            </a:r>
            <a:r>
              <a:rPr lang="en-US" altLang="ko-KR" dirty="0"/>
              <a:t>(2)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0773EDC-BFCE-4BB3-9BC1-B118C387FA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47800"/>
            <a:ext cx="11093825" cy="5150224"/>
          </a:xfrm>
        </p:spPr>
        <p:txBody>
          <a:bodyPr>
            <a:normAutofit fontScale="92500"/>
          </a:bodyPr>
          <a:lstStyle/>
          <a:p>
            <a:r>
              <a:rPr lang="ko-KR" altLang="en-US" dirty="0"/>
              <a:t>복잡한 문서에서 의미론적 데이터로 </a:t>
            </a:r>
            <a:r>
              <a:rPr lang="en-US" altLang="ko-KR" dirty="0"/>
              <a:t>– </a:t>
            </a:r>
            <a:r>
              <a:rPr lang="en-US" altLang="ko-KR" dirty="0" err="1">
                <a:solidFill>
                  <a:srgbClr val="0000FF"/>
                </a:solidFill>
              </a:rPr>
              <a:t>OpenDataLoader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 err="1"/>
              <a:t>Markitdown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 err="1"/>
              <a:t>Datalab</a:t>
            </a:r>
            <a:r>
              <a:rPr lang="ko-KR" altLang="en-US" dirty="0"/>
              <a:t>의 </a:t>
            </a:r>
            <a:r>
              <a:rPr lang="en-US" altLang="ko-KR" dirty="0"/>
              <a:t>Marker </a:t>
            </a:r>
            <a:r>
              <a:rPr lang="ko-KR" altLang="en-US" dirty="0"/>
              <a:t>등</a:t>
            </a:r>
            <a:endParaRPr lang="en-US" altLang="ko-KR" dirty="0"/>
          </a:p>
          <a:p>
            <a:pPr lvl="1"/>
            <a:r>
              <a:rPr lang="ko-KR" altLang="en-US" b="1" dirty="0"/>
              <a:t>과거 </a:t>
            </a:r>
            <a:r>
              <a:rPr lang="en-US" altLang="ko-KR" b="1" dirty="0"/>
              <a:t>(Not AI Ready): </a:t>
            </a:r>
            <a:r>
              <a:rPr lang="en-US" altLang="ko-KR" dirty="0"/>
              <a:t>PDF, HWP, Word </a:t>
            </a:r>
            <a:r>
              <a:rPr lang="ko-KR" altLang="en-US" dirty="0"/>
              <a:t>문서 안에는 다단 편집</a:t>
            </a:r>
            <a:r>
              <a:rPr lang="en-US" altLang="ko-KR" dirty="0"/>
              <a:t>, </a:t>
            </a:r>
            <a:r>
              <a:rPr lang="ko-KR" altLang="en-US" dirty="0" err="1"/>
              <a:t>머릿말</a:t>
            </a:r>
            <a:r>
              <a:rPr lang="en-US" altLang="ko-KR" dirty="0"/>
              <a:t>/</a:t>
            </a:r>
            <a:r>
              <a:rPr lang="ko-KR" altLang="en-US" dirty="0" err="1"/>
              <a:t>꼬릿말</a:t>
            </a:r>
            <a:r>
              <a:rPr lang="en-US" altLang="ko-KR" dirty="0"/>
              <a:t>, </a:t>
            </a:r>
            <a:r>
              <a:rPr lang="ko-KR" altLang="en-US" dirty="0"/>
              <a:t>이미지 속에 박힌 글자</a:t>
            </a:r>
            <a:r>
              <a:rPr lang="en-US" altLang="ko-KR" dirty="0"/>
              <a:t>, </a:t>
            </a:r>
            <a:r>
              <a:rPr lang="ko-KR" altLang="en-US" dirty="0"/>
              <a:t>시각적으로만 합쳐진 표 등이 혼재되어 있습니다</a:t>
            </a:r>
            <a:r>
              <a:rPr lang="en-US" altLang="ko-KR" dirty="0"/>
              <a:t>. AI</a:t>
            </a:r>
            <a:r>
              <a:rPr lang="ko-KR" altLang="en-US" dirty="0"/>
              <a:t>가 이를 단순 텍스트로 읽어 들이면 맥락이 다 깨지고 쓰레기 데이터</a:t>
            </a:r>
            <a:r>
              <a:rPr lang="en-US" altLang="ko-KR" dirty="0"/>
              <a:t>(Garbage)</a:t>
            </a:r>
            <a:r>
              <a:rPr lang="ko-KR" altLang="en-US" dirty="0"/>
              <a:t>가 됩니다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b="1" dirty="0"/>
              <a:t>현재 </a:t>
            </a:r>
            <a:r>
              <a:rPr lang="en-US" altLang="ko-KR" b="1" dirty="0"/>
              <a:t>(AI Ready): </a:t>
            </a:r>
            <a:r>
              <a:rPr lang="ko-KR" altLang="en-US" dirty="0"/>
              <a:t>문서 파싱 툴을 이용해 이 복잡한 문서를 마크다운</a:t>
            </a:r>
            <a:r>
              <a:rPr lang="en-US" altLang="ko-KR" dirty="0"/>
              <a:t>(Markdown)</a:t>
            </a:r>
            <a:r>
              <a:rPr lang="ko-KR" altLang="en-US" dirty="0"/>
              <a:t>이나 </a:t>
            </a:r>
            <a:r>
              <a:rPr lang="en-US" altLang="ko-KR" dirty="0"/>
              <a:t>JSON </a:t>
            </a:r>
            <a:r>
              <a:rPr lang="ko-KR" altLang="en-US" dirty="0"/>
              <a:t>형태로 추출합니다</a:t>
            </a:r>
            <a:r>
              <a:rPr lang="en-US" altLang="ko-KR" dirty="0"/>
              <a:t>.</a:t>
            </a:r>
            <a:r>
              <a:rPr lang="ko-KR" altLang="en-US" dirty="0"/>
              <a:t>마크다운은 </a:t>
            </a:r>
            <a:r>
              <a:rPr lang="en-US" altLang="ko-KR" dirty="0"/>
              <a:t>#(</a:t>
            </a:r>
            <a:r>
              <a:rPr lang="ko-KR" altLang="en-US" dirty="0"/>
              <a:t>제목</a:t>
            </a:r>
            <a:r>
              <a:rPr lang="en-US" altLang="ko-KR" dirty="0"/>
              <a:t>), -(</a:t>
            </a:r>
            <a:r>
              <a:rPr lang="ko-KR" altLang="en-US" dirty="0"/>
              <a:t>리스트</a:t>
            </a:r>
            <a:r>
              <a:rPr lang="en-US" altLang="ko-KR" dirty="0"/>
              <a:t>), |(</a:t>
            </a:r>
            <a:r>
              <a:rPr lang="ko-KR" altLang="en-US" dirty="0"/>
              <a:t>표</a:t>
            </a:r>
            <a:r>
              <a:rPr lang="en-US" altLang="ko-KR" dirty="0"/>
              <a:t>)</a:t>
            </a:r>
            <a:r>
              <a:rPr lang="ko-KR" altLang="en-US" dirty="0"/>
              <a:t>와 같은 기호를 통해 텍스트의 </a:t>
            </a:r>
            <a:r>
              <a:rPr lang="en-US" altLang="ko-KR" dirty="0"/>
              <a:t>'</a:t>
            </a:r>
            <a:r>
              <a:rPr lang="ko-KR" altLang="en-US" dirty="0"/>
              <a:t>위계질서</a:t>
            </a:r>
            <a:r>
              <a:rPr lang="en-US" altLang="ko-KR" dirty="0"/>
              <a:t>'</a:t>
            </a:r>
            <a:r>
              <a:rPr lang="ko-KR" altLang="en-US" dirty="0"/>
              <a:t>와 </a:t>
            </a:r>
            <a:r>
              <a:rPr lang="en-US" altLang="ko-KR" dirty="0"/>
              <a:t>'</a:t>
            </a:r>
            <a:r>
              <a:rPr lang="ko-KR" altLang="en-US" dirty="0"/>
              <a:t>구조</a:t>
            </a:r>
            <a:r>
              <a:rPr lang="en-US" altLang="ko-KR" dirty="0"/>
              <a:t>'</a:t>
            </a:r>
            <a:r>
              <a:rPr lang="ko-KR" altLang="en-US" dirty="0"/>
              <a:t>를 명확히 보여줍니다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b="1" dirty="0"/>
              <a:t>결과</a:t>
            </a:r>
            <a:r>
              <a:rPr lang="en-US" altLang="ko-KR" b="1" dirty="0"/>
              <a:t>:</a:t>
            </a:r>
            <a:r>
              <a:rPr lang="en-US" altLang="ko-KR" dirty="0"/>
              <a:t> AI</a:t>
            </a:r>
            <a:r>
              <a:rPr lang="ko-KR" altLang="en-US" dirty="0"/>
              <a:t>는 </a:t>
            </a:r>
            <a:r>
              <a:rPr lang="en-US" altLang="ko-KR" dirty="0"/>
              <a:t>"</a:t>
            </a:r>
            <a:r>
              <a:rPr lang="ko-KR" altLang="en-US" dirty="0"/>
              <a:t>아</a:t>
            </a:r>
            <a:r>
              <a:rPr lang="en-US" altLang="ko-KR" dirty="0"/>
              <a:t>, </a:t>
            </a:r>
            <a:r>
              <a:rPr lang="ko-KR" altLang="en-US" dirty="0"/>
              <a:t>이 부분은 </a:t>
            </a:r>
            <a:r>
              <a:rPr lang="ko-KR" altLang="en-US" dirty="0" err="1"/>
              <a:t>대제목</a:t>
            </a:r>
            <a:r>
              <a:rPr lang="ko-KR" altLang="en-US" dirty="0"/>
              <a:t> </a:t>
            </a:r>
            <a:r>
              <a:rPr lang="en-US" altLang="ko-KR" dirty="0"/>
              <a:t>1</a:t>
            </a:r>
            <a:r>
              <a:rPr lang="ko-KR" altLang="en-US" dirty="0"/>
              <a:t>번 아래에 속한 표의 </a:t>
            </a:r>
            <a:r>
              <a:rPr lang="en-US" altLang="ko-KR" dirty="0"/>
              <a:t>2</a:t>
            </a:r>
            <a:r>
              <a:rPr lang="ko-KR" altLang="en-US" dirty="0"/>
              <a:t>번째 행 데이터구나</a:t>
            </a:r>
            <a:r>
              <a:rPr lang="en-US" altLang="ko-KR" dirty="0"/>
              <a:t>"</a:t>
            </a:r>
            <a:r>
              <a:rPr lang="ko-KR" altLang="en-US" dirty="0"/>
              <a:t>라고 맥락을 구석구석 완벽하게 이해할 수 있게 됩니다</a:t>
            </a:r>
            <a:r>
              <a:rPr lang="en-US" altLang="ko-KR" dirty="0"/>
              <a:t>. </a:t>
            </a:r>
            <a:r>
              <a:rPr lang="ko-KR" altLang="en-US" dirty="0"/>
              <a:t>이는 </a:t>
            </a:r>
            <a:r>
              <a:rPr lang="en-US" altLang="ko-KR" dirty="0"/>
              <a:t>RAG(</a:t>
            </a:r>
            <a:r>
              <a:rPr lang="ko-KR" altLang="en-US" dirty="0"/>
              <a:t>검색 증강 생성</a:t>
            </a:r>
            <a:r>
              <a:rPr lang="en-US" altLang="ko-KR" dirty="0"/>
              <a:t>) </a:t>
            </a:r>
            <a:r>
              <a:rPr lang="ko-KR" altLang="en-US" dirty="0"/>
              <a:t>시스템의 답변 정확도를 획기적으로 끌어올립니다</a:t>
            </a:r>
            <a:r>
              <a:rPr lang="en-US" altLang="ko-KR" dirty="0"/>
              <a:t>.</a:t>
            </a:r>
          </a:p>
          <a:p>
            <a:r>
              <a:rPr lang="ko-KR" altLang="en-US" dirty="0" err="1"/>
              <a:t>옵시디언</a:t>
            </a:r>
            <a:r>
              <a:rPr lang="ko-KR" altLang="en-US" dirty="0"/>
              <a:t> 기반 </a:t>
            </a:r>
            <a:r>
              <a:rPr lang="en-US" altLang="ko-KR" dirty="0"/>
              <a:t>‘LLM Wiki’</a:t>
            </a:r>
          </a:p>
          <a:p>
            <a:pPr lvl="1"/>
            <a:r>
              <a:rPr lang="en-US" altLang="ko-KR" dirty="0"/>
              <a:t>LLLM</a:t>
            </a:r>
            <a:r>
              <a:rPr lang="ko-KR" altLang="en-US" dirty="0"/>
              <a:t>이 모든 문서를 분석해서 </a:t>
            </a:r>
            <a:r>
              <a:rPr lang="ko-KR" altLang="en-US" b="1" dirty="0"/>
              <a:t>지식 그래프로 </a:t>
            </a:r>
            <a:r>
              <a:rPr lang="ko-KR" altLang="en-US" dirty="0"/>
              <a:t>완성하여 의미 검색 가능하도록 함</a:t>
            </a:r>
          </a:p>
        </p:txBody>
      </p:sp>
    </p:spTree>
    <p:extLst>
      <p:ext uri="{BB962C8B-B14F-4D97-AF65-F5344CB8AC3E}">
        <p14:creationId xmlns:p14="http://schemas.microsoft.com/office/powerpoint/2010/main" val="8267087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766195-5B70-4E1D-9125-90AF93AE1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Agent </a:t>
            </a:r>
            <a:r>
              <a:rPr lang="ko-KR" altLang="en-US" dirty="0"/>
              <a:t>시대</a:t>
            </a:r>
            <a:r>
              <a:rPr lang="en-US" altLang="ko-KR" dirty="0"/>
              <a:t>, 'AI Ready'</a:t>
            </a:r>
            <a:r>
              <a:rPr lang="ko-KR" altLang="en-US" dirty="0"/>
              <a:t>가 중요한 이유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5D6EA7-9521-4C9D-8D14-E6324F4B8E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4024"/>
            <a:ext cx="10515600" cy="5593976"/>
          </a:xfrm>
        </p:spPr>
        <p:txBody>
          <a:bodyPr>
            <a:normAutofit lnSpcReduction="10000"/>
          </a:bodyPr>
          <a:lstStyle/>
          <a:p>
            <a:r>
              <a:rPr lang="en-US" altLang="ko-KR" b="1" dirty="0"/>
              <a:t>'</a:t>
            </a:r>
            <a:r>
              <a:rPr lang="ko-KR" altLang="en-US" b="1" dirty="0"/>
              <a:t>행동</a:t>
            </a:r>
            <a:r>
              <a:rPr lang="en-US" altLang="ko-KR" b="1" dirty="0"/>
              <a:t>(Action)'</a:t>
            </a:r>
            <a:r>
              <a:rPr lang="ko-KR" altLang="en-US" b="1" dirty="0"/>
              <a:t>의 정확성 확보</a:t>
            </a:r>
            <a:endParaRPr lang="en-US" altLang="ko-KR" b="1" dirty="0"/>
          </a:p>
          <a:p>
            <a:pPr lvl="1"/>
            <a:r>
              <a:rPr lang="ko-KR" altLang="en-US" sz="2200" dirty="0"/>
              <a:t>에이전트는 코드를 수정하거나</a:t>
            </a:r>
            <a:r>
              <a:rPr lang="en-US" altLang="ko-KR" sz="2200" dirty="0"/>
              <a:t>, </a:t>
            </a:r>
            <a:r>
              <a:rPr lang="ko-KR" altLang="en-US" sz="2200" dirty="0"/>
              <a:t>메일을 보내고</a:t>
            </a:r>
            <a:r>
              <a:rPr lang="en-US" altLang="ko-KR" sz="2200" dirty="0"/>
              <a:t>, </a:t>
            </a:r>
            <a:r>
              <a:rPr lang="ko-KR" altLang="en-US" sz="2200" dirty="0"/>
              <a:t>서버를 조작하는 등 실제 </a:t>
            </a:r>
            <a:r>
              <a:rPr lang="en-US" altLang="ko-KR" sz="2200" dirty="0"/>
              <a:t>'</a:t>
            </a:r>
            <a:r>
              <a:rPr lang="ko-KR" altLang="en-US" sz="2200" dirty="0"/>
              <a:t>행동</a:t>
            </a:r>
            <a:r>
              <a:rPr lang="en-US" altLang="ko-KR" sz="2200" dirty="0"/>
              <a:t>'</a:t>
            </a:r>
            <a:r>
              <a:rPr lang="ko-KR" altLang="en-US" sz="2200" dirty="0"/>
              <a:t>을 합니다</a:t>
            </a:r>
            <a:r>
              <a:rPr lang="en-US" altLang="ko-KR" sz="2200" dirty="0"/>
              <a:t>. </a:t>
            </a:r>
            <a:r>
              <a:rPr lang="ko-KR" altLang="en-US" sz="2200" dirty="0"/>
              <a:t>데이터가 </a:t>
            </a:r>
            <a:r>
              <a:rPr lang="en-US" altLang="ko-KR" sz="2200" dirty="0"/>
              <a:t>AI Ready </a:t>
            </a:r>
            <a:r>
              <a:rPr lang="ko-KR" altLang="en-US" sz="2200" dirty="0"/>
              <a:t>상태가 아니어 에이전트가 오작동</a:t>
            </a:r>
            <a:r>
              <a:rPr lang="en-US" altLang="ko-KR" sz="2200" dirty="0"/>
              <a:t>(Hallucination)</a:t>
            </a:r>
            <a:r>
              <a:rPr lang="ko-KR" altLang="en-US" sz="2200" dirty="0"/>
              <a:t>을 일으키면 시스템에 치명적인 오류가 발생할 수 있습니다</a:t>
            </a:r>
            <a:r>
              <a:rPr lang="en-US" altLang="ko-KR" sz="2200" dirty="0"/>
              <a:t>. </a:t>
            </a:r>
            <a:r>
              <a:rPr lang="ko-KR" altLang="en-US" sz="2200" dirty="0"/>
              <a:t>명확하고 구조화된 데이터</a:t>
            </a:r>
            <a:r>
              <a:rPr lang="en-US" altLang="ko-KR" sz="2200" dirty="0"/>
              <a:t>(</a:t>
            </a:r>
            <a:r>
              <a:rPr lang="ko-KR" altLang="en-US" sz="2200" dirty="0"/>
              <a:t>명세서</a:t>
            </a:r>
            <a:r>
              <a:rPr lang="en-US" altLang="ko-KR" sz="2200" dirty="0"/>
              <a:t>)</a:t>
            </a:r>
            <a:r>
              <a:rPr lang="ko-KR" altLang="en-US" sz="2200" dirty="0"/>
              <a:t>는 에이전트가 경로를 이탈하지 않도록 가드레일 역할을 합니다</a:t>
            </a:r>
            <a:r>
              <a:rPr lang="en-US" altLang="ko-KR" sz="2200" dirty="0"/>
              <a:t>.</a:t>
            </a:r>
          </a:p>
          <a:p>
            <a:r>
              <a:rPr lang="ko-KR" altLang="en-US" b="1" dirty="0"/>
              <a:t>컨텍스트 윈도우</a:t>
            </a:r>
            <a:r>
              <a:rPr lang="en-US" altLang="ko-KR" b="1" dirty="0"/>
              <a:t>(Context Window)</a:t>
            </a:r>
            <a:r>
              <a:rPr lang="ko-KR" altLang="en-US" b="1" dirty="0"/>
              <a:t>와 토큰 최적화</a:t>
            </a:r>
            <a:endParaRPr lang="en-US" altLang="ko-KR" b="1" dirty="0"/>
          </a:p>
          <a:p>
            <a:pPr lvl="1"/>
            <a:r>
              <a:rPr lang="en-US" altLang="ko-KR" sz="2200" dirty="0"/>
              <a:t>AI</a:t>
            </a:r>
            <a:r>
              <a:rPr lang="ko-KR" altLang="en-US" sz="2200" dirty="0"/>
              <a:t>가 한 번에 읽을 수 있는 정보의 양</a:t>
            </a:r>
            <a:r>
              <a:rPr lang="en-US" altLang="ko-KR" sz="2200" dirty="0"/>
              <a:t>(</a:t>
            </a:r>
            <a:r>
              <a:rPr lang="ko-KR" altLang="en-US" sz="2200" dirty="0"/>
              <a:t>토큰</a:t>
            </a:r>
            <a:r>
              <a:rPr lang="en-US" altLang="ko-KR" sz="2200" dirty="0"/>
              <a:t>)</a:t>
            </a:r>
            <a:r>
              <a:rPr lang="ko-KR" altLang="en-US" sz="2200" dirty="0"/>
              <a:t>은 한정되어 있고</a:t>
            </a:r>
            <a:r>
              <a:rPr lang="en-US" altLang="ko-KR" sz="2200" dirty="0"/>
              <a:t>, </a:t>
            </a:r>
            <a:r>
              <a:rPr lang="ko-KR" altLang="en-US" sz="2200" dirty="0"/>
              <a:t>비용이 발생합니다</a:t>
            </a:r>
            <a:r>
              <a:rPr lang="en-US" altLang="ko-KR" sz="2200" dirty="0"/>
              <a:t>. </a:t>
            </a:r>
            <a:r>
              <a:rPr lang="ko-KR" altLang="en-US" sz="2200" dirty="0"/>
              <a:t>화려한 </a:t>
            </a:r>
            <a:r>
              <a:rPr lang="en-US" altLang="ko-KR" sz="2200" dirty="0"/>
              <a:t>HTML </a:t>
            </a:r>
            <a:r>
              <a:rPr lang="ko-KR" altLang="en-US" sz="2200" dirty="0"/>
              <a:t>코드나 불필요한 시각적 서식이 잔뜩 들어간 문서는 토큰을 심각하게 낭비합니다</a:t>
            </a:r>
            <a:r>
              <a:rPr lang="en-US" altLang="ko-KR" sz="2200" dirty="0"/>
              <a:t>. </a:t>
            </a:r>
            <a:r>
              <a:rPr lang="ko-KR" altLang="en-US" sz="2200" dirty="0"/>
              <a:t>마크다운처럼 군더더기 없이 의미만 압축된 </a:t>
            </a:r>
            <a:r>
              <a:rPr lang="en-US" altLang="ko-KR" sz="2200" dirty="0"/>
              <a:t>AI Ready </a:t>
            </a:r>
            <a:r>
              <a:rPr lang="ko-KR" altLang="en-US" sz="2200" dirty="0"/>
              <a:t>포맷은 더 적은 비용으로 더 많은 지식을 </a:t>
            </a:r>
            <a:r>
              <a:rPr lang="en-US" altLang="ko-KR" sz="2200" dirty="0"/>
              <a:t>AI</a:t>
            </a:r>
            <a:r>
              <a:rPr lang="ko-KR" altLang="en-US" sz="2200" dirty="0"/>
              <a:t>의 머릿속에 집어넣을 수 있게 </a:t>
            </a:r>
            <a:r>
              <a:rPr lang="ko-KR" altLang="en-US" sz="2200" dirty="0" err="1"/>
              <a:t>해줌</a:t>
            </a:r>
            <a:r>
              <a:rPr lang="en-US" altLang="ko-KR" sz="2200" dirty="0"/>
              <a:t>.</a:t>
            </a:r>
          </a:p>
          <a:p>
            <a:r>
              <a:rPr lang="en-US" altLang="ko-KR" b="1" dirty="0"/>
              <a:t>'</a:t>
            </a:r>
            <a:r>
              <a:rPr lang="ko-KR" altLang="en-US" b="1" dirty="0"/>
              <a:t>연결성</a:t>
            </a:r>
            <a:r>
              <a:rPr lang="en-US" altLang="ko-KR" b="1" dirty="0"/>
              <a:t>'</a:t>
            </a:r>
            <a:r>
              <a:rPr lang="ko-KR" altLang="en-US" b="1" dirty="0"/>
              <a:t>과 </a:t>
            </a:r>
            <a:r>
              <a:rPr lang="en-US" altLang="ko-KR" b="1" dirty="0"/>
              <a:t>'</a:t>
            </a:r>
            <a:r>
              <a:rPr lang="ko-KR" altLang="en-US" b="1" dirty="0"/>
              <a:t>자동화 파이프라인</a:t>
            </a:r>
            <a:r>
              <a:rPr lang="en-US" altLang="ko-KR" b="1" dirty="0"/>
              <a:t>’ </a:t>
            </a:r>
            <a:r>
              <a:rPr lang="ko-KR" altLang="en-US" b="1" dirty="0"/>
              <a:t>구축</a:t>
            </a:r>
            <a:endParaRPr lang="en-US" altLang="ko-KR" b="1" dirty="0"/>
          </a:p>
          <a:p>
            <a:pPr lvl="1"/>
            <a:r>
              <a:rPr lang="ko-KR" altLang="en-US" sz="2200" dirty="0"/>
              <a:t>에이전트 시스템은 보통 여러 개의 </a:t>
            </a:r>
            <a:r>
              <a:rPr lang="en-US" altLang="ko-KR" sz="2200" dirty="0"/>
              <a:t>AI</a:t>
            </a:r>
            <a:r>
              <a:rPr lang="ko-KR" altLang="en-US" sz="2200" dirty="0"/>
              <a:t>가 협업하는 구조</a:t>
            </a:r>
            <a:r>
              <a:rPr lang="en-US" altLang="ko-KR" sz="2200" dirty="0"/>
              <a:t>(Multi-Agent)</a:t>
            </a:r>
            <a:r>
              <a:rPr lang="ko-KR" altLang="en-US" sz="2200" dirty="0"/>
              <a:t>를 가짐</a:t>
            </a:r>
            <a:r>
              <a:rPr lang="en-US" altLang="ko-KR" sz="2200" dirty="0"/>
              <a:t>. '</a:t>
            </a:r>
            <a:r>
              <a:rPr lang="ko-KR" altLang="en-US" sz="2200" dirty="0"/>
              <a:t>문서 분석 에이전트</a:t>
            </a:r>
            <a:r>
              <a:rPr lang="en-US" altLang="ko-KR" sz="2200" dirty="0"/>
              <a:t>'</a:t>
            </a:r>
            <a:r>
              <a:rPr lang="ko-KR" altLang="en-US" sz="2200" dirty="0"/>
              <a:t>가 추출한 결과를 </a:t>
            </a:r>
            <a:r>
              <a:rPr lang="en-US" altLang="ko-KR" sz="2200" dirty="0"/>
              <a:t>'</a:t>
            </a:r>
            <a:r>
              <a:rPr lang="ko-KR" altLang="en-US" sz="2200" dirty="0"/>
              <a:t>기획 에이전트</a:t>
            </a:r>
            <a:r>
              <a:rPr lang="en-US" altLang="ko-KR" sz="2200" dirty="0"/>
              <a:t>'</a:t>
            </a:r>
            <a:r>
              <a:rPr lang="ko-KR" altLang="en-US" sz="2200" dirty="0"/>
              <a:t>에게 넘기고</a:t>
            </a:r>
            <a:r>
              <a:rPr lang="en-US" altLang="ko-KR" sz="2200" dirty="0"/>
              <a:t>, </a:t>
            </a:r>
            <a:r>
              <a:rPr lang="ko-KR" altLang="en-US" sz="2200" dirty="0"/>
              <a:t>이를 다시 </a:t>
            </a:r>
            <a:r>
              <a:rPr lang="en-US" altLang="ko-KR" sz="2200" dirty="0"/>
              <a:t>'</a:t>
            </a:r>
            <a:r>
              <a:rPr lang="ko-KR" altLang="en-US" sz="2200" dirty="0"/>
              <a:t>코딩 에이전트</a:t>
            </a:r>
            <a:r>
              <a:rPr lang="en-US" altLang="ko-KR" sz="2200" dirty="0"/>
              <a:t>'</a:t>
            </a:r>
            <a:r>
              <a:rPr lang="ko-KR" altLang="en-US" sz="2200" dirty="0"/>
              <a:t>에게 넘기는 식</a:t>
            </a:r>
            <a:r>
              <a:rPr lang="en-US" altLang="ko-KR" sz="2200" dirty="0"/>
              <a:t>. </a:t>
            </a:r>
            <a:r>
              <a:rPr lang="ko-KR" altLang="en-US" sz="2200" dirty="0"/>
              <a:t>이때 각 에이전트 간의 소통 언어는 인간의 언어가 아니라 </a:t>
            </a:r>
            <a:r>
              <a:rPr lang="en-US" altLang="ko-KR" sz="2200" dirty="0"/>
              <a:t>API, JSON, Markdown</a:t>
            </a:r>
            <a:r>
              <a:rPr lang="ko-KR" altLang="en-US" sz="2200" dirty="0"/>
              <a:t>과 같은 </a:t>
            </a:r>
            <a:r>
              <a:rPr lang="en-US" altLang="ko-KR" sz="2200" dirty="0"/>
              <a:t>AI Ready </a:t>
            </a:r>
            <a:r>
              <a:rPr lang="ko-KR" altLang="en-US" sz="2200" dirty="0"/>
              <a:t>포맷이어야만 매끄러운 자동화 릴레이가 가능해짐</a:t>
            </a:r>
          </a:p>
        </p:txBody>
      </p:sp>
    </p:spTree>
    <p:extLst>
      <p:ext uri="{BB962C8B-B14F-4D97-AF65-F5344CB8AC3E}">
        <p14:creationId xmlns:p14="http://schemas.microsoft.com/office/powerpoint/2010/main" val="28766784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348835-8FF1-4F49-95DA-30B36D236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결론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176A681-C5F4-4489-9621-500CAF8CC5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7800"/>
            <a:ext cx="10515600" cy="5114365"/>
          </a:xfrm>
        </p:spPr>
        <p:txBody>
          <a:bodyPr>
            <a:normAutofit fontScale="92500"/>
          </a:bodyPr>
          <a:lstStyle/>
          <a:p>
            <a:r>
              <a:rPr lang="ko-KR" altLang="en-US" dirty="0"/>
              <a:t>과거 컴퓨터 공학의 핵심 과제가 </a:t>
            </a:r>
            <a:r>
              <a:rPr lang="en-US" altLang="ko-KR" dirty="0"/>
              <a:t>'</a:t>
            </a:r>
            <a:r>
              <a:rPr lang="ko-KR" altLang="en-US" dirty="0"/>
              <a:t>기계의 언어</a:t>
            </a:r>
            <a:r>
              <a:rPr lang="en-US" altLang="ko-KR" dirty="0"/>
              <a:t>(0</a:t>
            </a:r>
            <a:r>
              <a:rPr lang="ko-KR" altLang="en-US" dirty="0"/>
              <a:t>과 </a:t>
            </a:r>
            <a:r>
              <a:rPr lang="en-US" altLang="ko-KR" dirty="0"/>
              <a:t>1)</a:t>
            </a:r>
            <a:r>
              <a:rPr lang="ko-KR" altLang="en-US" dirty="0"/>
              <a:t>를 인간이 쓰기 편하게</a:t>
            </a:r>
            <a:r>
              <a:rPr lang="en-US" altLang="ko-KR" dirty="0"/>
              <a:t>(GUI) </a:t>
            </a:r>
            <a:r>
              <a:rPr lang="ko-KR" altLang="en-US" dirty="0"/>
              <a:t>만드는 것</a:t>
            </a:r>
            <a:r>
              <a:rPr lang="en-US" altLang="ko-KR" dirty="0"/>
              <a:t>'</a:t>
            </a:r>
            <a:r>
              <a:rPr lang="ko-KR" altLang="en-US" dirty="0"/>
              <a:t>이었다면</a:t>
            </a:r>
            <a:r>
              <a:rPr lang="en-US" altLang="ko-KR" dirty="0"/>
              <a:t>, </a:t>
            </a:r>
            <a:r>
              <a:rPr lang="ko-KR" altLang="en-US" dirty="0"/>
              <a:t>다가오는 </a:t>
            </a:r>
            <a:r>
              <a:rPr lang="en-US" altLang="ko-KR" dirty="0"/>
              <a:t>AI </a:t>
            </a:r>
            <a:r>
              <a:rPr lang="ko-KR" altLang="en-US" dirty="0"/>
              <a:t>시대의 핵심 과제는 반대로 </a:t>
            </a:r>
            <a:r>
              <a:rPr lang="en-US" altLang="ko-KR" b="1" dirty="0"/>
              <a:t>'</a:t>
            </a:r>
            <a:r>
              <a:rPr lang="ko-KR" altLang="en-US" b="1" dirty="0"/>
              <a:t>인간의 지식과 환경을 기계</a:t>
            </a:r>
            <a:r>
              <a:rPr lang="en-US" altLang="ko-KR" b="1" dirty="0"/>
              <a:t>(AI)</a:t>
            </a:r>
            <a:r>
              <a:rPr lang="ko-KR" altLang="en-US" b="1" dirty="0"/>
              <a:t>가 읽고 행동하기 편하게</a:t>
            </a:r>
            <a:r>
              <a:rPr lang="en-US" altLang="ko-KR" b="1" dirty="0"/>
              <a:t>(AI Ready) </a:t>
            </a:r>
            <a:r>
              <a:rPr lang="ko-KR" altLang="en-US" b="1" dirty="0"/>
              <a:t>재구축하는 것</a:t>
            </a:r>
            <a:r>
              <a:rPr lang="en-US" altLang="ko-KR" b="1" dirty="0"/>
              <a:t>’</a:t>
            </a:r>
          </a:p>
          <a:p>
            <a:r>
              <a:rPr lang="ko-KR" altLang="en-US" dirty="0"/>
              <a:t>프롬프트를 잘 쓰는 것만큼이나</a:t>
            </a:r>
            <a:r>
              <a:rPr lang="en-US" altLang="ko-KR" dirty="0"/>
              <a:t>, AI</a:t>
            </a:r>
            <a:r>
              <a:rPr lang="ko-KR" altLang="en-US" dirty="0"/>
              <a:t>가 잘 읽을 수 있는 데이터 파이프라인을 설계하는 능력이 미래 엔지니어의 핵심 경쟁력이 될 것</a:t>
            </a:r>
            <a:endParaRPr lang="en-US" altLang="ko-KR" dirty="0"/>
          </a:p>
          <a:p>
            <a:r>
              <a:rPr lang="ko-KR" altLang="en-US" dirty="0"/>
              <a:t>다가오는 시대의 훌륭한 엔지니어는 </a:t>
            </a:r>
            <a:r>
              <a:rPr lang="en-US" altLang="ko-KR" dirty="0"/>
              <a:t>＇</a:t>
            </a:r>
            <a:r>
              <a:rPr lang="ko-KR" altLang="en-US" dirty="0"/>
              <a:t>코딩을 잘 하는 사람</a:t>
            </a:r>
            <a:r>
              <a:rPr lang="en-US" altLang="ko-KR" dirty="0"/>
              <a:t>'</a:t>
            </a:r>
            <a:r>
              <a:rPr lang="ko-KR" altLang="en-US" dirty="0"/>
              <a:t>이 아니라</a:t>
            </a:r>
            <a:r>
              <a:rPr lang="en-US" altLang="ko-KR" dirty="0"/>
              <a:t>, AI </a:t>
            </a:r>
            <a:r>
              <a:rPr lang="ko-KR" altLang="en-US" dirty="0"/>
              <a:t>에이전트가 길을 잃지 않도록 명확한 </a:t>
            </a:r>
            <a:r>
              <a:rPr lang="ko-KR" altLang="en-US" b="1" dirty="0"/>
              <a:t>명세</a:t>
            </a:r>
            <a:r>
              <a:rPr lang="en-US" altLang="ko-KR" b="1" dirty="0"/>
              <a:t>(Spec)</a:t>
            </a:r>
            <a:r>
              <a:rPr lang="ko-KR" altLang="en-US" dirty="0"/>
              <a:t>를 던져주고</a:t>
            </a:r>
            <a:r>
              <a:rPr lang="en-US" altLang="ko-KR" dirty="0"/>
              <a:t>, </a:t>
            </a:r>
            <a:r>
              <a:rPr lang="ko-KR" altLang="en-US" dirty="0"/>
              <a:t>에이전트가 작성한 코드가 맞는지 스스로 검증할 수 있도록 </a:t>
            </a:r>
            <a:r>
              <a:rPr lang="en-US" altLang="ko-KR" b="1" dirty="0"/>
              <a:t>TDD</a:t>
            </a:r>
            <a:r>
              <a:rPr lang="ko-KR" altLang="en-US" dirty="0"/>
              <a:t>라는 안전망을 깔아주며</a:t>
            </a:r>
            <a:r>
              <a:rPr lang="en-US" altLang="ko-KR" dirty="0"/>
              <a:t>, </a:t>
            </a:r>
            <a:r>
              <a:rPr lang="ko-KR" altLang="en-US" dirty="0"/>
              <a:t>시스템 모델과 실제 코드가 완벽히 동기화되도록 </a:t>
            </a:r>
            <a:r>
              <a:rPr lang="ko-KR" altLang="en-US" b="1" dirty="0"/>
              <a:t>아키텍처를 통제</a:t>
            </a:r>
            <a:r>
              <a:rPr lang="ko-KR" altLang="en-US" dirty="0"/>
              <a:t>하는 사람이다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여러분은 이제 </a:t>
            </a:r>
            <a:r>
              <a:rPr lang="ko-KR" altLang="en-US" dirty="0" err="1"/>
              <a:t>코더</a:t>
            </a:r>
            <a:r>
              <a:rPr lang="en-US" altLang="ko-KR" dirty="0"/>
              <a:t>(Coder)</a:t>
            </a:r>
            <a:r>
              <a:rPr lang="ko-KR" altLang="en-US" dirty="0"/>
              <a:t>가 아니라</a:t>
            </a:r>
            <a:r>
              <a:rPr lang="en-US" altLang="ko-KR" dirty="0"/>
              <a:t>, </a:t>
            </a:r>
            <a:r>
              <a:rPr lang="ko-KR" altLang="en-US" dirty="0"/>
              <a:t>수많은 </a:t>
            </a:r>
            <a:r>
              <a:rPr lang="en-US" altLang="ko-KR" dirty="0"/>
              <a:t>AI </a:t>
            </a:r>
            <a:r>
              <a:rPr lang="ko-KR" altLang="en-US" dirty="0"/>
              <a:t>에이전트들을 지휘하는 </a:t>
            </a:r>
            <a:r>
              <a:rPr lang="en-US" altLang="ko-KR" dirty="0"/>
              <a:t>'</a:t>
            </a:r>
            <a:r>
              <a:rPr lang="ko-KR" altLang="en-US" dirty="0"/>
              <a:t>오케스트라 지휘자</a:t>
            </a:r>
            <a:r>
              <a:rPr lang="en-US" altLang="ko-KR" dirty="0"/>
              <a:t>’ </a:t>
            </a:r>
            <a:r>
              <a:rPr lang="ko-KR" altLang="en-US" dirty="0"/>
              <a:t>혹은 </a:t>
            </a:r>
            <a:r>
              <a:rPr lang="en-US" altLang="ko-KR" b="1" dirty="0"/>
              <a:t>Project Leader</a:t>
            </a:r>
            <a:r>
              <a:rPr lang="ko-KR" altLang="en-US" dirty="0"/>
              <a:t>가 되어야 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005021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28E219-173D-48E3-B7C1-53179D0A59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LLM </a:t>
            </a:r>
            <a:r>
              <a:rPr lang="ko-KR" altLang="en-US" dirty="0"/>
              <a:t>그 속이 궁금하다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8525B8D-01CE-4B0D-B2C1-55A446B0D8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86518"/>
            <a:ext cx="9144000" cy="1071282"/>
          </a:xfrm>
        </p:spPr>
        <p:txBody>
          <a:bodyPr>
            <a:normAutofit/>
          </a:bodyPr>
          <a:lstStyle/>
          <a:p>
            <a:pPr marL="342900" indent="-342900">
              <a:buFontTx/>
              <a:buChar char="-"/>
            </a:pPr>
            <a:r>
              <a:rPr lang="en-US" altLang="ko-KR" dirty="0"/>
              <a:t>Weights, Activation, Context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58935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B5BAD3-FCAB-4ED0-BC3B-ECC7A12DE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LLM</a:t>
            </a:r>
            <a:r>
              <a:rPr lang="ko-KR" altLang="en-US" dirty="0"/>
              <a:t>의 </a:t>
            </a:r>
            <a:r>
              <a:rPr lang="en-US" altLang="ko-KR" dirty="0"/>
              <a:t>“</a:t>
            </a:r>
            <a:r>
              <a:rPr lang="ko-KR" altLang="en-US" dirty="0"/>
              <a:t>추론 능력</a:t>
            </a:r>
            <a:r>
              <a:rPr lang="en-US" altLang="ko-KR" dirty="0"/>
              <a:t>”</a:t>
            </a:r>
            <a:r>
              <a:rPr lang="ko-KR" altLang="en-US" dirty="0"/>
              <a:t>은 어디에 있는가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2902BDF-9745-4854-AB46-BBA4FC3BD4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1941"/>
            <a:ext cx="10515600" cy="1600200"/>
          </a:xfrm>
        </p:spPr>
        <p:txBody>
          <a:bodyPr/>
          <a:lstStyle/>
          <a:p>
            <a:r>
              <a:rPr lang="en-US" altLang="ko-KR" b="1" dirty="0"/>
              <a:t>weights</a:t>
            </a:r>
            <a:r>
              <a:rPr lang="ko-KR" altLang="en-US" dirty="0"/>
              <a:t>에 “잠재적으로 </a:t>
            </a:r>
            <a:r>
              <a:rPr lang="ko-KR" altLang="en-US" dirty="0" err="1"/>
              <a:t>존재”하고</a:t>
            </a:r>
            <a:r>
              <a:rPr lang="en-US" altLang="ko-KR" dirty="0"/>
              <a:t>,</a:t>
            </a:r>
          </a:p>
          <a:p>
            <a:r>
              <a:rPr lang="en-US" altLang="ko-KR" b="1" dirty="0"/>
              <a:t>activation</a:t>
            </a:r>
            <a:r>
              <a:rPr lang="ko-KR" altLang="en-US" dirty="0"/>
              <a:t>을 통해 “실행되며”</a:t>
            </a:r>
            <a:r>
              <a:rPr lang="en-US" altLang="ko-KR" dirty="0"/>
              <a:t>,</a:t>
            </a:r>
          </a:p>
          <a:p>
            <a:r>
              <a:rPr lang="en-US" altLang="ko-KR" b="1" dirty="0"/>
              <a:t>context</a:t>
            </a:r>
            <a:r>
              <a:rPr lang="ko-KR" altLang="en-US" dirty="0"/>
              <a:t>에 의해 “형태가 결정된다</a:t>
            </a:r>
            <a:r>
              <a:rPr lang="en-US" altLang="ko-KR" dirty="0"/>
              <a:t>.”</a:t>
            </a:r>
            <a:endParaRPr lang="ko-KR" altLang="en-US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5B4C4085-C754-483F-9B90-5293B35FBE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4975470"/>
              </p:ext>
            </p:extLst>
          </p:nvPr>
        </p:nvGraphicFramePr>
        <p:xfrm>
          <a:off x="838200" y="3958749"/>
          <a:ext cx="10515600" cy="1707776"/>
        </p:xfrm>
        <a:graphic>
          <a:graphicData uri="http://schemas.openxmlformats.org/drawingml/2006/table">
            <a:tbl>
              <a:tblPr/>
              <a:tblGrid>
                <a:gridCol w="2362200">
                  <a:extLst>
                    <a:ext uri="{9D8B030D-6E8A-4147-A177-3AD203B41FA5}">
                      <a16:colId xmlns:a16="http://schemas.microsoft.com/office/drawing/2014/main" val="4176881417"/>
                    </a:ext>
                  </a:extLst>
                </a:gridCol>
                <a:gridCol w="4186518">
                  <a:extLst>
                    <a:ext uri="{9D8B030D-6E8A-4147-A177-3AD203B41FA5}">
                      <a16:colId xmlns:a16="http://schemas.microsoft.com/office/drawing/2014/main" val="3217984494"/>
                    </a:ext>
                  </a:extLst>
                </a:gridCol>
                <a:gridCol w="3966882">
                  <a:extLst>
                    <a:ext uri="{9D8B030D-6E8A-4147-A177-3AD203B41FA5}">
                      <a16:colId xmlns:a16="http://schemas.microsoft.com/office/drawing/2014/main" val="2177407745"/>
                    </a:ext>
                  </a:extLst>
                </a:gridCol>
              </a:tblGrid>
              <a:tr h="426944">
                <a:tc>
                  <a:txBody>
                    <a:bodyPr/>
                    <a:lstStyle/>
                    <a:p>
                      <a:pPr algn="ctr"/>
                      <a:r>
                        <a:rPr lang="ko-KR" altLang="en-US" b="1" dirty="0"/>
                        <a:t>구성 요소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b="1" dirty="0"/>
                        <a:t>역할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b="1" dirty="0"/>
                        <a:t>비유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7876699"/>
                  </a:ext>
                </a:extLst>
              </a:tr>
              <a:tr h="426944">
                <a:tc>
                  <a:txBody>
                    <a:bodyPr/>
                    <a:lstStyle/>
                    <a:p>
                      <a:r>
                        <a:rPr lang="en-US"/>
                        <a:t>Weights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잠재적 능력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규칙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회로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CPU + firmware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1327475"/>
                  </a:ext>
                </a:extLst>
              </a:tr>
              <a:tr h="426944">
                <a:tc>
                  <a:txBody>
                    <a:bodyPr/>
                    <a:lstStyle/>
                    <a:p>
                      <a:r>
                        <a:rPr lang="en-US"/>
                        <a:t>Activation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실제 계산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사고 과정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RAM + </a:t>
                      </a:r>
                      <a:r>
                        <a:rPr lang="ko-KR" altLang="en-US"/>
                        <a:t>실행 상태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2185305"/>
                  </a:ext>
                </a:extLst>
              </a:tr>
              <a:tr h="426944">
                <a:tc>
                  <a:txBody>
                    <a:bodyPr/>
                    <a:lstStyle/>
                    <a:p>
                      <a:r>
                        <a:rPr lang="en-US"/>
                        <a:t>Context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입력 </a:t>
                      </a:r>
                      <a:r>
                        <a:rPr lang="en-US" altLang="ko-KR"/>
                        <a:t>+ </a:t>
                      </a:r>
                      <a:r>
                        <a:rPr lang="ko-KR" altLang="en-US"/>
                        <a:t>프로그램 </a:t>
                      </a:r>
                      <a:r>
                        <a:rPr lang="en-US" altLang="ko-KR"/>
                        <a:t>+ </a:t>
                      </a:r>
                      <a:r>
                        <a:rPr lang="ko-KR" altLang="en-US"/>
                        <a:t>메모리 확장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실행 스크립트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931521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7CFEB74-A74C-4FED-AAC0-C7694A23CC64}"/>
              </a:ext>
            </a:extLst>
          </p:cNvPr>
          <p:cNvSpPr txBox="1"/>
          <p:nvPr/>
        </p:nvSpPr>
        <p:spPr>
          <a:xfrm>
            <a:off x="838200" y="3171696"/>
            <a:ext cx="111745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à"/>
            </a:pPr>
            <a:r>
              <a:rPr lang="ko-KR" altLang="en-US" sz="2400" i="1" dirty="0">
                <a:solidFill>
                  <a:srgbClr val="C00000"/>
                </a:solidFill>
              </a:rPr>
              <a:t>사고는 내부에 따로 존재하는 게 아니라</a:t>
            </a:r>
            <a:r>
              <a:rPr lang="en-US" altLang="ko-KR" sz="2400" i="1">
                <a:solidFill>
                  <a:srgbClr val="C00000"/>
                </a:solidFill>
              </a:rPr>
              <a:t>, </a:t>
            </a:r>
            <a:r>
              <a:rPr lang="ko-KR" altLang="en-US" sz="2400" i="1">
                <a:solidFill>
                  <a:srgbClr val="C00000"/>
                </a:solidFill>
              </a:rPr>
              <a:t>토큰 </a:t>
            </a:r>
            <a:r>
              <a:rPr lang="ko-KR" altLang="en-US" sz="2400" i="1" dirty="0">
                <a:solidFill>
                  <a:srgbClr val="C00000"/>
                </a:solidFill>
              </a:rPr>
              <a:t>생성 과정 자체가 사고다</a:t>
            </a:r>
            <a:r>
              <a:rPr lang="en-US" altLang="ko-KR" sz="2400" i="1" dirty="0">
                <a:solidFill>
                  <a:srgbClr val="C00000"/>
                </a:solidFill>
              </a:rPr>
              <a:t>. </a:t>
            </a:r>
            <a:endParaRPr lang="ko-KR" altLang="en-US" sz="2400" i="1" dirty="0">
              <a:solidFill>
                <a:srgbClr val="C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1F5403-1FB9-4CB8-ABED-77B80AAA988F}"/>
              </a:ext>
            </a:extLst>
          </p:cNvPr>
          <p:cNvSpPr txBox="1"/>
          <p:nvPr/>
        </p:nvSpPr>
        <p:spPr>
          <a:xfrm>
            <a:off x="838200" y="5907738"/>
            <a:ext cx="10515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i="1" dirty="0">
                <a:solidFill>
                  <a:srgbClr val="C00000"/>
                </a:solidFill>
                <a:sym typeface="Wingdings" panose="05000000000000000000" pitchFamily="2" charset="2"/>
              </a:rPr>
              <a:t> </a:t>
            </a:r>
            <a:r>
              <a:rPr lang="ko-KR" altLang="en-US" i="1" dirty="0">
                <a:solidFill>
                  <a:srgbClr val="C00000"/>
                </a:solidFill>
              </a:rPr>
              <a:t>악보</a:t>
            </a:r>
            <a:r>
              <a:rPr lang="en-US" altLang="ko-KR" i="1" dirty="0">
                <a:solidFill>
                  <a:srgbClr val="C00000"/>
                </a:solidFill>
              </a:rPr>
              <a:t>(</a:t>
            </a:r>
            <a:r>
              <a:rPr lang="ko-KR" altLang="en-US" i="1" dirty="0">
                <a:solidFill>
                  <a:srgbClr val="C00000"/>
                </a:solidFill>
              </a:rPr>
              <a:t>가중치</a:t>
            </a:r>
            <a:r>
              <a:rPr lang="en-US" altLang="ko-KR" i="1" dirty="0">
                <a:solidFill>
                  <a:srgbClr val="C00000"/>
                </a:solidFill>
              </a:rPr>
              <a:t>)</a:t>
            </a:r>
            <a:r>
              <a:rPr lang="ko-KR" altLang="en-US" i="1" dirty="0">
                <a:solidFill>
                  <a:srgbClr val="C00000"/>
                </a:solidFill>
              </a:rPr>
              <a:t>가 아무리 훌륭해도 연주자</a:t>
            </a:r>
            <a:r>
              <a:rPr lang="en-US" altLang="ko-KR" i="1" dirty="0">
                <a:solidFill>
                  <a:srgbClr val="C00000"/>
                </a:solidFill>
              </a:rPr>
              <a:t>(</a:t>
            </a:r>
            <a:r>
              <a:rPr lang="ko-KR" altLang="en-US" i="1" dirty="0">
                <a:solidFill>
                  <a:srgbClr val="C00000"/>
                </a:solidFill>
              </a:rPr>
              <a:t>활성화</a:t>
            </a:r>
            <a:r>
              <a:rPr lang="en-US" altLang="ko-KR" i="1" dirty="0">
                <a:solidFill>
                  <a:srgbClr val="C00000"/>
                </a:solidFill>
              </a:rPr>
              <a:t>)</a:t>
            </a:r>
            <a:r>
              <a:rPr lang="ko-KR" altLang="en-US" i="1" dirty="0">
                <a:solidFill>
                  <a:srgbClr val="C00000"/>
                </a:solidFill>
              </a:rPr>
              <a:t>가 손을 움직이지 않으면 음악이 되지 않고</a:t>
            </a:r>
            <a:r>
              <a:rPr lang="en-US" altLang="ko-KR" i="1" dirty="0">
                <a:solidFill>
                  <a:srgbClr val="C00000"/>
                </a:solidFill>
              </a:rPr>
              <a:t>, </a:t>
            </a:r>
            <a:r>
              <a:rPr lang="ko-KR" altLang="en-US" i="1" dirty="0">
                <a:solidFill>
                  <a:srgbClr val="C00000"/>
                </a:solidFill>
              </a:rPr>
              <a:t>연주자가 있어도 지휘자의 지시</a:t>
            </a:r>
            <a:r>
              <a:rPr lang="en-US" altLang="ko-KR" i="1" dirty="0">
                <a:solidFill>
                  <a:srgbClr val="C00000"/>
                </a:solidFill>
              </a:rPr>
              <a:t>(</a:t>
            </a:r>
            <a:r>
              <a:rPr lang="ko-KR" altLang="en-US" i="1" dirty="0">
                <a:solidFill>
                  <a:srgbClr val="C00000"/>
                </a:solidFill>
              </a:rPr>
              <a:t>컨텍스트</a:t>
            </a:r>
            <a:r>
              <a:rPr lang="en-US" altLang="ko-KR" i="1" dirty="0">
                <a:solidFill>
                  <a:srgbClr val="C00000"/>
                </a:solidFill>
              </a:rPr>
              <a:t>)</a:t>
            </a:r>
            <a:r>
              <a:rPr lang="ko-KR" altLang="en-US" i="1" dirty="0">
                <a:solidFill>
                  <a:srgbClr val="C00000"/>
                </a:solidFill>
              </a:rPr>
              <a:t>가 없다면 같은 악보도 전혀 다른 곡이 되어버리는 것과 같습니다</a:t>
            </a:r>
            <a:r>
              <a:rPr lang="en-US" altLang="ko-KR" i="1" dirty="0">
                <a:solidFill>
                  <a:srgbClr val="C00000"/>
                </a:solidFill>
              </a:rPr>
              <a:t>. LLM</a:t>
            </a:r>
            <a:r>
              <a:rPr lang="ko-KR" altLang="en-US" i="1" dirty="0">
                <a:solidFill>
                  <a:srgbClr val="C00000"/>
                </a:solidFill>
              </a:rPr>
              <a:t>의 추론은 이 세 가지의 실시간 만남 속에서 매번 새롭게 생성되는 현상입니다</a:t>
            </a:r>
            <a:r>
              <a:rPr lang="en-US" altLang="ko-KR" i="1" dirty="0">
                <a:solidFill>
                  <a:srgbClr val="C00000"/>
                </a:solidFill>
              </a:rPr>
              <a:t>.</a:t>
            </a:r>
            <a:endParaRPr lang="ko-KR" altLang="en-US" i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02714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8CF2091-2C3A-4878-ABD6-8FD8BFB792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8914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4AEB00-B960-40BB-B4AF-35BBFAED9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Semantic Latent </a:t>
            </a:r>
            <a:r>
              <a:rPr lang="en-US" altLang="ko-KR" b="1" dirty="0">
                <a:solidFill>
                  <a:srgbClr val="C00000"/>
                </a:solidFill>
              </a:rPr>
              <a:t>Space</a:t>
            </a:r>
            <a:r>
              <a:rPr lang="en-US" altLang="ko-KR" dirty="0"/>
              <a:t> inside LLM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A076B431-8096-4D3E-8293-8B1E4D53B5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540" y="1373043"/>
            <a:ext cx="10998878" cy="5132166"/>
          </a:xfrm>
        </p:spPr>
      </p:pic>
    </p:spTree>
    <p:extLst>
      <p:ext uri="{BB962C8B-B14F-4D97-AF65-F5344CB8AC3E}">
        <p14:creationId xmlns:p14="http://schemas.microsoft.com/office/powerpoint/2010/main" val="18961235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827A1B-002B-41A0-9E9B-C383D08C9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Weights (LLM</a:t>
            </a:r>
            <a:r>
              <a:rPr lang="ko-KR" altLang="en-US" dirty="0"/>
              <a:t> 파라미터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EF46FF6-3A23-4E64-B7E2-42EDACC13B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7800"/>
            <a:ext cx="10842812" cy="5410200"/>
          </a:xfrm>
        </p:spPr>
        <p:txBody>
          <a:bodyPr>
            <a:normAutofit fontScale="92500" lnSpcReduction="10000"/>
          </a:bodyPr>
          <a:lstStyle/>
          <a:p>
            <a:r>
              <a:rPr lang="en-US" altLang="ko-KR" dirty="0"/>
              <a:t>Transformer</a:t>
            </a:r>
            <a:r>
              <a:rPr lang="ko-KR" altLang="en-US" dirty="0"/>
              <a:t>의 </a:t>
            </a:r>
            <a:r>
              <a:rPr lang="en-US" altLang="ko-KR" dirty="0"/>
              <a:t>weight</a:t>
            </a:r>
            <a:r>
              <a:rPr lang="ko-KR" altLang="en-US" dirty="0"/>
              <a:t>는 단순한 데이터 저장소가 아니다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패턴 인식기 </a:t>
            </a:r>
            <a:r>
              <a:rPr lang="en-US" altLang="ko-KR" dirty="0"/>
              <a:t>(pattern matcher)</a:t>
            </a:r>
          </a:p>
          <a:p>
            <a:pPr lvl="1"/>
            <a:r>
              <a:rPr lang="ko-KR" altLang="en-US" dirty="0"/>
              <a:t>함수 </a:t>
            </a:r>
            <a:r>
              <a:rPr lang="ko-KR" altLang="en-US" dirty="0" err="1"/>
              <a:t>근사기</a:t>
            </a:r>
            <a:r>
              <a:rPr lang="ko-KR" altLang="en-US" dirty="0"/>
              <a:t> </a:t>
            </a:r>
            <a:r>
              <a:rPr lang="en-US" altLang="ko-KR" dirty="0"/>
              <a:t>(function approximator)</a:t>
            </a:r>
          </a:p>
          <a:p>
            <a:pPr lvl="1"/>
            <a:r>
              <a:rPr lang="ko-KR" altLang="en-US" dirty="0"/>
              <a:t>조건부 확률 분포 </a:t>
            </a:r>
            <a:r>
              <a:rPr lang="en-US" altLang="ko-KR" i="1" dirty="0"/>
              <a:t>P(</a:t>
            </a:r>
            <a:r>
              <a:rPr lang="en-US" altLang="ko-KR" i="1" dirty="0" err="1"/>
              <a:t>tokent</a:t>
            </a:r>
            <a:r>
              <a:rPr lang="en-US" altLang="ko-KR" i="1" dirty="0"/>
              <a:t> ∣ context)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ko-KR" altLang="en-US" dirty="0"/>
              <a:t> “어떤 입력이 들어오면 어떤 연산 경로를 타야 </a:t>
            </a:r>
            <a:r>
              <a:rPr lang="ko-KR" altLang="en-US" dirty="0" err="1"/>
              <a:t>하는지”에</a:t>
            </a:r>
            <a:r>
              <a:rPr lang="ko-KR" altLang="en-US" dirty="0"/>
              <a:t> 대한</a:t>
            </a:r>
            <a:br>
              <a:rPr lang="ko-KR" altLang="en-US" dirty="0"/>
            </a:br>
            <a:r>
              <a:rPr lang="en-US" altLang="ko-KR" b="1" dirty="0"/>
              <a:t>implicit program</a:t>
            </a:r>
            <a:r>
              <a:rPr lang="ko-KR" altLang="en-US" dirty="0"/>
              <a:t>이 </a:t>
            </a:r>
            <a:r>
              <a:rPr lang="en-US" altLang="ko-KR" dirty="0"/>
              <a:t>weights </a:t>
            </a:r>
            <a:r>
              <a:rPr lang="ko-KR" altLang="en-US" dirty="0"/>
              <a:t>안에 </a:t>
            </a:r>
            <a:r>
              <a:rPr lang="en-US" altLang="ko-KR" dirty="0"/>
              <a:t>encoding</a:t>
            </a:r>
            <a:r>
              <a:rPr lang="ko-KR" altLang="en-US" dirty="0"/>
              <a:t>되어 있다</a:t>
            </a:r>
            <a:r>
              <a:rPr lang="en-US" altLang="ko-KR" dirty="0"/>
              <a:t>.</a:t>
            </a:r>
            <a:endParaRPr lang="en-US" altLang="ko-KR" i="1" dirty="0"/>
          </a:p>
          <a:p>
            <a:pPr marL="457200" lvl="1" indent="0">
              <a:buNone/>
            </a:pPr>
            <a:endParaRPr lang="en-US" altLang="ko-KR" i="1" dirty="0"/>
          </a:p>
          <a:p>
            <a:r>
              <a:rPr lang="ko-KR" altLang="en-US" dirty="0"/>
              <a:t>다만</a:t>
            </a:r>
            <a:r>
              <a:rPr lang="en-US" altLang="ko-KR" dirty="0"/>
              <a:t>, Weights </a:t>
            </a:r>
            <a:r>
              <a:rPr lang="ko-KR" altLang="en-US" dirty="0"/>
              <a:t>자체에는 “사고 </a:t>
            </a:r>
            <a:r>
              <a:rPr lang="ko-KR" altLang="en-US" dirty="0" err="1"/>
              <a:t>과정”이</a:t>
            </a:r>
            <a:r>
              <a:rPr lang="ko-KR" altLang="en-US" dirty="0"/>
              <a:t> 저장되어 있지 않다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체스 </a:t>
            </a:r>
            <a:r>
              <a:rPr lang="en-US" altLang="ko-KR" dirty="0"/>
              <a:t>AI</a:t>
            </a:r>
            <a:r>
              <a:rPr lang="ko-KR" altLang="en-US" dirty="0"/>
              <a:t>의 </a:t>
            </a:r>
            <a:r>
              <a:rPr lang="en-US" altLang="ko-KR" dirty="0"/>
              <a:t>policy network</a:t>
            </a:r>
            <a:r>
              <a:rPr lang="ko-KR" altLang="en-US" dirty="0"/>
              <a:t>가 체스 전략 자체를 “문장으로 </a:t>
            </a:r>
            <a:r>
              <a:rPr lang="ko-KR" altLang="en-US" dirty="0" err="1"/>
              <a:t>저장”하지</a:t>
            </a:r>
            <a:r>
              <a:rPr lang="ko-KR" altLang="en-US" dirty="0"/>
              <a:t> 않듯이</a:t>
            </a:r>
            <a:r>
              <a:rPr lang="en-US" altLang="ko-KR" dirty="0"/>
              <a:t>, </a:t>
            </a:r>
            <a:r>
              <a:rPr lang="en-US" altLang="ko-KR" i="1" dirty="0"/>
              <a:t>LLM</a:t>
            </a:r>
            <a:r>
              <a:rPr lang="ko-KR" altLang="en-US" i="1" dirty="0"/>
              <a:t>도 </a:t>
            </a:r>
            <a:r>
              <a:rPr lang="en-US" altLang="ko-KR" i="1" dirty="0"/>
              <a:t>reasoning step</a:t>
            </a:r>
            <a:r>
              <a:rPr lang="ko-KR" altLang="en-US" i="1" dirty="0"/>
              <a:t>을 명시적으로 저장하지 않는다</a:t>
            </a:r>
            <a:r>
              <a:rPr lang="en-US" altLang="ko-KR" i="1" dirty="0"/>
              <a:t>.</a:t>
            </a:r>
          </a:p>
          <a:p>
            <a:pPr lvl="1"/>
            <a:endParaRPr lang="en-US" altLang="ko-KR" i="1" dirty="0"/>
          </a:p>
          <a:p>
            <a:r>
              <a:rPr lang="ko-KR" altLang="en-US" b="0" i="0" dirty="0">
                <a:effectLst/>
                <a:latin typeface="quote-cjk-patch"/>
              </a:rPr>
              <a:t>가중치는 모델이 사전 학습 과정에서 수많은 텍스트로부터 습득한 </a:t>
            </a:r>
            <a:r>
              <a:rPr lang="ko-KR" altLang="en-US" b="1" i="0" dirty="0">
                <a:effectLst/>
                <a:latin typeface="quote-cjk-patch"/>
              </a:rPr>
              <a:t>장기 기억이자 압축된 세계 지식</a:t>
            </a:r>
            <a:r>
              <a:rPr lang="ko-KR" altLang="en-US" b="0" i="0" dirty="0">
                <a:effectLst/>
                <a:latin typeface="quote-cjk-patch"/>
              </a:rPr>
              <a:t>입니다</a:t>
            </a:r>
            <a:r>
              <a:rPr lang="en-US" altLang="ko-KR" b="0" i="0" dirty="0">
                <a:effectLst/>
                <a:latin typeface="quote-cjk-patch"/>
              </a:rPr>
              <a:t>.</a:t>
            </a:r>
          </a:p>
          <a:p>
            <a:pPr lvl="1"/>
            <a:r>
              <a:rPr lang="ko-KR" altLang="en-US" dirty="0">
                <a:latin typeface="quote-cjk-patch"/>
              </a:rPr>
              <a:t>가중치 자체는 단지 숫자 배열일 뿐</a:t>
            </a:r>
            <a:r>
              <a:rPr lang="en-US" altLang="ko-KR" dirty="0">
                <a:latin typeface="quote-cjk-patch"/>
              </a:rPr>
              <a:t>, </a:t>
            </a:r>
            <a:r>
              <a:rPr lang="ko-KR" altLang="en-US" dirty="0">
                <a:latin typeface="quote-cjk-patch"/>
              </a:rPr>
              <a:t>스스로 생각하지 않음</a:t>
            </a:r>
            <a:r>
              <a:rPr lang="en-US" altLang="ko-KR" dirty="0">
                <a:latin typeface="quote-cjk-patch"/>
              </a:rPr>
              <a:t>. </a:t>
            </a:r>
            <a:r>
              <a:rPr lang="ko-KR" altLang="en-US" dirty="0">
                <a:latin typeface="quote-cjk-patch"/>
              </a:rPr>
              <a:t>마치 두뇌의 시냅스 연결 구조가 지식과 기술의 가능성을 품고 있지만</a:t>
            </a:r>
            <a:r>
              <a:rPr lang="en-US" altLang="ko-KR" dirty="0">
                <a:latin typeface="quote-cjk-patch"/>
              </a:rPr>
              <a:t>, </a:t>
            </a:r>
            <a:r>
              <a:rPr lang="ko-KR" altLang="en-US" dirty="0">
                <a:latin typeface="quote-cjk-patch"/>
              </a:rPr>
              <a:t>그 자체로 의식을 생성하지 않는 것과 같음</a:t>
            </a:r>
            <a:r>
              <a:rPr lang="en-US" altLang="ko-KR" dirty="0">
                <a:latin typeface="quote-cjk-patch"/>
              </a:rPr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724037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827A1B-002B-41A0-9E9B-C383D08C9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Activation: “</a:t>
            </a:r>
            <a:r>
              <a:rPr lang="ko-KR" altLang="en-US" dirty="0"/>
              <a:t>실제 사고가 일어나는 공간”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EF46FF6-3A23-4E64-B7E2-42EDACC13B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1271"/>
            <a:ext cx="10515600" cy="5656729"/>
          </a:xfrm>
        </p:spPr>
        <p:txBody>
          <a:bodyPr>
            <a:normAutofit fontScale="92500"/>
          </a:bodyPr>
          <a:lstStyle/>
          <a:p>
            <a:r>
              <a:rPr lang="ko-KR" altLang="en-US" dirty="0"/>
              <a:t>실제 “</a:t>
            </a:r>
            <a:r>
              <a:rPr lang="ko-KR" altLang="en-US" dirty="0" err="1"/>
              <a:t>생각”에</a:t>
            </a:r>
            <a:r>
              <a:rPr lang="ko-KR" altLang="en-US" dirty="0"/>
              <a:t> 해당하는 것은 </a:t>
            </a:r>
            <a:r>
              <a:rPr lang="en-US" altLang="ko-KR" dirty="0"/>
              <a:t>forward pass </a:t>
            </a:r>
            <a:r>
              <a:rPr lang="ko-KR" altLang="en-US" dirty="0"/>
              <a:t>중 </a:t>
            </a:r>
            <a:r>
              <a:rPr lang="en-US" altLang="ko-KR" dirty="0"/>
              <a:t>activation </a:t>
            </a:r>
            <a:r>
              <a:rPr lang="ko-KR" altLang="en-US" dirty="0"/>
              <a:t>흐름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모델에 입력이 들어오면</a:t>
            </a:r>
            <a:r>
              <a:rPr lang="en-US" altLang="ko-KR" dirty="0"/>
              <a:t>, </a:t>
            </a:r>
            <a:r>
              <a:rPr lang="ko-KR" altLang="en-US" dirty="0"/>
              <a:t>그 입력이 가중치와 만나면서 각 층의 뉴런에서 활성화 값이 발생합니다</a:t>
            </a:r>
            <a:r>
              <a:rPr lang="en-US" altLang="ko-KR" dirty="0"/>
              <a:t>. </a:t>
            </a:r>
            <a:r>
              <a:rPr lang="ko-KR" altLang="en-US" dirty="0"/>
              <a:t>이 활성화 패턴이 바로 그 순간의 ‘동적 사고’</a:t>
            </a:r>
            <a:endParaRPr lang="en-US" altLang="ko-KR" dirty="0"/>
          </a:p>
          <a:p>
            <a:pPr lvl="1"/>
            <a:r>
              <a:rPr lang="ko-KR" altLang="en-US" dirty="0"/>
              <a:t>추론은 가중치라는 고정된 회로 위를 흐르는 활성화라는 전기 신호로 구현</a:t>
            </a:r>
            <a:endParaRPr lang="en-US" altLang="ko-KR" dirty="0"/>
          </a:p>
          <a:p>
            <a:r>
              <a:rPr lang="en-US" altLang="ko-KR" dirty="0"/>
              <a:t>Transformer </a:t>
            </a:r>
            <a:r>
              <a:rPr lang="ko-KR" altLang="en-US" dirty="0"/>
              <a:t>내부에서는</a:t>
            </a:r>
            <a:r>
              <a:rPr lang="en-US" altLang="ko-KR" dirty="0"/>
              <a:t>:</a:t>
            </a:r>
          </a:p>
          <a:p>
            <a:pPr lvl="1"/>
            <a:r>
              <a:rPr lang="en-US" altLang="ko-KR" dirty="0"/>
              <a:t>Token → embedding → layer </a:t>
            </a:r>
            <a:r>
              <a:rPr lang="ko-KR" altLang="en-US" dirty="0"/>
              <a:t>반복</a:t>
            </a:r>
            <a:endParaRPr lang="en-US" altLang="ko-KR" dirty="0"/>
          </a:p>
          <a:p>
            <a:pPr lvl="1"/>
            <a:r>
              <a:rPr lang="ko-KR" altLang="en-US" dirty="0"/>
              <a:t>각 </a:t>
            </a:r>
            <a:r>
              <a:rPr lang="en-US" altLang="ko-KR" dirty="0"/>
              <a:t>layer</a:t>
            </a:r>
            <a:r>
              <a:rPr lang="ko-KR" altLang="en-US" dirty="0"/>
              <a:t>에서</a:t>
            </a:r>
            <a:r>
              <a:rPr lang="en-US" altLang="ko-KR" dirty="0"/>
              <a:t>, 1) attention: </a:t>
            </a:r>
            <a:r>
              <a:rPr lang="ko-KR" altLang="en-US" dirty="0"/>
              <a:t>정보 선택 </a:t>
            </a:r>
            <a:r>
              <a:rPr lang="en-US" altLang="ko-KR" dirty="0"/>
              <a:t>(routing)</a:t>
            </a:r>
          </a:p>
          <a:p>
            <a:pPr lvl="1"/>
            <a:r>
              <a:rPr lang="en-US" altLang="ko-KR" dirty="0"/>
              <a:t>2) MLP: </a:t>
            </a:r>
            <a:r>
              <a:rPr lang="ko-KR" altLang="en-US" dirty="0"/>
              <a:t>비선형 변환 </a:t>
            </a:r>
            <a:r>
              <a:rPr lang="en-US" altLang="ko-KR" dirty="0"/>
              <a:t>(computation)</a:t>
            </a:r>
          </a:p>
          <a:p>
            <a:r>
              <a:rPr lang="ko-KR" altLang="en-US" dirty="0"/>
              <a:t>이때 생기는 것</a:t>
            </a:r>
            <a:r>
              <a:rPr lang="en-US" altLang="ko-KR" dirty="0"/>
              <a:t>:</a:t>
            </a:r>
          </a:p>
          <a:p>
            <a:pPr lvl="1"/>
            <a:r>
              <a:rPr lang="en-US" altLang="ko-KR" dirty="0"/>
              <a:t>hidden states (activation)</a:t>
            </a:r>
          </a:p>
          <a:p>
            <a:pPr lvl="1"/>
            <a:r>
              <a:rPr lang="en-US" altLang="ko-KR" dirty="0"/>
              <a:t>attention patterns</a:t>
            </a:r>
          </a:p>
          <a:p>
            <a:pPr lvl="1"/>
            <a:r>
              <a:rPr lang="ko-KR" altLang="en-US" dirty="0"/>
              <a:t>👉 이게 사실상 “</a:t>
            </a:r>
            <a:r>
              <a:rPr lang="en-US" altLang="ko-KR" dirty="0"/>
              <a:t>working memory + intermediate computation”</a:t>
            </a:r>
          </a:p>
          <a:p>
            <a:pPr lvl="1"/>
            <a:r>
              <a:rPr lang="ko-KR" altLang="en-US" dirty="0"/>
              <a:t>즉</a:t>
            </a:r>
            <a:r>
              <a:rPr lang="en-US" altLang="ko-KR" dirty="0"/>
              <a:t>, </a:t>
            </a:r>
          </a:p>
          <a:p>
            <a:pPr lvl="2"/>
            <a:r>
              <a:rPr lang="en-US" altLang="ko-KR" dirty="0"/>
              <a:t>Weights = </a:t>
            </a:r>
            <a:r>
              <a:rPr lang="ko-KR" altLang="en-US" dirty="0"/>
              <a:t>장기 기억 </a:t>
            </a:r>
            <a:r>
              <a:rPr lang="en-US" altLang="ko-KR" dirty="0"/>
              <a:t>+ </a:t>
            </a:r>
            <a:r>
              <a:rPr lang="ko-KR" altLang="en-US" dirty="0"/>
              <a:t>회로 설계도</a:t>
            </a:r>
            <a:endParaRPr lang="en-US" altLang="ko-KR" dirty="0"/>
          </a:p>
          <a:p>
            <a:pPr lvl="2"/>
            <a:r>
              <a:rPr lang="en-US" altLang="ko-KR" dirty="0"/>
              <a:t>Activation = </a:t>
            </a:r>
            <a:r>
              <a:rPr lang="ko-KR" altLang="en-US" dirty="0"/>
              <a:t>실행 중인 계산 상태</a:t>
            </a:r>
            <a:r>
              <a:rPr lang="en-US" altLang="ko-KR" dirty="0"/>
              <a:t>, </a:t>
            </a:r>
            <a:r>
              <a:rPr lang="ko-KR" altLang="en-US" dirty="0"/>
              <a:t>일회성 작업 기억</a:t>
            </a:r>
            <a:r>
              <a:rPr lang="en-US" altLang="ko-KR" dirty="0"/>
              <a:t>(working memory) </a:t>
            </a:r>
            <a:r>
              <a:rPr lang="ko-KR" altLang="en-US" dirty="0"/>
              <a:t>역할</a:t>
            </a:r>
          </a:p>
        </p:txBody>
      </p:sp>
    </p:spTree>
    <p:extLst>
      <p:ext uri="{BB962C8B-B14F-4D97-AF65-F5344CB8AC3E}">
        <p14:creationId xmlns:p14="http://schemas.microsoft.com/office/powerpoint/2010/main" val="7767013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827A1B-002B-41A0-9E9B-C383D08C9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Context: </a:t>
            </a:r>
            <a:r>
              <a:rPr lang="en-US" altLang="ko-KR" sz="3600" dirty="0"/>
              <a:t>“</a:t>
            </a:r>
            <a:r>
              <a:rPr lang="ko-KR" altLang="en-US" sz="3600" dirty="0"/>
              <a:t>문제를 정의하는 입력 </a:t>
            </a:r>
            <a:r>
              <a:rPr lang="en-US" altLang="ko-KR" sz="3600" dirty="0"/>
              <a:t>+ </a:t>
            </a:r>
            <a:r>
              <a:rPr lang="ko-KR" altLang="en-US" sz="3600" dirty="0"/>
              <a:t>작업 메모리 확장”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EF46FF6-3A23-4E64-B7E2-42EDACC13B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47800"/>
            <a:ext cx="11084859" cy="5293659"/>
          </a:xfrm>
        </p:spPr>
        <p:txBody>
          <a:bodyPr>
            <a:normAutofit lnSpcReduction="10000"/>
          </a:bodyPr>
          <a:lstStyle/>
          <a:p>
            <a:r>
              <a:rPr lang="en-US" altLang="ko-KR" dirty="0"/>
              <a:t>Context</a:t>
            </a:r>
            <a:r>
              <a:rPr lang="ko-KR" altLang="en-US" dirty="0"/>
              <a:t>는 단순 입력이 아니라</a:t>
            </a:r>
            <a:r>
              <a:rPr lang="en-US" altLang="ko-KR" dirty="0"/>
              <a:t>, </a:t>
            </a:r>
          </a:p>
          <a:p>
            <a:pPr marL="457200" lvl="1" indent="0">
              <a:buNone/>
            </a:pPr>
            <a:r>
              <a:rPr lang="ko-KR" altLang="en-US" dirty="0"/>
              <a:t>👉 </a:t>
            </a:r>
            <a:r>
              <a:rPr lang="en-US" altLang="ko-KR" dirty="0"/>
              <a:t>activation trajectory</a:t>
            </a:r>
            <a:r>
              <a:rPr lang="ko-KR" altLang="en-US" dirty="0"/>
              <a:t>를 유도하는 </a:t>
            </a:r>
            <a:r>
              <a:rPr lang="en-US" altLang="ko-KR" dirty="0"/>
              <a:t>control signal</a:t>
            </a:r>
          </a:p>
          <a:p>
            <a:pPr marL="457200" lvl="1" indent="0">
              <a:buNone/>
            </a:pP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en-US" altLang="ko-KR" b="1" dirty="0">
                <a:sym typeface="Wingdings" panose="05000000000000000000" pitchFamily="2" charset="2"/>
              </a:rPr>
              <a:t>In-Context Learning</a:t>
            </a:r>
            <a:r>
              <a:rPr lang="ko-KR" altLang="en-US" dirty="0">
                <a:sym typeface="Wingdings" panose="05000000000000000000" pitchFamily="2" charset="2"/>
              </a:rPr>
              <a:t>에서는 컨텍스트가 모델의 </a:t>
            </a:r>
            <a:r>
              <a:rPr lang="ko-KR" altLang="en-US" b="1" dirty="0">
                <a:sym typeface="Wingdings" panose="05000000000000000000" pitchFamily="2" charset="2"/>
              </a:rPr>
              <a:t>단기 가중치 역할 </a:t>
            </a:r>
            <a:r>
              <a:rPr lang="ko-KR" altLang="en-US" dirty="0">
                <a:sym typeface="Wingdings" panose="05000000000000000000" pitchFamily="2" charset="2"/>
              </a:rPr>
              <a:t>수행</a:t>
            </a:r>
            <a:endParaRPr lang="en-US" altLang="ko-KR" dirty="0"/>
          </a:p>
          <a:p>
            <a:pPr lvl="1"/>
            <a:r>
              <a:rPr lang="en-US" altLang="ko-KR" dirty="0"/>
              <a:t>Prompt</a:t>
            </a:r>
          </a:p>
          <a:p>
            <a:pPr lvl="1"/>
            <a:r>
              <a:rPr lang="en-US" altLang="ko-KR" dirty="0"/>
              <a:t>system instruction</a:t>
            </a:r>
          </a:p>
          <a:p>
            <a:pPr lvl="1"/>
            <a:r>
              <a:rPr lang="en-US" altLang="ko-KR" dirty="0"/>
              <a:t>few-shot examples</a:t>
            </a:r>
          </a:p>
          <a:p>
            <a:pPr lvl="1"/>
            <a:r>
              <a:rPr lang="en-US" altLang="ko-KR" dirty="0"/>
              <a:t>chain-of-thought</a:t>
            </a:r>
          </a:p>
          <a:p>
            <a:r>
              <a:rPr lang="en-US" altLang="ko-KR" dirty="0"/>
              <a:t>(1) Context</a:t>
            </a:r>
            <a:r>
              <a:rPr lang="ko-KR" altLang="en-US" dirty="0"/>
              <a:t>는 “외부 </a:t>
            </a:r>
            <a:r>
              <a:rPr lang="en-US" altLang="ko-KR" dirty="0"/>
              <a:t>scratchpad”</a:t>
            </a:r>
          </a:p>
          <a:p>
            <a:pPr lvl="1"/>
            <a:r>
              <a:rPr lang="en-US" altLang="ko-KR" dirty="0" err="1"/>
              <a:t>CoT</a:t>
            </a:r>
            <a:r>
              <a:rPr lang="en-US" altLang="ko-KR" dirty="0"/>
              <a:t> (Chain-of-Thought)</a:t>
            </a:r>
            <a:r>
              <a:rPr lang="ko-KR" altLang="en-US" dirty="0" err="1"/>
              <a:t>는모델</a:t>
            </a:r>
            <a:r>
              <a:rPr lang="ko-KR" altLang="en-US" dirty="0"/>
              <a:t> 내부 </a:t>
            </a:r>
            <a:r>
              <a:rPr lang="en-US" altLang="ko-KR" dirty="0"/>
              <a:t>activation</a:t>
            </a:r>
            <a:r>
              <a:rPr lang="ko-KR" altLang="en-US" dirty="0"/>
              <a:t>에만 의존하지 않고</a:t>
            </a:r>
            <a:endParaRPr lang="en-US" altLang="ko-KR" dirty="0"/>
          </a:p>
          <a:p>
            <a:pPr lvl="1"/>
            <a:r>
              <a:rPr lang="ko-KR" altLang="en-US" dirty="0"/>
              <a:t>텍스트 형태로 </a:t>
            </a:r>
            <a:r>
              <a:rPr lang="en-US" altLang="ko-KR" dirty="0"/>
              <a:t>intermediate state</a:t>
            </a:r>
            <a:r>
              <a:rPr lang="ko-KR" altLang="en-US" dirty="0"/>
              <a:t>를 외부화 한다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(2) Context</a:t>
            </a:r>
            <a:r>
              <a:rPr lang="ko-KR" altLang="en-US" dirty="0"/>
              <a:t>는 “</a:t>
            </a:r>
            <a:r>
              <a:rPr lang="en-US" altLang="ko-KR" dirty="0"/>
              <a:t>program injection”</a:t>
            </a:r>
          </a:p>
          <a:p>
            <a:pPr lvl="1"/>
            <a:r>
              <a:rPr lang="en-US" altLang="ko-KR" dirty="0"/>
              <a:t>prompt engineering = runtime programming</a:t>
            </a:r>
          </a:p>
          <a:p>
            <a:pPr lvl="1"/>
            <a:r>
              <a:rPr lang="ko-KR" altLang="en-US" i="1" dirty="0">
                <a:solidFill>
                  <a:srgbClr val="C00000"/>
                </a:solidFill>
              </a:rPr>
              <a:t>같은 </a:t>
            </a:r>
            <a:r>
              <a:rPr lang="en-US" altLang="ko-KR" i="1" dirty="0">
                <a:solidFill>
                  <a:srgbClr val="C00000"/>
                </a:solidFill>
              </a:rPr>
              <a:t>weights</a:t>
            </a:r>
            <a:r>
              <a:rPr lang="ko-KR" altLang="en-US" i="1" dirty="0">
                <a:solidFill>
                  <a:srgbClr val="C00000"/>
                </a:solidFill>
              </a:rPr>
              <a:t>라도 </a:t>
            </a:r>
            <a:r>
              <a:rPr lang="en-US" altLang="ko-KR" i="1" dirty="0">
                <a:solidFill>
                  <a:srgbClr val="C00000"/>
                </a:solidFill>
              </a:rPr>
              <a:t>context</a:t>
            </a:r>
            <a:r>
              <a:rPr lang="ko-KR" altLang="en-US" i="1" dirty="0">
                <a:solidFill>
                  <a:srgbClr val="C00000"/>
                </a:solidFill>
              </a:rPr>
              <a:t>에 따라 완전히 다른 </a:t>
            </a:r>
            <a:r>
              <a:rPr lang="en-US" altLang="ko-KR" i="1" dirty="0">
                <a:solidFill>
                  <a:srgbClr val="C00000"/>
                </a:solidFill>
              </a:rPr>
              <a:t>reasoning path</a:t>
            </a:r>
            <a:endParaRPr lang="ko-KR" altLang="en-US" i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09717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2BDD22-1238-4ED8-B7C6-DFE014F9EC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기업들의</a:t>
            </a:r>
            <a:br>
              <a:rPr lang="en-US" altLang="ko-KR" dirty="0"/>
            </a:br>
            <a:r>
              <a:rPr lang="en-US" altLang="ko-KR" dirty="0"/>
              <a:t>Agent </a:t>
            </a:r>
            <a:r>
              <a:rPr lang="ko-KR" altLang="en-US" dirty="0"/>
              <a:t>도입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6DF050-420A-4EE5-971F-946C5256404D}"/>
              </a:ext>
            </a:extLst>
          </p:cNvPr>
          <p:cNvSpPr txBox="1"/>
          <p:nvPr/>
        </p:nvSpPr>
        <p:spPr>
          <a:xfrm>
            <a:off x="2895600" y="4966447"/>
            <a:ext cx="746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참고</a:t>
            </a:r>
            <a:r>
              <a:rPr lang="en-US" altLang="ko-KR" dirty="0"/>
              <a:t> </a:t>
            </a:r>
            <a:r>
              <a:rPr lang="ko-KR" altLang="en-US" dirty="0"/>
              <a:t>동영상</a:t>
            </a:r>
            <a:r>
              <a:rPr lang="en-US" altLang="ko-KR" dirty="0"/>
              <a:t>: https://www.youtube.com/watch?v=VRYJJJBqsDE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705183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F1B5A18-DFDA-4756-A392-5576A3C61FE6}"/>
              </a:ext>
            </a:extLst>
          </p:cNvPr>
          <p:cNvSpPr txBox="1"/>
          <p:nvPr/>
        </p:nvSpPr>
        <p:spPr>
          <a:xfrm>
            <a:off x="412376" y="340659"/>
            <a:ext cx="11501718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메타가 전 직원이 </a:t>
            </a:r>
            <a:r>
              <a:rPr lang="en-US" altLang="ko-KR" dirty="0"/>
              <a:t>AI </a:t>
            </a:r>
            <a:r>
              <a:rPr lang="ko-KR" altLang="en-US" dirty="0"/>
              <a:t>에이전트 활용과 개발에 매달리는 </a:t>
            </a:r>
            <a:r>
              <a:rPr lang="ko-KR" altLang="en-US" b="1" dirty="0"/>
              <a:t>‘</a:t>
            </a:r>
            <a:r>
              <a:rPr lang="en-US" altLang="ko-KR" b="1" dirty="0"/>
              <a:t>AI </a:t>
            </a:r>
            <a:r>
              <a:rPr lang="ko-KR" altLang="en-US" b="1" dirty="0"/>
              <a:t>네이티브 </a:t>
            </a:r>
            <a:r>
              <a:rPr lang="ko-KR" altLang="en-US" b="1" dirty="0" err="1"/>
              <a:t>조직’</a:t>
            </a:r>
            <a:r>
              <a:rPr lang="ko-KR" altLang="en-US" dirty="0" err="1"/>
              <a:t>으로</a:t>
            </a:r>
            <a:r>
              <a:rPr lang="ko-KR" altLang="en-US" dirty="0"/>
              <a:t> 전환하고 있다</a:t>
            </a:r>
            <a:r>
              <a:rPr lang="en-US" altLang="ko-KR" dirty="0"/>
              <a:t>. </a:t>
            </a:r>
            <a:r>
              <a:rPr lang="ko-KR" altLang="en-US" dirty="0"/>
              <a:t>그 출발점은 마크 </a:t>
            </a:r>
            <a:r>
              <a:rPr lang="ko-KR" altLang="en-US" dirty="0" err="1"/>
              <a:t>저커버그</a:t>
            </a:r>
            <a:r>
              <a:rPr lang="ko-KR" altLang="en-US" dirty="0"/>
              <a:t> </a:t>
            </a:r>
            <a:r>
              <a:rPr lang="en-US" altLang="ko-KR" dirty="0"/>
              <a:t>CEO</a:t>
            </a:r>
            <a:r>
              <a:rPr lang="ko-KR" altLang="en-US" dirty="0"/>
              <a:t>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22</a:t>
            </a:r>
            <a:r>
              <a:rPr lang="ko-KR" altLang="en-US" dirty="0"/>
              <a:t>일</a:t>
            </a:r>
            <a:r>
              <a:rPr lang="en-US" altLang="ko-KR" dirty="0"/>
              <a:t>(</a:t>
            </a:r>
            <a:r>
              <a:rPr lang="ko-KR" altLang="en-US" dirty="0"/>
              <a:t>현지시간</a:t>
            </a:r>
            <a:r>
              <a:rPr lang="en-US" altLang="ko-KR" dirty="0"/>
              <a:t>) </a:t>
            </a:r>
            <a:r>
              <a:rPr lang="ko-KR" altLang="en-US" dirty="0" err="1"/>
              <a:t>월스트리트저널</a:t>
            </a:r>
            <a:r>
              <a:rPr lang="en-US" altLang="ko-KR" dirty="0"/>
              <a:t>(WSJ)</a:t>
            </a:r>
            <a:r>
              <a:rPr lang="ko-KR" altLang="en-US" dirty="0"/>
              <a:t>에 따르면</a:t>
            </a:r>
            <a:r>
              <a:rPr lang="en-US" altLang="ko-KR" dirty="0"/>
              <a:t>, </a:t>
            </a:r>
            <a:r>
              <a:rPr lang="ko-KR" altLang="en-US" dirty="0" err="1"/>
              <a:t>저커버그</a:t>
            </a:r>
            <a:r>
              <a:rPr lang="ko-KR" altLang="en-US" dirty="0"/>
              <a:t> </a:t>
            </a:r>
            <a:r>
              <a:rPr lang="en-US" altLang="ko-KR" dirty="0"/>
              <a:t>CEO</a:t>
            </a:r>
            <a:r>
              <a:rPr lang="ko-KR" altLang="en-US" dirty="0"/>
              <a:t>는 현재 자신의 업무를 </a:t>
            </a:r>
            <a:r>
              <a:rPr lang="ko-KR" altLang="en-US" b="1" dirty="0"/>
              <a:t>지원하는 ‘</a:t>
            </a:r>
            <a:r>
              <a:rPr lang="en-US" altLang="ko-KR" b="1" dirty="0"/>
              <a:t>CEO </a:t>
            </a:r>
            <a:r>
              <a:rPr lang="ko-KR" altLang="en-US" b="1" dirty="0"/>
              <a:t>전용 </a:t>
            </a:r>
            <a:r>
              <a:rPr lang="en-US" altLang="ko-KR" b="1" dirty="0"/>
              <a:t>AI </a:t>
            </a:r>
            <a:r>
              <a:rPr lang="ko-KR" altLang="en-US" b="1" dirty="0" err="1"/>
              <a:t>에이전트’를</a:t>
            </a:r>
            <a:r>
              <a:rPr lang="ko-KR" altLang="en-US" b="1" dirty="0"/>
              <a:t> 개발</a:t>
            </a:r>
            <a:r>
              <a:rPr lang="ko-KR" altLang="en-US" dirty="0"/>
              <a:t> 중이다</a:t>
            </a:r>
            <a:r>
              <a:rPr lang="en-US" altLang="ko-KR" dirty="0"/>
              <a:t>. </a:t>
            </a:r>
            <a:r>
              <a:rPr lang="ko-KR" altLang="en-US" dirty="0"/>
              <a:t>이는 조직 내 여러 단계를 거치지 않고도 필요한 정보를 즉시 제공하는 등 의사결정 속도를 높이는 역할을 수행한다</a:t>
            </a:r>
            <a:r>
              <a:rPr lang="en-US" altLang="ko-KR" dirty="0"/>
              <a:t>. </a:t>
            </a:r>
            <a:r>
              <a:rPr lang="ko-KR" altLang="en-US" dirty="0"/>
              <a:t>메타 전반에서 진행 중인 ‘개인 </a:t>
            </a:r>
            <a:r>
              <a:rPr lang="en-US" altLang="ko-KR" dirty="0"/>
              <a:t>AI </a:t>
            </a:r>
            <a:r>
              <a:rPr lang="ko-KR" altLang="en-US" dirty="0"/>
              <a:t>에이전트’ 전략의 일부다</a:t>
            </a:r>
            <a:r>
              <a:rPr lang="en-US" altLang="ko-KR" dirty="0"/>
              <a:t>. </a:t>
            </a:r>
            <a:r>
              <a:rPr lang="ko-KR" altLang="en-US" dirty="0"/>
              <a:t>메타는 </a:t>
            </a:r>
            <a:r>
              <a:rPr lang="en-US" altLang="ko-KR" dirty="0"/>
              <a:t>AI</a:t>
            </a:r>
            <a:r>
              <a:rPr lang="ko-KR" altLang="en-US" dirty="0"/>
              <a:t>를 통해 조직 구조를 단순화하고 업무 속도를 극대화하는 것을 목표로 하고 있다</a:t>
            </a:r>
            <a:r>
              <a:rPr lang="en-US" altLang="ko-KR" dirty="0"/>
              <a:t>. </a:t>
            </a:r>
            <a:r>
              <a:rPr lang="ko-KR" altLang="en-US" dirty="0"/>
              <a:t>최종적으로는 모든 직원이 맞춤형 에이전트를 갖춘 환경을 구축할 예정이다</a:t>
            </a:r>
            <a:r>
              <a:rPr lang="en-US" altLang="ko-KR" dirty="0"/>
              <a:t>. </a:t>
            </a:r>
          </a:p>
          <a:p>
            <a:endParaRPr lang="en-US" altLang="ko-KR" dirty="0"/>
          </a:p>
          <a:p>
            <a:r>
              <a:rPr lang="ko-KR" altLang="en-US" dirty="0" err="1"/>
              <a:t>저커버그</a:t>
            </a:r>
            <a:r>
              <a:rPr lang="ko-KR" altLang="en-US" dirty="0"/>
              <a:t> </a:t>
            </a:r>
            <a:r>
              <a:rPr lang="en-US" altLang="ko-KR" dirty="0"/>
              <a:t>CEO</a:t>
            </a:r>
            <a:r>
              <a:rPr lang="ko-KR" altLang="en-US" dirty="0"/>
              <a:t>는 “</a:t>
            </a:r>
            <a:r>
              <a:rPr lang="en-US" altLang="ko-KR" dirty="0"/>
              <a:t>AI </a:t>
            </a:r>
            <a:r>
              <a:rPr lang="ko-KR" altLang="en-US" dirty="0"/>
              <a:t>네이티브 도구를 통해 개인의 생산성을 극대화하고 조직을 </a:t>
            </a:r>
            <a:r>
              <a:rPr lang="ko-KR" altLang="en-US" dirty="0" err="1"/>
              <a:t>수평화할</a:t>
            </a:r>
            <a:r>
              <a:rPr lang="ko-KR" altLang="en-US" dirty="0"/>
              <a:t> </a:t>
            </a:r>
            <a:r>
              <a:rPr lang="ko-KR" altLang="en-US" dirty="0" err="1"/>
              <a:t>것”이라며</a:t>
            </a:r>
            <a:r>
              <a:rPr lang="en-US" altLang="ko-KR" dirty="0"/>
              <a:t>, </a:t>
            </a:r>
            <a:r>
              <a:rPr lang="ko-KR" altLang="en-US" dirty="0"/>
              <a:t>직원 개개인의 역할을 강화하는 방향으로 조직을 재설계하고 있다고 밝혔다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메타 내부에서는 </a:t>
            </a:r>
            <a:r>
              <a:rPr lang="en-US" altLang="ko-KR" dirty="0"/>
              <a:t>AI </a:t>
            </a:r>
            <a:r>
              <a:rPr lang="ko-KR" altLang="en-US" dirty="0"/>
              <a:t>활용이 빠르게 확산하고 있다</a:t>
            </a:r>
            <a:r>
              <a:rPr lang="en-US" altLang="ko-KR" dirty="0"/>
              <a:t>. </a:t>
            </a:r>
            <a:r>
              <a:rPr lang="ko-KR" altLang="en-US" dirty="0"/>
              <a:t>직원 평가에 </a:t>
            </a:r>
            <a:r>
              <a:rPr lang="en-US" altLang="ko-KR" dirty="0"/>
              <a:t>AI </a:t>
            </a:r>
            <a:r>
              <a:rPr lang="ko-KR" altLang="en-US" dirty="0"/>
              <a:t>활용이 반영되며</a:t>
            </a:r>
            <a:r>
              <a:rPr lang="en-US" altLang="ko-KR" dirty="0"/>
              <a:t>, </a:t>
            </a:r>
            <a:r>
              <a:rPr lang="ko-KR" altLang="en-US" dirty="0"/>
              <a:t>사내에서는 새로운 </a:t>
            </a:r>
            <a:r>
              <a:rPr lang="en-US" altLang="ko-KR" dirty="0"/>
              <a:t>AI </a:t>
            </a:r>
            <a:r>
              <a:rPr lang="ko-KR" altLang="en-US" dirty="0"/>
              <a:t>활용 사례와 자체 개발 도구 공유가 활발히 이뤄지고 있다</a:t>
            </a:r>
            <a:r>
              <a:rPr lang="en-US" altLang="ko-KR" dirty="0"/>
              <a:t>. </a:t>
            </a:r>
            <a:r>
              <a:rPr lang="ko-KR" altLang="en-US" dirty="0"/>
              <a:t>일부 직원들은 현재 분위기를 과거 페이스북 시절의 ‘빠르게 움직이고 부수며 혁신하라</a:t>
            </a:r>
            <a:r>
              <a:rPr lang="en-US" altLang="ko-KR" dirty="0"/>
              <a:t>(move fast and break things)’ </a:t>
            </a:r>
            <a:r>
              <a:rPr lang="ko-KR" altLang="en-US" dirty="0"/>
              <a:t>문화에 비유하기도 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직원들은 </a:t>
            </a:r>
            <a:r>
              <a:rPr lang="ko-KR" altLang="en-US" b="1" dirty="0"/>
              <a:t>‘마이 </a:t>
            </a:r>
            <a:r>
              <a:rPr lang="ko-KR" altLang="en-US" b="1" dirty="0" err="1"/>
              <a:t>클로</a:t>
            </a:r>
            <a:r>
              <a:rPr lang="en-US" altLang="ko-KR" b="1" dirty="0"/>
              <a:t>(My Claw)’</a:t>
            </a:r>
            <a:r>
              <a:rPr lang="ko-KR" altLang="en-US" dirty="0"/>
              <a:t>와 같은 개인 에이전트를 활용해 업무를 자동화하고 있으며</a:t>
            </a:r>
            <a:r>
              <a:rPr lang="en-US" altLang="ko-KR" dirty="0"/>
              <a:t>, </a:t>
            </a:r>
            <a:r>
              <a:rPr lang="ko-KR" altLang="en-US" dirty="0"/>
              <a:t>문서 검색과 프로젝트 지원을 수행하는 </a:t>
            </a:r>
            <a:r>
              <a:rPr lang="ko-KR" altLang="en-US" b="1" dirty="0"/>
              <a:t>‘세컨드 브레인</a:t>
            </a:r>
            <a:r>
              <a:rPr lang="en-US" altLang="ko-KR" b="1" dirty="0"/>
              <a:t>(Second Brain)’ </a:t>
            </a:r>
            <a:r>
              <a:rPr lang="ko-KR" altLang="en-US" dirty="0"/>
              <a:t>같은 내부 도구도 빠르게 확산 중이다</a:t>
            </a:r>
            <a:r>
              <a:rPr lang="en-US" altLang="ko-KR" dirty="0"/>
              <a:t>. </a:t>
            </a:r>
            <a:r>
              <a:rPr lang="ko-KR" altLang="en-US" dirty="0"/>
              <a:t>심지어 일부 환경에서는 직원들의 </a:t>
            </a:r>
            <a:r>
              <a:rPr lang="en-US" altLang="ko-KR" dirty="0"/>
              <a:t>AI </a:t>
            </a:r>
            <a:r>
              <a:rPr lang="ko-KR" altLang="en-US" dirty="0"/>
              <a:t>에이전트끼리 서로 소통하며 작업을 처리하는 사례도 등장했다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출처 </a:t>
            </a:r>
            <a:r>
              <a:rPr lang="en-US" altLang="ko-KR" dirty="0"/>
              <a:t>: AI</a:t>
            </a:r>
            <a:r>
              <a:rPr lang="ko-KR" altLang="en-US" dirty="0"/>
              <a:t>타임스</a:t>
            </a:r>
            <a:r>
              <a:rPr lang="en-US" altLang="ko-KR" dirty="0"/>
              <a:t>(https://www.aitimes.com)</a:t>
            </a:r>
          </a:p>
        </p:txBody>
      </p:sp>
    </p:spTree>
    <p:extLst>
      <p:ext uri="{BB962C8B-B14F-4D97-AF65-F5344CB8AC3E}">
        <p14:creationId xmlns:p14="http://schemas.microsoft.com/office/powerpoint/2010/main" val="35236099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16D22E-B93F-4C17-83A5-47992F28C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AI Agent</a:t>
            </a:r>
            <a:r>
              <a:rPr lang="ko-KR" altLang="en-US" dirty="0"/>
              <a:t>를 기업에서 도입할 때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2C3D571-D116-4C0B-8935-EFAA5744C0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개인</a:t>
            </a:r>
            <a:r>
              <a:rPr lang="en-US" altLang="ko-KR" dirty="0"/>
              <a:t> </a:t>
            </a:r>
            <a:r>
              <a:rPr lang="ko-KR" altLang="en-US" dirty="0"/>
              <a:t>비서</a:t>
            </a:r>
            <a:r>
              <a:rPr lang="en-US" altLang="ko-KR" dirty="0"/>
              <a:t>/</a:t>
            </a:r>
            <a:r>
              <a:rPr lang="ko-KR" altLang="en-US" dirty="0"/>
              <a:t>도구에서 부서</a:t>
            </a:r>
            <a:r>
              <a:rPr lang="en-US" altLang="ko-KR" dirty="0"/>
              <a:t>, </a:t>
            </a:r>
            <a:r>
              <a:rPr lang="ko-KR" altLang="en-US" dirty="0"/>
              <a:t>그리고 전사로 확대 적용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79394BA-D5D7-41AB-A0C4-27D19E9B37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400839"/>
            <a:ext cx="11098174" cy="4315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1268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7F6FC1-D678-496E-AE5A-E0DE34FEA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AI Agent</a:t>
            </a:r>
            <a:r>
              <a:rPr lang="ko-KR" altLang="en-US" dirty="0"/>
              <a:t>를 기업에서 도입할 때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86B08E5-6CB2-4445-BEA4-3E43279E42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0224"/>
            <a:ext cx="11147612" cy="1008512"/>
          </a:xfrm>
        </p:spPr>
        <p:txBody>
          <a:bodyPr>
            <a:normAutofit/>
          </a:bodyPr>
          <a:lstStyle/>
          <a:p>
            <a:r>
              <a:rPr lang="ko-KR" altLang="en-US" dirty="0"/>
              <a:t>무조건 빠르게 도입하는 것 보다는 </a:t>
            </a:r>
            <a:endParaRPr lang="en-US" altLang="ko-KR" dirty="0"/>
          </a:p>
          <a:p>
            <a:r>
              <a:rPr lang="ko-KR" altLang="en-US" dirty="0"/>
              <a:t>속도와 리스크 간 균형을 유지하며 확산</a:t>
            </a:r>
            <a:r>
              <a:rPr lang="en-US" altLang="ko-KR" dirty="0"/>
              <a:t>/</a:t>
            </a:r>
            <a:r>
              <a:rPr lang="ko-KR" altLang="en-US" dirty="0"/>
              <a:t>확대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7399943-205A-476B-9C2C-BC00085C49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777" y="2456312"/>
            <a:ext cx="11717385" cy="4258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4910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16D22E-B93F-4C17-83A5-47992F28C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AI Agent</a:t>
            </a:r>
            <a:r>
              <a:rPr lang="ko-KR" altLang="en-US" dirty="0"/>
              <a:t> </a:t>
            </a:r>
            <a:r>
              <a:rPr lang="en-US" altLang="ko-KR" dirty="0"/>
              <a:t>-</a:t>
            </a:r>
            <a:r>
              <a:rPr lang="ko-KR" altLang="en-US" dirty="0"/>
              <a:t> </a:t>
            </a:r>
            <a:r>
              <a:rPr lang="en-US" altLang="ko-KR" dirty="0"/>
              <a:t>Small Start </a:t>
            </a:r>
            <a:r>
              <a:rPr lang="ko-KR" altLang="en-US" dirty="0"/>
              <a:t>과제 선정 기준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2C3D571-D116-4C0B-8935-EFAA5744C0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2635"/>
            <a:ext cx="10515600" cy="5334000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ko-KR" altLang="en-US" b="1" dirty="0"/>
              <a:t>반복성</a:t>
            </a:r>
            <a:endParaRPr lang="en-US" altLang="ko-KR" b="1" dirty="0"/>
          </a:p>
          <a:p>
            <a:pPr lvl="1">
              <a:buFontTx/>
              <a:buChar char="-"/>
            </a:pPr>
            <a:r>
              <a:rPr lang="ko-KR" altLang="en-US" dirty="0"/>
              <a:t>매일 </a:t>
            </a:r>
            <a:r>
              <a:rPr lang="en-US" altLang="ko-KR" dirty="0"/>
              <a:t>· </a:t>
            </a:r>
            <a:r>
              <a:rPr lang="ko-KR" altLang="en-US" dirty="0"/>
              <a:t>매주 반복되는 업무인가</a:t>
            </a:r>
            <a:r>
              <a:rPr lang="en-US" altLang="ko-KR" dirty="0"/>
              <a:t>? </a:t>
            </a:r>
          </a:p>
          <a:p>
            <a:pPr lvl="1">
              <a:buFontTx/>
              <a:buChar char="-"/>
            </a:pPr>
            <a:r>
              <a:rPr lang="ko-KR" altLang="en-US" dirty="0"/>
              <a:t>반복성이 높을수록 </a:t>
            </a:r>
            <a:r>
              <a:rPr lang="en-US" altLang="ko-KR" dirty="0"/>
              <a:t>AI </a:t>
            </a:r>
            <a:r>
              <a:rPr lang="ko-KR" altLang="en-US" dirty="0"/>
              <a:t>효과가 크고 </a:t>
            </a:r>
            <a:r>
              <a:rPr lang="en-US" altLang="ko-KR" dirty="0"/>
              <a:t>ROI</a:t>
            </a:r>
            <a:r>
              <a:rPr lang="ko-KR" altLang="en-US" dirty="0"/>
              <a:t>가 빠르다</a:t>
            </a:r>
            <a:r>
              <a:rPr lang="en-US" altLang="ko-KR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ko-KR" altLang="en-US" b="1" dirty="0" err="1"/>
              <a:t>병목성</a:t>
            </a:r>
            <a:endParaRPr lang="en-US" altLang="ko-KR" b="1" dirty="0"/>
          </a:p>
          <a:p>
            <a:pPr lvl="1">
              <a:buFontTx/>
              <a:buChar char="-"/>
            </a:pPr>
            <a:r>
              <a:rPr lang="ko-KR" altLang="en-US" dirty="0"/>
              <a:t>현재 이 업무가 전체 프로세스의 병목인가</a:t>
            </a:r>
            <a:r>
              <a:rPr lang="en-US" altLang="ko-KR" dirty="0"/>
              <a:t>? </a:t>
            </a:r>
          </a:p>
          <a:p>
            <a:pPr lvl="1">
              <a:buFontTx/>
              <a:buChar char="-"/>
            </a:pPr>
            <a:r>
              <a:rPr lang="ko-KR" altLang="en-US" dirty="0"/>
              <a:t>병목 해소는 즉각적인 성과로 이어진다</a:t>
            </a:r>
            <a:r>
              <a:rPr lang="en-US" altLang="ko-KR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ko-KR" altLang="en-US" b="1" dirty="0"/>
              <a:t>측정 가능성</a:t>
            </a:r>
            <a:endParaRPr lang="en-US" altLang="ko-KR" b="1" dirty="0"/>
          </a:p>
          <a:p>
            <a:pPr lvl="1">
              <a:buFontTx/>
              <a:buChar char="-"/>
            </a:pPr>
            <a:r>
              <a:rPr lang="ko-KR" altLang="en-US" dirty="0"/>
              <a:t>성과를 숫자로 측정할 수 있는가</a:t>
            </a:r>
            <a:r>
              <a:rPr lang="en-US" altLang="ko-KR" dirty="0"/>
              <a:t>? </a:t>
            </a:r>
          </a:p>
          <a:p>
            <a:pPr lvl="1">
              <a:buFontTx/>
              <a:buChar char="-"/>
            </a:pPr>
            <a:r>
              <a:rPr lang="ko-KR" altLang="en-US" dirty="0"/>
              <a:t>측정 불가능한 과제는 성공 여부를 판단할 수 없다</a:t>
            </a:r>
            <a:r>
              <a:rPr lang="en-US" altLang="ko-KR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ko-KR" altLang="en-US" b="1" dirty="0"/>
              <a:t>리스크 통제 가능성</a:t>
            </a:r>
            <a:endParaRPr lang="en-US" altLang="ko-KR" b="1" dirty="0"/>
          </a:p>
          <a:p>
            <a:pPr lvl="1">
              <a:buFontTx/>
              <a:buChar char="-"/>
            </a:pPr>
            <a:r>
              <a:rPr lang="en-US" altLang="ko-KR" dirty="0"/>
              <a:t>AI</a:t>
            </a:r>
            <a:r>
              <a:rPr lang="ko-KR" altLang="en-US" dirty="0"/>
              <a:t>가 실수해도 큰 피해가 없는 업무인가</a:t>
            </a:r>
            <a:r>
              <a:rPr lang="en-US" altLang="ko-KR" dirty="0"/>
              <a:t>? </a:t>
            </a:r>
          </a:p>
          <a:p>
            <a:pPr lvl="1">
              <a:buFontTx/>
              <a:buChar char="-"/>
            </a:pPr>
            <a:r>
              <a:rPr lang="ko-KR" altLang="en-US" dirty="0"/>
              <a:t>고위험 의사결정보다 보조 업무부터 시작</a:t>
            </a:r>
            <a:r>
              <a:rPr lang="en-US" altLang="ko-KR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ko-KR" altLang="en-US" b="1" dirty="0"/>
              <a:t>확장 가능성</a:t>
            </a:r>
            <a:endParaRPr lang="en-US" altLang="ko-KR" b="1" dirty="0"/>
          </a:p>
          <a:p>
            <a:pPr lvl="1">
              <a:buFontTx/>
              <a:buChar char="-"/>
            </a:pPr>
            <a:r>
              <a:rPr lang="ko-KR" altLang="en-US" dirty="0"/>
              <a:t>성공 시 다른 팀 </a:t>
            </a:r>
            <a:r>
              <a:rPr lang="en-US" altLang="ko-KR" dirty="0"/>
              <a:t>· </a:t>
            </a:r>
            <a:r>
              <a:rPr lang="ko-KR" altLang="en-US" dirty="0"/>
              <a:t>부서로 확산할 수 있는가</a:t>
            </a:r>
            <a:r>
              <a:rPr lang="en-US" altLang="ko-KR" dirty="0"/>
              <a:t>? </a:t>
            </a:r>
          </a:p>
          <a:p>
            <a:pPr lvl="1">
              <a:buFontTx/>
              <a:buChar char="-"/>
            </a:pPr>
            <a:r>
              <a:rPr lang="ko-KR" altLang="en-US" dirty="0"/>
              <a:t>확장성이 있어야 </a:t>
            </a:r>
            <a:r>
              <a:rPr lang="en-US" altLang="ko-KR" dirty="0"/>
              <a:t>Small Start</a:t>
            </a:r>
            <a:r>
              <a:rPr lang="ko-KR" altLang="en-US" dirty="0"/>
              <a:t>가 확산</a:t>
            </a:r>
            <a:r>
              <a:rPr lang="en-US" altLang="ko-KR" dirty="0"/>
              <a:t>/</a:t>
            </a:r>
            <a:r>
              <a:rPr lang="ko-KR" altLang="en-US" dirty="0"/>
              <a:t>확대로 이어진다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101284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F21CCF-C5C8-4B1B-A7F6-6AC3C5110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41424" cy="720725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Agent</a:t>
            </a:r>
            <a:r>
              <a:rPr lang="ko-KR" altLang="en-US" dirty="0"/>
              <a:t> 활용</a:t>
            </a:r>
            <a:r>
              <a:rPr lang="en-US" altLang="ko-KR" dirty="0"/>
              <a:t> </a:t>
            </a:r>
            <a:r>
              <a:rPr lang="ko-KR" altLang="en-US" dirty="0"/>
              <a:t>분야</a:t>
            </a:r>
            <a:r>
              <a:rPr lang="en-US" altLang="ko-KR" dirty="0"/>
              <a:t>(1)</a:t>
            </a:r>
            <a:r>
              <a:rPr lang="ko-KR" altLang="en-US" dirty="0"/>
              <a:t> </a:t>
            </a:r>
            <a:r>
              <a:rPr lang="en-US" altLang="ko-KR" dirty="0"/>
              <a:t>-</a:t>
            </a:r>
            <a:r>
              <a:rPr lang="ko-KR" altLang="en-US" dirty="0"/>
              <a:t> 지식검색</a:t>
            </a:r>
            <a:r>
              <a:rPr lang="en-US" altLang="ko-KR" dirty="0"/>
              <a:t>/</a:t>
            </a:r>
            <a:r>
              <a:rPr lang="ko-KR" altLang="en-US" dirty="0"/>
              <a:t>문서탐색</a:t>
            </a:r>
            <a:r>
              <a:rPr lang="en-US" altLang="ko-KR" dirty="0"/>
              <a:t>/RAG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42FC6EA-18F8-49D9-A22E-D7A54DF169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7801"/>
            <a:ext cx="10515600" cy="3680012"/>
          </a:xfrm>
        </p:spPr>
        <p:txBody>
          <a:bodyPr/>
          <a:lstStyle/>
          <a:p>
            <a:r>
              <a:rPr lang="en-US" altLang="ko-KR" dirty="0"/>
              <a:t>RAG(Retrieval-Augmented Generation)</a:t>
            </a:r>
          </a:p>
          <a:p>
            <a:pPr lvl="1"/>
            <a:r>
              <a:rPr lang="ko-KR" altLang="en-US" dirty="0"/>
              <a:t>사내 문서</a:t>
            </a:r>
            <a:r>
              <a:rPr lang="en-US" altLang="ko-KR" dirty="0"/>
              <a:t>, </a:t>
            </a:r>
            <a:r>
              <a:rPr lang="ko-KR" altLang="en-US" dirty="0"/>
              <a:t>매뉴얼</a:t>
            </a:r>
            <a:r>
              <a:rPr lang="en-US" altLang="ko-KR" dirty="0"/>
              <a:t>, </a:t>
            </a:r>
            <a:r>
              <a:rPr lang="ko-KR" altLang="en-US" dirty="0"/>
              <a:t>규정</a:t>
            </a:r>
            <a:r>
              <a:rPr lang="en-US" altLang="ko-KR" dirty="0"/>
              <a:t>, </a:t>
            </a:r>
            <a:r>
              <a:rPr lang="ko-KR" altLang="en-US" dirty="0"/>
              <a:t>보고서를 </a:t>
            </a:r>
            <a:r>
              <a:rPr lang="en-US" altLang="ko-KR" dirty="0"/>
              <a:t>AI</a:t>
            </a:r>
            <a:r>
              <a:rPr lang="ko-KR" altLang="en-US" dirty="0"/>
              <a:t>가 검색하고 답변을 생성하는 기술입니다</a:t>
            </a:r>
            <a:r>
              <a:rPr lang="en-US" altLang="ko-KR" dirty="0"/>
              <a:t>. </a:t>
            </a:r>
            <a:r>
              <a:rPr lang="ko-KR" altLang="en-US" dirty="0"/>
              <a:t>직원이 </a:t>
            </a:r>
            <a:r>
              <a:rPr lang="en-US" altLang="ko-KR" dirty="0"/>
              <a:t>"</a:t>
            </a:r>
            <a:r>
              <a:rPr lang="ko-KR" altLang="en-US" dirty="0"/>
              <a:t>이 규정이 어디 있지</a:t>
            </a:r>
            <a:r>
              <a:rPr lang="en-US" altLang="ko-KR" dirty="0"/>
              <a:t>?"</a:t>
            </a:r>
            <a:r>
              <a:rPr lang="ko-KR" altLang="en-US" dirty="0"/>
              <a:t>를 검색하는 대신</a:t>
            </a:r>
            <a:r>
              <a:rPr lang="en-US" altLang="ko-KR" dirty="0"/>
              <a:t>, </a:t>
            </a:r>
            <a:r>
              <a:rPr lang="ko-KR" altLang="en-US" dirty="0"/>
              <a:t>자연어로 질문하면 </a:t>
            </a:r>
            <a:r>
              <a:rPr lang="en-US" altLang="ko-KR" dirty="0"/>
              <a:t>AI</a:t>
            </a:r>
            <a:r>
              <a:rPr lang="ko-KR" altLang="en-US" dirty="0"/>
              <a:t>가 관련 문서를 찾아 요약해줍니다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RAG</a:t>
            </a:r>
            <a:r>
              <a:rPr lang="ko-KR" altLang="en-US" dirty="0"/>
              <a:t>를 먼저 시작해야 하는 이유</a:t>
            </a:r>
            <a:endParaRPr lang="en-US" altLang="ko-KR" dirty="0"/>
          </a:p>
          <a:p>
            <a:pPr lvl="1"/>
            <a:r>
              <a:rPr lang="ko-KR" altLang="en-US" dirty="0"/>
              <a:t>모든 직무에 공통 적용 가능</a:t>
            </a:r>
          </a:p>
          <a:p>
            <a:pPr lvl="1"/>
            <a:r>
              <a:rPr lang="ko-KR" altLang="en-US" dirty="0"/>
              <a:t>기존 문서 자산을 그대로 활용</a:t>
            </a:r>
          </a:p>
          <a:p>
            <a:pPr lvl="1"/>
            <a:r>
              <a:rPr lang="ko-KR" altLang="en-US" dirty="0"/>
              <a:t>빠른 효용 체감 </a:t>
            </a:r>
            <a:r>
              <a:rPr lang="en-US" altLang="ko-KR" dirty="0"/>
              <a:t>(</a:t>
            </a:r>
            <a:r>
              <a:rPr lang="ko-KR" altLang="en-US" dirty="0"/>
              <a:t>도입 후 즉시 사용 가능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리스크가 낮음 </a:t>
            </a:r>
            <a:r>
              <a:rPr lang="en-US" altLang="ko-KR" dirty="0"/>
              <a:t>(</a:t>
            </a:r>
            <a:r>
              <a:rPr lang="ko-KR" altLang="en-US" dirty="0"/>
              <a:t>외부 공개 아닌 내부 검색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CBB313-FCC6-45BD-8E3E-FFC1C3528147}"/>
              </a:ext>
            </a:extLst>
          </p:cNvPr>
          <p:cNvSpPr txBox="1"/>
          <p:nvPr/>
        </p:nvSpPr>
        <p:spPr>
          <a:xfrm>
            <a:off x="7888941" y="3361765"/>
            <a:ext cx="3890683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[ </a:t>
            </a:r>
            <a:r>
              <a:rPr lang="ko-KR" altLang="en-US" sz="2000" b="1" dirty="0"/>
              <a:t>기대 효과</a:t>
            </a:r>
            <a:r>
              <a:rPr lang="en-US" altLang="ko-KR" sz="2000" b="1" dirty="0"/>
              <a:t>]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문서 탐색 시간 대폭 단축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신입</a:t>
            </a:r>
            <a:r>
              <a:rPr lang="en-US" altLang="ko-KR" dirty="0"/>
              <a:t>/</a:t>
            </a:r>
            <a:r>
              <a:rPr lang="ko-KR" altLang="en-US" dirty="0" err="1"/>
              <a:t>이직자</a:t>
            </a:r>
            <a:r>
              <a:rPr lang="ko-KR" altLang="en-US" dirty="0"/>
              <a:t> </a:t>
            </a:r>
            <a:r>
              <a:rPr lang="ko-KR" altLang="en-US" dirty="0" err="1"/>
              <a:t>온보딩</a:t>
            </a:r>
            <a:r>
              <a:rPr lang="ko-KR" altLang="en-US" dirty="0"/>
              <a:t> 가속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반복 문의 감소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지식 공유 활성화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1C300F-D04D-48EB-A552-CEB0FE5CF005}"/>
              </a:ext>
            </a:extLst>
          </p:cNvPr>
          <p:cNvSpPr txBox="1"/>
          <p:nvPr/>
        </p:nvSpPr>
        <p:spPr>
          <a:xfrm>
            <a:off x="2223247" y="5477435"/>
            <a:ext cx="84806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i="1" dirty="0">
                <a:solidFill>
                  <a:srgbClr val="C00000"/>
                </a:solidFill>
              </a:rPr>
              <a:t>핵심</a:t>
            </a:r>
            <a:r>
              <a:rPr lang="en-US" altLang="ko-KR" sz="2400" i="1" dirty="0">
                <a:solidFill>
                  <a:srgbClr val="C00000"/>
                </a:solidFill>
              </a:rPr>
              <a:t>: </a:t>
            </a:r>
            <a:r>
              <a:rPr lang="ko-KR" altLang="en-US" sz="2400" i="1" dirty="0">
                <a:solidFill>
                  <a:srgbClr val="C00000"/>
                </a:solidFill>
              </a:rPr>
              <a:t>좋은 문서가 있어야 좋은 </a:t>
            </a:r>
            <a:r>
              <a:rPr lang="en-US" altLang="ko-KR" sz="2400" i="1" dirty="0">
                <a:solidFill>
                  <a:srgbClr val="C00000"/>
                </a:solidFill>
              </a:rPr>
              <a:t>RAG</a:t>
            </a:r>
            <a:r>
              <a:rPr lang="ko-KR" altLang="en-US" sz="2400" i="1" dirty="0">
                <a:solidFill>
                  <a:srgbClr val="C00000"/>
                </a:solidFill>
              </a:rPr>
              <a:t>가 됩니다</a:t>
            </a:r>
            <a:r>
              <a:rPr lang="en-US" altLang="ko-KR" sz="2400" i="1" dirty="0">
                <a:solidFill>
                  <a:srgbClr val="C00000"/>
                </a:solidFill>
              </a:rPr>
              <a:t>. </a:t>
            </a:r>
          </a:p>
          <a:p>
            <a:r>
              <a:rPr lang="ko-KR" altLang="en-US" sz="2400" i="1" dirty="0">
                <a:solidFill>
                  <a:srgbClr val="C00000"/>
                </a:solidFill>
              </a:rPr>
              <a:t>문서 정비가 선행 과제입니다</a:t>
            </a:r>
            <a:r>
              <a:rPr lang="en-US" altLang="ko-KR" sz="2400" i="1" dirty="0">
                <a:solidFill>
                  <a:srgbClr val="C00000"/>
                </a:solidFill>
              </a:rPr>
              <a:t>.</a:t>
            </a:r>
            <a:endParaRPr lang="ko-KR" altLang="en-US" sz="2400" i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06286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F21CCF-C5C8-4B1B-A7F6-6AC3C5110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Agent </a:t>
            </a:r>
            <a:r>
              <a:rPr lang="ko-KR" altLang="en-US" dirty="0"/>
              <a:t>활용</a:t>
            </a:r>
            <a:r>
              <a:rPr lang="en-US" altLang="ko-KR" dirty="0"/>
              <a:t> </a:t>
            </a:r>
            <a:r>
              <a:rPr lang="ko-KR" altLang="en-US" dirty="0"/>
              <a:t>분야 </a:t>
            </a:r>
            <a:r>
              <a:rPr lang="en-US" altLang="ko-KR" dirty="0"/>
              <a:t>(2)</a:t>
            </a:r>
            <a:br>
              <a:rPr lang="en-US" altLang="ko-KR" dirty="0"/>
            </a:br>
            <a:r>
              <a:rPr lang="ko-KR" altLang="en-US" sz="4000" b="1" dirty="0"/>
              <a:t>문서 초안 작성</a:t>
            </a:r>
            <a:r>
              <a:rPr lang="en-US" altLang="ko-KR" sz="4000" b="1" dirty="0"/>
              <a:t>/</a:t>
            </a:r>
            <a:r>
              <a:rPr lang="ko-KR" altLang="en-US" sz="4000" b="1" dirty="0"/>
              <a:t>보고서 요약</a:t>
            </a:r>
            <a:r>
              <a:rPr lang="en-US" altLang="ko-KR" sz="4000" b="1" dirty="0"/>
              <a:t>/</a:t>
            </a:r>
            <a:r>
              <a:rPr lang="ko-KR" altLang="en-US" sz="4000" b="1" dirty="0"/>
              <a:t>계약 </a:t>
            </a:r>
            <a:r>
              <a:rPr lang="en-US" altLang="ko-KR" sz="4000" b="1" dirty="0"/>
              <a:t>· </a:t>
            </a:r>
            <a:r>
              <a:rPr lang="ko-KR" altLang="en-US" sz="4000" b="1" dirty="0"/>
              <a:t>규정 검토</a:t>
            </a:r>
            <a:endParaRPr lang="ko-KR" altLang="en-US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42FC6EA-18F8-49D9-A22E-D7A54DF169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35051"/>
            <a:ext cx="10515600" cy="3644153"/>
          </a:xfrm>
        </p:spPr>
        <p:txBody>
          <a:bodyPr/>
          <a:lstStyle/>
          <a:p>
            <a:r>
              <a:rPr lang="ko-KR" altLang="en-US" dirty="0"/>
              <a:t>가장 많은 직원이 즉시 체감할 수 있는 </a:t>
            </a:r>
            <a:r>
              <a:rPr lang="ko-KR" altLang="en-US" dirty="0" err="1"/>
              <a:t>유스케이스</a:t>
            </a:r>
            <a:endParaRPr lang="en-US" altLang="ko-KR" dirty="0"/>
          </a:p>
          <a:p>
            <a:r>
              <a:rPr lang="ko-KR" altLang="en-US" dirty="0"/>
              <a:t>보고서 </a:t>
            </a:r>
            <a:r>
              <a:rPr lang="en-US" altLang="ko-KR" dirty="0"/>
              <a:t>· </a:t>
            </a:r>
            <a:r>
              <a:rPr lang="ko-KR" altLang="en-US" dirty="0"/>
              <a:t>기획서 초안 생성</a:t>
            </a:r>
          </a:p>
          <a:p>
            <a:pPr lvl="1"/>
            <a:r>
              <a:rPr lang="ko-KR" altLang="en-US" dirty="0"/>
              <a:t>→ 구조와 목차를 잡고 초안을 만들어 작성 시간을 단축</a:t>
            </a:r>
          </a:p>
          <a:p>
            <a:r>
              <a:rPr lang="ko-KR" altLang="en-US" dirty="0"/>
              <a:t>회의록 </a:t>
            </a:r>
            <a:r>
              <a:rPr lang="en-US" altLang="ko-KR" dirty="0"/>
              <a:t>· </a:t>
            </a:r>
            <a:r>
              <a:rPr lang="ko-KR" altLang="en-US" dirty="0"/>
              <a:t>인터뷰 요약</a:t>
            </a:r>
          </a:p>
          <a:p>
            <a:pPr lvl="1"/>
            <a:r>
              <a:rPr lang="ko-KR" altLang="en-US" dirty="0"/>
              <a:t>→ 긴 텍스트를 핵심 포인트로 자동 요약</a:t>
            </a:r>
          </a:p>
          <a:p>
            <a:r>
              <a:rPr lang="ko-KR" altLang="en-US" dirty="0"/>
              <a:t>계약서 </a:t>
            </a:r>
            <a:r>
              <a:rPr lang="en-US" altLang="ko-KR" dirty="0"/>
              <a:t>· </a:t>
            </a:r>
            <a:r>
              <a:rPr lang="ko-KR" altLang="en-US" dirty="0"/>
              <a:t>규정 검토 보조</a:t>
            </a:r>
          </a:p>
          <a:p>
            <a:pPr lvl="1"/>
            <a:r>
              <a:rPr lang="ko-KR" altLang="en-US" dirty="0"/>
              <a:t>→ 주요 조항 추출</a:t>
            </a:r>
            <a:r>
              <a:rPr lang="en-US" altLang="ko-KR" dirty="0"/>
              <a:t>, </a:t>
            </a:r>
            <a:r>
              <a:rPr lang="ko-KR" altLang="en-US" dirty="0"/>
              <a:t>리스크 항목 플래그 처리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0362BC-3A50-44DD-B7EF-063225CD26D0}"/>
              </a:ext>
            </a:extLst>
          </p:cNvPr>
          <p:cNvSpPr txBox="1"/>
          <p:nvPr/>
        </p:nvSpPr>
        <p:spPr>
          <a:xfrm>
            <a:off x="8095129" y="3657600"/>
            <a:ext cx="388171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Human-in-the-Loop </a:t>
            </a:r>
            <a:r>
              <a:rPr lang="ko-KR" altLang="en-US" b="1" dirty="0"/>
              <a:t>필수</a:t>
            </a:r>
            <a:endParaRPr lang="en-US" altLang="ko-KR" b="1" dirty="0"/>
          </a:p>
          <a:p>
            <a:r>
              <a:rPr lang="en-US" altLang="ko-KR" dirty="0"/>
              <a:t>• </a:t>
            </a:r>
            <a:r>
              <a:rPr lang="ko-KR" altLang="en-US" dirty="0"/>
              <a:t>사실 오류</a:t>
            </a:r>
            <a:r>
              <a:rPr lang="en-US" altLang="ko-KR" dirty="0"/>
              <a:t>(Hallucination) </a:t>
            </a:r>
            <a:r>
              <a:rPr lang="ko-KR" altLang="en-US" dirty="0"/>
              <a:t>가능성</a:t>
            </a:r>
          </a:p>
          <a:p>
            <a:r>
              <a:rPr lang="en-US" altLang="ko-KR" dirty="0"/>
              <a:t>• </a:t>
            </a:r>
            <a:r>
              <a:rPr lang="ko-KR" altLang="en-US" dirty="0"/>
              <a:t>맥락 누락 가능성</a:t>
            </a:r>
          </a:p>
          <a:p>
            <a:r>
              <a:rPr lang="en-US" altLang="ko-KR" dirty="0"/>
              <a:t>• </a:t>
            </a:r>
            <a:r>
              <a:rPr lang="ko-KR" altLang="en-US" dirty="0"/>
              <a:t>법적 </a:t>
            </a:r>
            <a:r>
              <a:rPr lang="en-US" altLang="ko-KR" dirty="0"/>
              <a:t>· </a:t>
            </a:r>
            <a:r>
              <a:rPr lang="ko-KR" altLang="en-US" dirty="0"/>
              <a:t>윤리적 책임은 인간에게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C4105F-5FF4-4C3B-8CDF-F8F5EAD10A28}"/>
              </a:ext>
            </a:extLst>
          </p:cNvPr>
          <p:cNvSpPr txBox="1"/>
          <p:nvPr/>
        </p:nvSpPr>
        <p:spPr>
          <a:xfrm>
            <a:off x="3325906" y="5504329"/>
            <a:ext cx="72972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AI</a:t>
            </a:r>
            <a:r>
              <a:rPr lang="ko-KR" altLang="en-US" sz="2400" i="1" dirty="0"/>
              <a:t>는 초안 작성자</a:t>
            </a:r>
            <a:r>
              <a:rPr lang="en-US" altLang="ko-KR" sz="2400" i="1" dirty="0"/>
              <a:t>, </a:t>
            </a:r>
            <a:r>
              <a:rPr lang="ko-KR" altLang="en-US" sz="2400" i="1" dirty="0"/>
              <a:t>인간은 최종 편집자</a:t>
            </a:r>
          </a:p>
        </p:txBody>
      </p:sp>
    </p:spTree>
    <p:extLst>
      <p:ext uri="{BB962C8B-B14F-4D97-AF65-F5344CB8AC3E}">
        <p14:creationId xmlns:p14="http://schemas.microsoft.com/office/powerpoint/2010/main" val="39348131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F21CCF-C5C8-4B1B-A7F6-6AC3C5110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4000" dirty="0"/>
              <a:t>Agent</a:t>
            </a:r>
            <a:r>
              <a:rPr lang="ko-KR" altLang="en-US" sz="4000" dirty="0"/>
              <a:t> 활용</a:t>
            </a:r>
            <a:r>
              <a:rPr lang="en-US" altLang="ko-KR" sz="4000" dirty="0"/>
              <a:t> </a:t>
            </a:r>
            <a:r>
              <a:rPr lang="ko-KR" altLang="en-US" sz="4000" dirty="0"/>
              <a:t>분야</a:t>
            </a:r>
            <a:r>
              <a:rPr lang="en-US" altLang="ko-KR" sz="4000" dirty="0"/>
              <a:t>(3) - </a:t>
            </a:r>
            <a:r>
              <a:rPr lang="ko-KR" altLang="en-US" sz="4000" dirty="0"/>
              <a:t>고객</a:t>
            </a:r>
            <a:r>
              <a:rPr lang="en-US" altLang="ko-KR" sz="4000" dirty="0"/>
              <a:t>·</a:t>
            </a:r>
            <a:r>
              <a:rPr lang="ko-KR" altLang="en-US" sz="4000" dirty="0"/>
              <a:t>직원 문의 대응 자동화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42FC6EA-18F8-49D9-A22E-D7A54DF169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7800"/>
            <a:ext cx="10515600" cy="5168153"/>
          </a:xfrm>
        </p:spPr>
        <p:txBody>
          <a:bodyPr>
            <a:normAutofit/>
          </a:bodyPr>
          <a:lstStyle/>
          <a:p>
            <a:r>
              <a:rPr lang="ko-KR" altLang="en-US" dirty="0" err="1"/>
              <a:t>챗봇에서</a:t>
            </a:r>
            <a:r>
              <a:rPr lang="ko-KR" altLang="en-US" dirty="0"/>
              <a:t> 에이전트로 </a:t>
            </a:r>
            <a:r>
              <a:rPr lang="en-US" altLang="ko-KR" dirty="0"/>
              <a:t>- </a:t>
            </a:r>
            <a:r>
              <a:rPr lang="ko-KR" altLang="en-US" dirty="0"/>
              <a:t>단순 응답을 넘어 업무 처리까지 확장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고객문의 자동화</a:t>
            </a:r>
            <a:endParaRPr lang="en-US" altLang="ko-KR" dirty="0"/>
          </a:p>
          <a:p>
            <a:pPr lvl="1"/>
            <a:r>
              <a:rPr lang="en-US" altLang="ko-KR" dirty="0"/>
              <a:t>24</a:t>
            </a:r>
            <a:r>
              <a:rPr lang="ko-KR" altLang="en-US" dirty="0"/>
              <a:t>시간 </a:t>
            </a:r>
            <a:r>
              <a:rPr lang="en-US" altLang="ko-KR" dirty="0"/>
              <a:t>1</a:t>
            </a:r>
            <a:r>
              <a:rPr lang="ko-KR" altLang="en-US" dirty="0"/>
              <a:t>차 응대 자동화</a:t>
            </a:r>
            <a:endParaRPr lang="en-US" altLang="ko-KR" dirty="0"/>
          </a:p>
          <a:p>
            <a:pPr lvl="1"/>
            <a:r>
              <a:rPr lang="ko-KR" altLang="en-US" dirty="0"/>
              <a:t>복잡한 문의는 담당자에게 에스컬레이션</a:t>
            </a:r>
            <a:endParaRPr lang="en-US" altLang="ko-KR" dirty="0"/>
          </a:p>
          <a:p>
            <a:pPr lvl="1"/>
            <a:r>
              <a:rPr lang="ko-KR" altLang="en-US" dirty="0"/>
              <a:t>응대 이력 자동 기록 및 분석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직원문의 자동화 </a:t>
            </a:r>
            <a:r>
              <a:rPr lang="en-US" altLang="ko-KR" dirty="0"/>
              <a:t>(</a:t>
            </a:r>
            <a:r>
              <a:rPr lang="ko-KR" altLang="en-US" dirty="0" err="1"/>
              <a:t>헬프데스크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반복적인 </a:t>
            </a:r>
            <a:r>
              <a:rPr lang="en-US" altLang="ko-KR" dirty="0"/>
              <a:t>HR </a:t>
            </a:r>
            <a:r>
              <a:rPr lang="ko-KR" altLang="en-US" dirty="0"/>
              <a:t>문의 자동 처리</a:t>
            </a:r>
          </a:p>
          <a:p>
            <a:pPr lvl="1"/>
            <a:r>
              <a:rPr lang="en-US" altLang="ko-KR" dirty="0"/>
              <a:t>IT </a:t>
            </a:r>
            <a:r>
              <a:rPr lang="ko-KR" altLang="en-US" dirty="0"/>
              <a:t>장애 </a:t>
            </a:r>
            <a:r>
              <a:rPr lang="en-US" altLang="ko-KR" dirty="0"/>
              <a:t>1</a:t>
            </a:r>
            <a:r>
              <a:rPr lang="ko-KR" altLang="en-US" dirty="0"/>
              <a:t>차 진단 및 가이드</a:t>
            </a:r>
          </a:p>
          <a:p>
            <a:pPr lvl="1"/>
            <a:r>
              <a:rPr lang="ko-KR" altLang="en-US" dirty="0"/>
              <a:t>담당자 업무 부담 대폭 감소</a:t>
            </a:r>
          </a:p>
        </p:txBody>
      </p:sp>
      <p:pic>
        <p:nvPicPr>
          <p:cNvPr id="5122" name="Picture 2" descr="A diagram showing three vertical bars of increasing height from left to right, representing the evolution of customer service automation. The first bar is dark blue with an icon of a book and a question mark, labeled '규칙 기반 챗봇'. The second bar is medium blue with an icon of a leaf, labeled 'AI 챗봇'. The third bar is light blue with an icon of a computer monitor and a cursor, labeled 'AI 에이전트'.">
            <a:extLst>
              <a:ext uri="{FF2B5EF4-FFF2-40B4-BE49-F238E27FC236}">
                <a16:creationId xmlns:a16="http://schemas.microsoft.com/office/drawing/2014/main" id="{328AD826-0625-4393-AAD9-36272B3A64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5315" y="2693894"/>
            <a:ext cx="426085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74584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F21CCF-C5C8-4B1B-A7F6-6AC3C5110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111753" cy="720725"/>
          </a:xfrm>
        </p:spPr>
        <p:txBody>
          <a:bodyPr>
            <a:noAutofit/>
          </a:bodyPr>
          <a:lstStyle/>
          <a:p>
            <a:r>
              <a:rPr lang="en-US" altLang="ko-KR" sz="3600" dirty="0"/>
              <a:t>Agent</a:t>
            </a:r>
            <a:r>
              <a:rPr lang="ko-KR" altLang="en-US" sz="3600" dirty="0"/>
              <a:t> 활용</a:t>
            </a:r>
            <a:r>
              <a:rPr lang="en-US" altLang="ko-KR" sz="3600" dirty="0"/>
              <a:t> </a:t>
            </a:r>
            <a:r>
              <a:rPr lang="ko-KR" altLang="en-US" sz="3600" dirty="0"/>
              <a:t>분야 </a:t>
            </a:r>
            <a:r>
              <a:rPr lang="en-US" altLang="ko-KR" sz="3600" dirty="0"/>
              <a:t>(4) - </a:t>
            </a:r>
            <a:r>
              <a:rPr lang="ko-KR" altLang="en-US" sz="3600" dirty="0"/>
              <a:t>운영</a:t>
            </a:r>
            <a:r>
              <a:rPr lang="en-US" altLang="ko-KR" sz="3600" dirty="0"/>
              <a:t>·</a:t>
            </a:r>
            <a:r>
              <a:rPr lang="ko-KR" altLang="en-US" sz="3600" dirty="0"/>
              <a:t>설비</a:t>
            </a:r>
            <a:r>
              <a:rPr lang="en-US" altLang="ko-KR" sz="3600" dirty="0"/>
              <a:t>·</a:t>
            </a:r>
            <a:r>
              <a:rPr lang="ko-KR" altLang="en-US" sz="3600" dirty="0"/>
              <a:t>품질</a:t>
            </a:r>
            <a:r>
              <a:rPr lang="en-US" altLang="ko-KR" sz="3600" dirty="0"/>
              <a:t>·</a:t>
            </a:r>
            <a:r>
              <a:rPr lang="ko-KR" altLang="en-US" sz="3600" dirty="0"/>
              <a:t>유지보수 영역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42FC6EA-18F8-49D9-A22E-D7A54DF169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7800"/>
            <a:ext cx="11111752" cy="47291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ko-KR" altLang="en-US" sz="2400" i="1" dirty="0"/>
              <a:t>제조 </a:t>
            </a:r>
            <a:r>
              <a:rPr lang="en-US" altLang="ko-KR" sz="2400" i="1" dirty="0"/>
              <a:t>· </a:t>
            </a:r>
            <a:r>
              <a:rPr lang="ko-KR" altLang="en-US" sz="2400" i="1" dirty="0"/>
              <a:t>산업 현장에서도 </a:t>
            </a:r>
            <a:r>
              <a:rPr lang="en-US" altLang="ko-KR" sz="2400" i="1" dirty="0"/>
              <a:t>AX</a:t>
            </a:r>
            <a:r>
              <a:rPr lang="ko-KR" altLang="en-US" sz="2400" i="1" dirty="0"/>
              <a:t>는 실질적인 성과를 만들어냅니다</a:t>
            </a:r>
            <a:r>
              <a:rPr lang="en-US" altLang="ko-KR" sz="2400" i="1" dirty="0"/>
              <a:t>.</a:t>
            </a:r>
          </a:p>
          <a:p>
            <a:pPr lvl="1"/>
            <a:endParaRPr lang="en-US" altLang="ko-KR" sz="1400" dirty="0"/>
          </a:p>
          <a:p>
            <a:r>
              <a:rPr lang="ko-KR" altLang="en-US" b="1" i="0" dirty="0">
                <a:solidFill>
                  <a:srgbClr val="374151"/>
                </a:solidFill>
                <a:effectLst/>
                <a:latin typeface="Manrope"/>
              </a:rPr>
              <a:t>설비 이상 감지 </a:t>
            </a:r>
            <a:r>
              <a:rPr lang="en-US" altLang="ko-KR" b="1" i="0" dirty="0">
                <a:solidFill>
                  <a:srgbClr val="374151"/>
                </a:solidFill>
                <a:effectLst/>
                <a:latin typeface="Manrope"/>
              </a:rPr>
              <a:t>(Anomaly Detection)</a:t>
            </a:r>
          </a:p>
          <a:p>
            <a:pPr lvl="1"/>
            <a:r>
              <a:rPr lang="ko-KR" altLang="en-US" dirty="0"/>
              <a:t>센서 데이터를 </a:t>
            </a:r>
            <a:r>
              <a:rPr lang="en-US" altLang="ko-KR" dirty="0"/>
              <a:t>AI</a:t>
            </a:r>
            <a:r>
              <a:rPr lang="ko-KR" altLang="en-US" dirty="0"/>
              <a:t>가 실시간 분석해 이상 징후를 사전에 감지</a:t>
            </a:r>
            <a:endParaRPr lang="en-US" altLang="ko-KR" dirty="0"/>
          </a:p>
          <a:p>
            <a:pPr lvl="1"/>
            <a:r>
              <a:rPr lang="ko-KR" altLang="en-US" dirty="0"/>
              <a:t>예방 정비</a:t>
            </a:r>
            <a:r>
              <a:rPr lang="en-US" altLang="ko-KR" dirty="0"/>
              <a:t>(Predictive Maintenance)</a:t>
            </a:r>
            <a:r>
              <a:rPr lang="ko-KR" altLang="en-US" dirty="0"/>
              <a:t>로 전환해 계획되지 않은 다운타임 감소</a:t>
            </a:r>
            <a:endParaRPr lang="en-US" altLang="ko-KR" dirty="0"/>
          </a:p>
          <a:p>
            <a:r>
              <a:rPr lang="ko-KR" altLang="en-US" b="1" i="0" dirty="0">
                <a:solidFill>
                  <a:srgbClr val="374151"/>
                </a:solidFill>
                <a:effectLst/>
                <a:latin typeface="Manrope"/>
              </a:rPr>
              <a:t>품질 검사 보조 </a:t>
            </a:r>
            <a:r>
              <a:rPr lang="en-US" altLang="ko-KR" b="1" i="0" dirty="0">
                <a:solidFill>
                  <a:srgbClr val="374151"/>
                </a:solidFill>
                <a:effectLst/>
                <a:latin typeface="Manrope"/>
              </a:rPr>
              <a:t>(Visual Inspection)</a:t>
            </a:r>
          </a:p>
          <a:p>
            <a:pPr lvl="1"/>
            <a:r>
              <a:rPr lang="ko-KR" altLang="en-US" dirty="0"/>
              <a:t>카메라와 </a:t>
            </a:r>
            <a:r>
              <a:rPr lang="en-US" altLang="ko-KR" dirty="0"/>
              <a:t>AI</a:t>
            </a:r>
            <a:r>
              <a:rPr lang="ko-KR" altLang="en-US" dirty="0"/>
              <a:t>를 결합해 제품 </a:t>
            </a:r>
            <a:r>
              <a:rPr lang="ko-KR" altLang="en-US" dirty="0" err="1"/>
              <a:t>불량를</a:t>
            </a:r>
            <a:r>
              <a:rPr lang="ko-KR" altLang="en-US" dirty="0"/>
              <a:t> 자동 감지</a:t>
            </a:r>
            <a:r>
              <a:rPr lang="en-US" altLang="ko-KR" dirty="0"/>
              <a:t>. </a:t>
            </a:r>
          </a:p>
          <a:p>
            <a:pPr lvl="1"/>
            <a:r>
              <a:rPr lang="ko-KR" altLang="en-US" dirty="0"/>
              <a:t>사람이 놓치기 쉬운 미세 결함도 일관되게 탐지해 품질 균질화에 기여</a:t>
            </a:r>
            <a:endParaRPr lang="en-US" altLang="ko-KR" dirty="0"/>
          </a:p>
          <a:p>
            <a:r>
              <a:rPr lang="ko-KR" altLang="en-US" b="1" i="0" dirty="0">
                <a:solidFill>
                  <a:srgbClr val="374151"/>
                </a:solidFill>
                <a:effectLst/>
                <a:latin typeface="Manrope"/>
              </a:rPr>
              <a:t>유지보수 지식 검색 </a:t>
            </a:r>
            <a:r>
              <a:rPr lang="en-US" altLang="ko-KR" b="1" i="0" dirty="0">
                <a:solidFill>
                  <a:srgbClr val="374151"/>
                </a:solidFill>
                <a:effectLst/>
                <a:latin typeface="Manrope"/>
              </a:rPr>
              <a:t>(Maintenance Copilot)</a:t>
            </a:r>
          </a:p>
          <a:p>
            <a:pPr lvl="1"/>
            <a:r>
              <a:rPr lang="ko-KR" altLang="en-US" dirty="0"/>
              <a:t>방대한 설비 매뉴얼과 수리 이력을 </a:t>
            </a:r>
            <a:r>
              <a:rPr lang="en-US" altLang="ko-KR" dirty="0"/>
              <a:t>AI</a:t>
            </a:r>
            <a:r>
              <a:rPr lang="ko-KR" altLang="en-US" dirty="0"/>
              <a:t>가 검색해 현장 작업자에게 즉시 가이드 제공</a:t>
            </a:r>
            <a:r>
              <a:rPr lang="en-US" altLang="ko-KR" dirty="0"/>
              <a:t>. </a:t>
            </a:r>
          </a:p>
          <a:p>
            <a:pPr lvl="1"/>
            <a:r>
              <a:rPr lang="ko-KR" altLang="en-US" dirty="0" err="1"/>
              <a:t>숙련자</a:t>
            </a:r>
            <a:r>
              <a:rPr lang="ko-KR" altLang="en-US" dirty="0"/>
              <a:t> 의존도를 낮추고 신속한 문제 해결을 지원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A54510-CA9C-4A38-8384-72B1AEBF4A24}"/>
              </a:ext>
            </a:extLst>
          </p:cNvPr>
          <p:cNvSpPr txBox="1"/>
          <p:nvPr/>
        </p:nvSpPr>
        <p:spPr>
          <a:xfrm>
            <a:off x="2859741" y="6308209"/>
            <a:ext cx="8982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i="1" dirty="0">
                <a:solidFill>
                  <a:srgbClr val="C00000"/>
                </a:solidFill>
              </a:rPr>
              <a:t>제조 </a:t>
            </a:r>
            <a:r>
              <a:rPr lang="en-US" altLang="ko-KR" i="1" dirty="0">
                <a:solidFill>
                  <a:srgbClr val="C00000"/>
                </a:solidFill>
              </a:rPr>
              <a:t>· </a:t>
            </a:r>
            <a:r>
              <a:rPr lang="ko-KR" altLang="en-US" i="1" dirty="0">
                <a:solidFill>
                  <a:srgbClr val="C00000"/>
                </a:solidFill>
              </a:rPr>
              <a:t>운영 현장의 </a:t>
            </a:r>
            <a:r>
              <a:rPr lang="en-US" altLang="ko-KR" i="1" dirty="0">
                <a:solidFill>
                  <a:srgbClr val="C00000"/>
                </a:solidFill>
              </a:rPr>
              <a:t>AX</a:t>
            </a:r>
            <a:r>
              <a:rPr lang="ko-KR" altLang="en-US" i="1" dirty="0">
                <a:solidFill>
                  <a:srgbClr val="C00000"/>
                </a:solidFill>
              </a:rPr>
              <a:t>는 </a:t>
            </a:r>
            <a:r>
              <a:rPr lang="en-US" altLang="ko-KR" i="1" dirty="0">
                <a:solidFill>
                  <a:srgbClr val="C00000"/>
                </a:solidFill>
              </a:rPr>
              <a:t>Multimodal AI(</a:t>
            </a:r>
            <a:r>
              <a:rPr lang="ko-KR" altLang="en-US" i="1" dirty="0">
                <a:solidFill>
                  <a:srgbClr val="C00000"/>
                </a:solidFill>
              </a:rPr>
              <a:t>텍스트</a:t>
            </a:r>
            <a:r>
              <a:rPr lang="en-US" altLang="ko-KR" i="1" dirty="0">
                <a:solidFill>
                  <a:srgbClr val="C00000"/>
                </a:solidFill>
              </a:rPr>
              <a:t>+</a:t>
            </a:r>
            <a:r>
              <a:rPr lang="ko-KR" altLang="en-US" i="1" dirty="0">
                <a:solidFill>
                  <a:srgbClr val="C00000"/>
                </a:solidFill>
              </a:rPr>
              <a:t>이미지</a:t>
            </a:r>
            <a:r>
              <a:rPr lang="en-US" altLang="ko-KR" i="1" dirty="0">
                <a:solidFill>
                  <a:srgbClr val="C00000"/>
                </a:solidFill>
              </a:rPr>
              <a:t>+</a:t>
            </a:r>
            <a:r>
              <a:rPr lang="ko-KR" altLang="en-US" i="1" dirty="0">
                <a:solidFill>
                  <a:srgbClr val="C00000"/>
                </a:solidFill>
              </a:rPr>
              <a:t>센서 데이터 통합</a:t>
            </a:r>
            <a:r>
              <a:rPr lang="en-US" altLang="ko-KR" i="1" dirty="0">
                <a:solidFill>
                  <a:srgbClr val="C00000"/>
                </a:solidFill>
              </a:rPr>
              <a:t>)</a:t>
            </a:r>
            <a:r>
              <a:rPr lang="ko-KR" altLang="en-US" i="1" dirty="0">
                <a:solidFill>
                  <a:srgbClr val="C00000"/>
                </a:solidFill>
              </a:rPr>
              <a:t>가 핵심</a:t>
            </a:r>
          </a:p>
        </p:txBody>
      </p:sp>
    </p:spTree>
    <p:extLst>
      <p:ext uri="{BB962C8B-B14F-4D97-AF65-F5344CB8AC3E}">
        <p14:creationId xmlns:p14="http://schemas.microsoft.com/office/powerpoint/2010/main" val="16123217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42E331-15BE-48FA-99C1-6383BF8027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연구자를</a:t>
            </a:r>
            <a:r>
              <a:rPr lang="en-US" altLang="ko-KR" dirty="0"/>
              <a:t> </a:t>
            </a:r>
            <a:r>
              <a:rPr lang="ko-KR" altLang="en-US" dirty="0"/>
              <a:t>위한</a:t>
            </a:r>
            <a:r>
              <a:rPr lang="en-US" altLang="ko-KR" dirty="0"/>
              <a:t> Research Agent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890ADC8-14BD-48D1-B9A2-C7764B2D25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71364"/>
            <a:ext cx="9144000" cy="1286435"/>
          </a:xfrm>
        </p:spPr>
        <p:txBody>
          <a:bodyPr/>
          <a:lstStyle/>
          <a:p>
            <a:r>
              <a:rPr lang="ko-KR" altLang="en-US" dirty="0"/>
              <a:t>나만의 비서를 만들려면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685D63-C3FC-4FB8-9A53-EFFDF0838426}"/>
              </a:ext>
            </a:extLst>
          </p:cNvPr>
          <p:cNvSpPr txBox="1"/>
          <p:nvPr/>
        </p:nvSpPr>
        <p:spPr>
          <a:xfrm>
            <a:off x="1210235" y="5378824"/>
            <a:ext cx="96908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원본 동영상</a:t>
            </a:r>
            <a:r>
              <a:rPr lang="en-US" altLang="ko-KR" dirty="0"/>
              <a:t>: https://youtu.be/tZ9KFQOA6NM?si=UzqHB9YQDLNssouX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87982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F02595-3B18-4055-B5CF-4C59D35F8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(</a:t>
            </a:r>
            <a:r>
              <a:rPr lang="ko-KR" altLang="en-US" dirty="0"/>
              <a:t>연구자의</a:t>
            </a:r>
            <a:r>
              <a:rPr lang="en-US" altLang="ko-KR" dirty="0"/>
              <a:t>) </a:t>
            </a:r>
            <a:r>
              <a:rPr lang="ko-KR" altLang="en-US" dirty="0"/>
              <a:t>기존의 </a:t>
            </a:r>
            <a:r>
              <a:rPr lang="en-US" altLang="ko-KR" dirty="0"/>
              <a:t>AI </a:t>
            </a:r>
            <a:r>
              <a:rPr lang="ko-KR" altLang="en-US" dirty="0"/>
              <a:t>사용법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E018703-F7CC-4FEC-961F-E5994FFBF7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0872"/>
            <a:ext cx="10515600" cy="4110183"/>
          </a:xfrm>
        </p:spPr>
        <p:txBody>
          <a:bodyPr>
            <a:normAutofit/>
          </a:bodyPr>
          <a:lstStyle/>
          <a:p>
            <a:r>
              <a:rPr lang="ko-KR" altLang="en-US" dirty="0"/>
              <a:t>질문을 하고 답을 받음</a:t>
            </a:r>
            <a:endParaRPr lang="en-US" altLang="ko-KR" dirty="0"/>
          </a:p>
          <a:p>
            <a:r>
              <a:rPr lang="ko-KR" altLang="en-US" dirty="0"/>
              <a:t>텍스트</a:t>
            </a:r>
            <a:r>
              <a:rPr lang="en-US" altLang="ko-KR" dirty="0"/>
              <a:t>/</a:t>
            </a:r>
            <a:r>
              <a:rPr lang="ko-KR" altLang="en-US" dirty="0"/>
              <a:t>문서 자료를 주고 텍스트 결과물 도출 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(</a:t>
            </a:r>
            <a:r>
              <a:rPr lang="ko-KR" altLang="en-US" dirty="0"/>
              <a:t>요약</a:t>
            </a:r>
            <a:r>
              <a:rPr lang="en-US" altLang="ko-KR" dirty="0"/>
              <a:t>, </a:t>
            </a:r>
            <a:r>
              <a:rPr lang="ko-KR" altLang="en-US" dirty="0"/>
              <a:t>번역</a:t>
            </a:r>
            <a:r>
              <a:rPr lang="en-US" altLang="ko-KR" dirty="0"/>
              <a:t>, </a:t>
            </a:r>
            <a:r>
              <a:rPr lang="ko-KR" altLang="en-US" dirty="0"/>
              <a:t>초안</a:t>
            </a:r>
            <a:r>
              <a:rPr lang="en-US" altLang="ko-KR" dirty="0"/>
              <a:t>, </a:t>
            </a:r>
            <a:r>
              <a:rPr lang="ko-KR" altLang="en-US" dirty="0"/>
              <a:t>첨삭</a:t>
            </a:r>
            <a:r>
              <a:rPr lang="en-US" altLang="ko-KR" dirty="0"/>
              <a:t>)</a:t>
            </a:r>
          </a:p>
          <a:p>
            <a:r>
              <a:rPr lang="ko-KR" altLang="en-US" dirty="0">
                <a:solidFill>
                  <a:srgbClr val="C00000"/>
                </a:solidFill>
              </a:rPr>
              <a:t>복사해서 붙여넣기의 반복</a:t>
            </a:r>
            <a:endParaRPr lang="en-US" altLang="ko-KR" dirty="0">
              <a:solidFill>
                <a:srgbClr val="C00000"/>
              </a:solidFill>
            </a:endParaRPr>
          </a:p>
          <a:p>
            <a:pPr lvl="1"/>
            <a:endParaRPr lang="en-US" altLang="ko-KR" dirty="0"/>
          </a:p>
          <a:p>
            <a:r>
              <a:rPr lang="ko-KR" altLang="en-US" dirty="0"/>
              <a:t>하지만 실제 일은 </a:t>
            </a:r>
            <a:r>
              <a:rPr lang="en-US" altLang="ko-KR" dirty="0"/>
              <a:t>workflow</a:t>
            </a:r>
            <a:r>
              <a:rPr lang="ko-KR" altLang="en-US" dirty="0"/>
              <a:t>의 형태</a:t>
            </a:r>
            <a:endParaRPr lang="en-US" altLang="ko-KR" dirty="0"/>
          </a:p>
          <a:p>
            <a:pPr lvl="1">
              <a:buFontTx/>
              <a:buChar char="-"/>
            </a:pPr>
            <a:r>
              <a:rPr lang="ko-KR" altLang="en-US" dirty="0"/>
              <a:t>한 번의 답으로 끝나지 않음</a:t>
            </a:r>
            <a:endParaRPr lang="en-US" altLang="ko-KR" dirty="0"/>
          </a:p>
          <a:p>
            <a:pPr lvl="1">
              <a:buFontTx/>
              <a:buChar char="-"/>
            </a:pPr>
            <a:r>
              <a:rPr lang="ko-KR" altLang="en-US" dirty="0"/>
              <a:t>자료를 찾고 → 읽고 비교하고 → 정리하고 → 초안을 만들고 → 다시 수정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4671C8-8BB7-43E4-BD54-61AE285F18B1}"/>
              </a:ext>
            </a:extLst>
          </p:cNvPr>
          <p:cNvSpPr txBox="1"/>
          <p:nvPr/>
        </p:nvSpPr>
        <p:spPr>
          <a:xfrm>
            <a:off x="1228436" y="5735782"/>
            <a:ext cx="103262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i="1" dirty="0">
                <a:sym typeface="Wingdings" panose="05000000000000000000" pitchFamily="2" charset="2"/>
              </a:rPr>
              <a:t> </a:t>
            </a:r>
            <a:r>
              <a:rPr lang="en-US" altLang="ko-KR" i="1" dirty="0"/>
              <a:t>LLM</a:t>
            </a:r>
            <a:r>
              <a:rPr lang="ko-KR" altLang="en-US" i="1" dirty="0"/>
              <a:t>을 더 똑똑하게 만들고</a:t>
            </a:r>
            <a:r>
              <a:rPr lang="en-US" altLang="ko-KR" i="1" dirty="0"/>
              <a:t>, </a:t>
            </a:r>
            <a:r>
              <a:rPr lang="ko-KR" altLang="en-US" i="1" dirty="0"/>
              <a:t>더 유능하게 일을 하도록 하려면</a:t>
            </a:r>
            <a:endParaRPr lang="en-US" altLang="ko-KR" i="1" dirty="0"/>
          </a:p>
          <a:p>
            <a:r>
              <a:rPr lang="ko-KR" altLang="en-US" i="1" dirty="0"/>
              <a:t>양질의 문서를 잘 정리해서 구축하고</a:t>
            </a:r>
            <a:r>
              <a:rPr lang="en-US" altLang="ko-KR" i="1" dirty="0"/>
              <a:t>, </a:t>
            </a:r>
            <a:r>
              <a:rPr lang="ko-KR" altLang="en-US" i="1" dirty="0"/>
              <a:t>이를 목적에 맞게 활용하도록 </a:t>
            </a:r>
            <a:r>
              <a:rPr lang="en-US" altLang="ko-KR" i="1" dirty="0"/>
              <a:t>Agent</a:t>
            </a:r>
            <a:r>
              <a:rPr lang="ko-KR" altLang="en-US" i="1" dirty="0"/>
              <a:t>를 만들어 주어야 한다</a:t>
            </a:r>
            <a:r>
              <a:rPr lang="en-US" altLang="ko-KR" i="1" dirty="0"/>
              <a:t>.</a:t>
            </a:r>
            <a:endParaRPr lang="ko-KR" altLang="en-US" i="1" dirty="0"/>
          </a:p>
        </p:txBody>
      </p:sp>
    </p:spTree>
    <p:extLst>
      <p:ext uri="{BB962C8B-B14F-4D97-AF65-F5344CB8AC3E}">
        <p14:creationId xmlns:p14="http://schemas.microsoft.com/office/powerpoint/2010/main" val="22299768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557B8B-6C23-4B71-9710-CFABB3DE0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Agent</a:t>
            </a:r>
            <a:r>
              <a:rPr lang="ko-KR" altLang="en-US" dirty="0"/>
              <a:t>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DD1E6648-3A4C-4BC3-907F-C1B852EF2A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1683" y="1447800"/>
            <a:ext cx="9208633" cy="4729163"/>
          </a:xfrm>
        </p:spPr>
      </p:pic>
    </p:spTree>
    <p:extLst>
      <p:ext uri="{BB962C8B-B14F-4D97-AF65-F5344CB8AC3E}">
        <p14:creationId xmlns:p14="http://schemas.microsoft.com/office/powerpoint/2010/main" val="28569032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5FB470-B2BF-4A33-9AE1-F9B23F52D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ChatGPT</a:t>
            </a:r>
            <a:r>
              <a:rPr lang="en-US" altLang="ko-KR" dirty="0"/>
              <a:t> vs Agent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CA5D69-FFCB-4281-9023-CDA29C1EA27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ko-KR" altLang="en-US" b="0" i="0" dirty="0">
                <a:solidFill>
                  <a:srgbClr val="374151"/>
                </a:solidFill>
                <a:effectLst/>
                <a:latin typeface="Manrope"/>
              </a:rPr>
              <a:t>프롬프트 → 답변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b="0" i="0" dirty="0" err="1">
                <a:solidFill>
                  <a:srgbClr val="374151"/>
                </a:solidFill>
                <a:effectLst/>
                <a:latin typeface="Manrope"/>
              </a:rPr>
              <a:t>대화창</a:t>
            </a:r>
            <a:r>
              <a:rPr lang="ko-KR" altLang="en-US" b="0" i="0" dirty="0">
                <a:solidFill>
                  <a:srgbClr val="374151"/>
                </a:solidFill>
                <a:effectLst/>
                <a:latin typeface="Manrope"/>
              </a:rPr>
              <a:t> 안에서 동작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b="0" i="0" dirty="0">
                <a:solidFill>
                  <a:srgbClr val="374151"/>
                </a:solidFill>
                <a:effectLst/>
                <a:latin typeface="Manrope"/>
              </a:rPr>
              <a:t>외부와 상호작용을 인간이 해야함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b="0" i="0" dirty="0">
                <a:solidFill>
                  <a:srgbClr val="374151"/>
                </a:solidFill>
                <a:effectLst/>
                <a:latin typeface="Manrope"/>
              </a:rPr>
              <a:t>대화가 종료 시 작업도 종료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b="0" i="0" dirty="0">
                <a:solidFill>
                  <a:srgbClr val="374151"/>
                </a:solidFill>
                <a:effectLst/>
                <a:latin typeface="Manrope"/>
              </a:rPr>
              <a:t>일을 인간이 쪼개서 대화를 여러 번 해야함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352E5CD-5442-4B2C-AF85-49F4BF60E1B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ko-KR" altLang="en-US" b="0" i="0" dirty="0">
                <a:solidFill>
                  <a:srgbClr val="374151"/>
                </a:solidFill>
                <a:effectLst/>
                <a:latin typeface="Manrope"/>
              </a:rPr>
              <a:t>목표설정 → 계획 → 실행 → 피드백 → 반복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b="0" i="0" dirty="0">
                <a:solidFill>
                  <a:srgbClr val="374151"/>
                </a:solidFill>
                <a:effectLst/>
                <a:latin typeface="Manrope"/>
              </a:rPr>
              <a:t>코드실행</a:t>
            </a:r>
            <a:r>
              <a:rPr lang="en-US" altLang="ko-KR" b="0" i="0" dirty="0">
                <a:solidFill>
                  <a:srgbClr val="374151"/>
                </a:solidFill>
                <a:effectLst/>
                <a:latin typeface="Manrope"/>
              </a:rPr>
              <a:t>, </a:t>
            </a:r>
            <a:r>
              <a:rPr lang="ko-KR" altLang="en-US" b="0" i="0" dirty="0">
                <a:solidFill>
                  <a:srgbClr val="374151"/>
                </a:solidFill>
                <a:effectLst/>
                <a:latin typeface="Manrope"/>
              </a:rPr>
              <a:t>파일조작</a:t>
            </a:r>
            <a:r>
              <a:rPr lang="en-US" altLang="ko-KR" b="0" i="0" dirty="0">
                <a:solidFill>
                  <a:srgbClr val="374151"/>
                </a:solidFill>
                <a:effectLst/>
                <a:latin typeface="Manrope"/>
              </a:rPr>
              <a:t>, API</a:t>
            </a:r>
            <a:r>
              <a:rPr lang="ko-KR" altLang="en-US" b="0" i="0" dirty="0">
                <a:solidFill>
                  <a:srgbClr val="374151"/>
                </a:solidFill>
                <a:effectLst/>
                <a:latin typeface="Manrope"/>
              </a:rPr>
              <a:t>호출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374151"/>
                </a:solidFill>
                <a:effectLst/>
                <a:latin typeface="Manrope"/>
              </a:rPr>
              <a:t>AI</a:t>
            </a:r>
            <a:r>
              <a:rPr lang="ko-KR" altLang="en-US" b="0" i="0" dirty="0">
                <a:solidFill>
                  <a:srgbClr val="374151"/>
                </a:solidFill>
                <a:effectLst/>
                <a:latin typeface="Manrope"/>
              </a:rPr>
              <a:t>가 외부 도구</a:t>
            </a:r>
            <a:r>
              <a:rPr lang="en-US" altLang="ko-KR" b="0" i="0" dirty="0">
                <a:solidFill>
                  <a:srgbClr val="374151"/>
                </a:solidFill>
                <a:effectLst/>
                <a:latin typeface="Manrope"/>
              </a:rPr>
              <a:t>(tool) </a:t>
            </a:r>
            <a:r>
              <a:rPr lang="ko-KR" altLang="en-US" b="0" i="0" dirty="0">
                <a:solidFill>
                  <a:srgbClr val="374151"/>
                </a:solidFill>
                <a:effectLst/>
                <a:latin typeface="Manrope"/>
              </a:rPr>
              <a:t>직접 호출</a:t>
            </a:r>
            <a:r>
              <a:rPr lang="en-US" altLang="ko-KR" b="0" i="0" dirty="0">
                <a:solidFill>
                  <a:srgbClr val="374151"/>
                </a:solidFill>
                <a:effectLst/>
                <a:latin typeface="Manrope"/>
              </a:rPr>
              <a:t> </a:t>
            </a:r>
            <a:r>
              <a:rPr lang="ko-KR" altLang="en-US" b="0" i="0" dirty="0">
                <a:solidFill>
                  <a:srgbClr val="374151"/>
                </a:solidFill>
                <a:effectLst/>
                <a:latin typeface="Manrope"/>
              </a:rPr>
              <a:t>및 활용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374151"/>
                </a:solidFill>
                <a:effectLst/>
                <a:latin typeface="Manrope"/>
              </a:rPr>
              <a:t>Workspace</a:t>
            </a:r>
            <a:r>
              <a:rPr lang="ko-KR" altLang="en-US" b="0" i="0" dirty="0">
                <a:solidFill>
                  <a:srgbClr val="374151"/>
                </a:solidFill>
                <a:effectLst/>
                <a:latin typeface="Manrope"/>
              </a:rPr>
              <a:t>에 파일 축적</a:t>
            </a:r>
            <a:r>
              <a:rPr lang="en-US" altLang="ko-KR" b="0" i="0" dirty="0">
                <a:solidFill>
                  <a:srgbClr val="374151"/>
                </a:solidFill>
                <a:effectLst/>
                <a:latin typeface="Manrope"/>
              </a:rPr>
              <a:t>, memory</a:t>
            </a:r>
            <a:r>
              <a:rPr lang="ko-KR" altLang="en-US" b="0" i="0" dirty="0">
                <a:solidFill>
                  <a:srgbClr val="374151"/>
                </a:solidFill>
                <a:effectLst/>
                <a:latin typeface="Manrope"/>
              </a:rPr>
              <a:t>로 작용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b="0" i="0" dirty="0">
                <a:solidFill>
                  <a:srgbClr val="374151"/>
                </a:solidFill>
                <a:effectLst/>
                <a:latin typeface="Manrope"/>
              </a:rPr>
              <a:t>일을 쪼개서 </a:t>
            </a:r>
            <a:r>
              <a:rPr lang="en-US" altLang="ko-KR" b="0" i="0" dirty="0">
                <a:solidFill>
                  <a:srgbClr val="374151"/>
                </a:solidFill>
                <a:effectLst/>
                <a:latin typeface="Manrope"/>
              </a:rPr>
              <a:t>AI</a:t>
            </a:r>
            <a:r>
              <a:rPr lang="ko-KR" altLang="en-US" b="0" i="0" dirty="0">
                <a:solidFill>
                  <a:srgbClr val="374151"/>
                </a:solidFill>
                <a:effectLst/>
                <a:latin typeface="Manrope"/>
              </a:rPr>
              <a:t>가 다중 에이전트 호출</a:t>
            </a:r>
          </a:p>
        </p:txBody>
      </p:sp>
    </p:spTree>
    <p:extLst>
      <p:ext uri="{BB962C8B-B14F-4D97-AF65-F5344CB8AC3E}">
        <p14:creationId xmlns:p14="http://schemas.microsoft.com/office/powerpoint/2010/main" val="39588579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56A4B39C-5C7E-4B2B-9960-248B0FA007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0260"/>
            <a:ext cx="12192000" cy="6637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0127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113CCB8-F204-4E96-B921-A40DC1EB5A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24338"/>
            <a:ext cx="12192000" cy="5409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3652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49BF396-8E1E-4BCF-A804-FF5CD1CB95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97228"/>
            <a:ext cx="12192000" cy="6263544"/>
          </a:xfrm>
          <a:prstGeom prst="rect">
            <a:avLst/>
          </a:prstGeom>
        </p:spPr>
      </p:pic>
      <p:sp>
        <p:nvSpPr>
          <p:cNvPr id="4" name="화살표: 아래쪽 3">
            <a:extLst>
              <a:ext uri="{FF2B5EF4-FFF2-40B4-BE49-F238E27FC236}">
                <a16:creationId xmlns:a16="http://schemas.microsoft.com/office/drawing/2014/main" id="{F075C111-B61F-4DF3-835F-58D8FF79007D}"/>
              </a:ext>
            </a:extLst>
          </p:cNvPr>
          <p:cNvSpPr/>
          <p:nvPr/>
        </p:nvSpPr>
        <p:spPr>
          <a:xfrm>
            <a:off x="4839855" y="2225964"/>
            <a:ext cx="378690" cy="36945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화살표: 위쪽 4">
            <a:extLst>
              <a:ext uri="{FF2B5EF4-FFF2-40B4-BE49-F238E27FC236}">
                <a16:creationId xmlns:a16="http://schemas.microsoft.com/office/drawing/2014/main" id="{6EBEBBFF-52B3-4C08-AC9D-FC8C5C89F6EC}"/>
              </a:ext>
            </a:extLst>
          </p:cNvPr>
          <p:cNvSpPr/>
          <p:nvPr/>
        </p:nvSpPr>
        <p:spPr>
          <a:xfrm>
            <a:off x="7989455" y="2133601"/>
            <a:ext cx="295563" cy="369454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75352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FAB27C-6E18-402F-8F18-C489F3C3A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AI-driven Autonomous Lab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3781C21-7A46-4AA4-89C4-4C53FE42DD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835" y="1447800"/>
            <a:ext cx="6562165" cy="4729163"/>
          </a:xfrm>
        </p:spPr>
        <p:txBody>
          <a:bodyPr/>
          <a:lstStyle/>
          <a:p>
            <a:pPr lvl="1"/>
            <a:r>
              <a:rPr lang="en-US" altLang="ko-KR" dirty="0"/>
              <a:t>Data analysis,</a:t>
            </a:r>
          </a:p>
          <a:p>
            <a:pPr marL="457200" lvl="1" indent="0">
              <a:buNone/>
            </a:pPr>
            <a:r>
              <a:rPr lang="en-US" altLang="ko-KR" dirty="0"/>
              <a:t>  Reasoning,</a:t>
            </a:r>
          </a:p>
          <a:p>
            <a:pPr marL="457200" lvl="1" indent="0">
              <a:buNone/>
            </a:pPr>
            <a:r>
              <a:rPr lang="en-US" altLang="ko-KR" dirty="0"/>
              <a:t>  Hypothesis generation</a:t>
            </a:r>
          </a:p>
          <a:p>
            <a:pPr lvl="1"/>
            <a:endParaRPr lang="en-US" altLang="ko-KR" dirty="0"/>
          </a:p>
          <a:p>
            <a:pPr lvl="1"/>
            <a:r>
              <a:rPr lang="en-US" altLang="ko-KR" dirty="0" err="1"/>
              <a:t>Pydantic</a:t>
            </a:r>
            <a:r>
              <a:rPr lang="en-US" altLang="ko-KR" dirty="0"/>
              <a:t> object encoding</a:t>
            </a:r>
          </a:p>
          <a:p>
            <a:pPr marL="457200" lvl="1" indent="0">
              <a:buNone/>
            </a:pPr>
            <a:r>
              <a:rPr lang="en-US" altLang="ko-KR" dirty="0"/>
              <a:t>  experimental design</a:t>
            </a:r>
            <a:endParaRPr lang="ko-KR" altLang="en-US" dirty="0"/>
          </a:p>
        </p:txBody>
      </p:sp>
      <p:pic>
        <p:nvPicPr>
          <p:cNvPr id="1026" name="Picture 2" descr="Diagram of the AI-driven Autonomous Lab workflow. A central circle labeled 'AI-driven Autonomous Lab' is connected to 'GPT-5' (represented by icons for a monitor, list, database, and globe) and 'Reconfigurable Automation Carts (RACs)' (represented by a photo of lab equipment). The workflow is cyclical: GPT-5 sends 'Pydantic object encoding experimental design' to the RACs; the RACs perform 'Physical experiment execution' (Automated liquid handling, Incubation, Fluorescence measurement) and return 'Experimental data, metrics, protocol run metadata' to GPT-5; GPT-5 performs 'Data analysis' (Biochemical reasoning, Hypothesis generation) and sends the next design. JSON snippets show the design and data formats.">
            <a:extLst>
              <a:ext uri="{FF2B5EF4-FFF2-40B4-BE49-F238E27FC236}">
                <a16:creationId xmlns:a16="http://schemas.microsoft.com/office/drawing/2014/main" id="{65243D42-87BF-45D1-95DC-A56FB40F60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9834" y="1325880"/>
            <a:ext cx="6562165" cy="3767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2BB6A72-89EC-45B8-8966-A776D1D50F0C}"/>
              </a:ext>
            </a:extLst>
          </p:cNvPr>
          <p:cNvSpPr txBox="1"/>
          <p:nvPr/>
        </p:nvSpPr>
        <p:spPr>
          <a:xfrm>
            <a:off x="838200" y="5068906"/>
            <a:ext cx="1134770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i="1" dirty="0"/>
              <a:t>Figure: Experimental iterations by a GPT-5-driven autonomous lab implemented on RACs. </a:t>
            </a:r>
          </a:p>
          <a:p>
            <a:r>
              <a:rPr lang="en-US" altLang="ko-KR" i="1" dirty="0" err="1"/>
              <a:t>penAI's</a:t>
            </a:r>
            <a:r>
              <a:rPr lang="en-US" altLang="ko-KR" i="1" dirty="0"/>
              <a:t> GPT-5 proposes a batch of experimental designs in 384-well plate format and validates them using a </a:t>
            </a:r>
            <a:r>
              <a:rPr lang="en-US" altLang="ko-KR" i="1" dirty="0" err="1"/>
              <a:t>Pydantic</a:t>
            </a:r>
            <a:r>
              <a:rPr lang="en-US" altLang="ko-KR" i="1" dirty="0"/>
              <a:t> schema. Designs are then programmatically converted to Catalyst protocol runs for execution on Ginkgo's RAC-based cloud laboratory. After experiments are executed, (meta)data and metrics are returned to GPT-5 for analysis, interpretation, hypothesis generation, and design of the next round of experiments.</a:t>
            </a:r>
            <a:endParaRPr lang="ko-KR" altLang="en-US" i="1" dirty="0"/>
          </a:p>
        </p:txBody>
      </p:sp>
    </p:spTree>
    <p:extLst>
      <p:ext uri="{BB962C8B-B14F-4D97-AF65-F5344CB8AC3E}">
        <p14:creationId xmlns:p14="http://schemas.microsoft.com/office/powerpoint/2010/main" val="19713562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B95A2E-D9D3-41C4-B85A-3BB54B841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AI Agent </a:t>
            </a:r>
            <a:r>
              <a:rPr lang="ko-KR" altLang="en-US" dirty="0"/>
              <a:t>종류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58A4035-D49D-4E88-8982-6AF6BBFC62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7800"/>
            <a:ext cx="10515600" cy="4980432"/>
          </a:xfrm>
        </p:spPr>
        <p:txBody>
          <a:bodyPr>
            <a:normAutofit fontScale="92500" lnSpcReduction="10000"/>
          </a:bodyPr>
          <a:lstStyle/>
          <a:p>
            <a:r>
              <a:rPr lang="en-US" altLang="ko-KR" dirty="0"/>
              <a:t>Agentic coding tools - </a:t>
            </a:r>
            <a:r>
              <a:rPr lang="en-US" altLang="ko-KR" dirty="0" err="1"/>
              <a:t>Cusor</a:t>
            </a:r>
            <a:endParaRPr lang="en-US" altLang="ko-KR" dirty="0"/>
          </a:p>
          <a:p>
            <a:pPr lvl="1"/>
            <a:r>
              <a:rPr lang="en-US" altLang="ko-KR" dirty="0"/>
              <a:t>Anthropic Claude Code</a:t>
            </a:r>
          </a:p>
          <a:p>
            <a:pPr lvl="1"/>
            <a:r>
              <a:rPr lang="en-US" altLang="ko-KR" dirty="0" err="1"/>
              <a:t>OpenAI</a:t>
            </a:r>
            <a:r>
              <a:rPr lang="en-US" altLang="ko-KR" dirty="0"/>
              <a:t> Codex</a:t>
            </a:r>
          </a:p>
          <a:p>
            <a:pPr lvl="1"/>
            <a:r>
              <a:rPr lang="en-US" altLang="ko-KR" dirty="0"/>
              <a:t>Gemini CLI</a:t>
            </a:r>
          </a:p>
          <a:p>
            <a:r>
              <a:rPr lang="ko-KR" altLang="en-US" dirty="0"/>
              <a:t>개인비서</a:t>
            </a:r>
            <a:r>
              <a:rPr lang="en-US" altLang="ko-KR" dirty="0"/>
              <a:t>, </a:t>
            </a:r>
            <a:r>
              <a:rPr lang="ko-KR" altLang="en-US" dirty="0"/>
              <a:t>업무 자동화</a:t>
            </a:r>
            <a:endParaRPr lang="en-US" altLang="ko-KR" dirty="0"/>
          </a:p>
          <a:p>
            <a:pPr lvl="1"/>
            <a:r>
              <a:rPr lang="en-US" altLang="ko-KR" dirty="0"/>
              <a:t>Claude </a:t>
            </a:r>
            <a:r>
              <a:rPr lang="en-US" altLang="ko-KR" dirty="0" err="1"/>
              <a:t>Cowork</a:t>
            </a:r>
            <a:endParaRPr lang="en-US" altLang="ko-KR" dirty="0"/>
          </a:p>
          <a:p>
            <a:pPr lvl="1"/>
            <a:r>
              <a:rPr lang="en-US" altLang="ko-KR" dirty="0" err="1"/>
              <a:t>OpenClaw</a:t>
            </a:r>
            <a:endParaRPr lang="en-US" altLang="ko-KR" dirty="0"/>
          </a:p>
          <a:p>
            <a:pPr lvl="1"/>
            <a:r>
              <a:rPr lang="en-US" altLang="ko-KR" dirty="0" err="1"/>
              <a:t>NemoClaw</a:t>
            </a:r>
            <a:r>
              <a:rPr lang="en-US" altLang="ko-KR" dirty="0"/>
              <a:t> (NVIDIA)</a:t>
            </a:r>
          </a:p>
          <a:p>
            <a:r>
              <a:rPr lang="ko-KR" altLang="en-US" dirty="0"/>
              <a:t>웹서비스 개발</a:t>
            </a:r>
            <a:endParaRPr lang="en-US" altLang="ko-KR" dirty="0"/>
          </a:p>
          <a:p>
            <a:pPr lvl="1"/>
            <a:r>
              <a:rPr lang="en-US" altLang="ko-KR" dirty="0"/>
              <a:t>Google Antigravity, AI Studio</a:t>
            </a:r>
          </a:p>
          <a:p>
            <a:r>
              <a:rPr lang="ko-KR" altLang="en-US" dirty="0"/>
              <a:t>디자인 자동화</a:t>
            </a:r>
            <a:endParaRPr lang="en-US" altLang="ko-KR" dirty="0"/>
          </a:p>
          <a:p>
            <a:pPr lvl="1"/>
            <a:r>
              <a:rPr lang="en-US" altLang="ko-KR" dirty="0"/>
              <a:t>Google Stitch</a:t>
            </a:r>
          </a:p>
          <a:p>
            <a:pPr lvl="1"/>
            <a:r>
              <a:rPr lang="en-US" altLang="ko-KR" dirty="0"/>
              <a:t>Claude Design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647634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E289E9-0FE7-46C6-BDF7-D9642181C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AI Agent</a:t>
            </a:r>
            <a:r>
              <a:rPr lang="ko-KR" altLang="en-US" dirty="0"/>
              <a:t>에서 실용적인 설정들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5858F35-05C8-40D4-AF07-37564883F5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7801"/>
            <a:ext cx="4428744" cy="2054352"/>
          </a:xfrm>
        </p:spPr>
        <p:txBody>
          <a:bodyPr/>
          <a:lstStyle/>
          <a:p>
            <a:r>
              <a:rPr lang="en-US" altLang="ko-KR" dirty="0"/>
              <a:t>AGENTS.md (rule)</a:t>
            </a:r>
          </a:p>
          <a:p>
            <a:r>
              <a:rPr lang="en-US" altLang="ko-KR" dirty="0"/>
              <a:t>Skill (recipe)</a:t>
            </a:r>
          </a:p>
          <a:p>
            <a:r>
              <a:rPr lang="en-US" altLang="ko-KR" dirty="0"/>
              <a:t>MCP (tools)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817EDEB-DCC9-4754-9FB9-F1892A0996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6875" y="2130553"/>
            <a:ext cx="7341517" cy="4144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45134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C858FF-AA39-4169-AD70-E3903C3F1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AGENTS.md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389F735-F077-4532-B008-5C67AB9BDA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프로젝트 안에서 </a:t>
            </a:r>
            <a:r>
              <a:rPr lang="en-US" altLang="ko-KR" dirty="0"/>
              <a:t>agent</a:t>
            </a:r>
            <a:r>
              <a:rPr lang="ko-KR" altLang="en-US" dirty="0"/>
              <a:t>가 어떤 원칙으로 일해야 하는지 알려주는 운영 메모</a:t>
            </a:r>
          </a:p>
          <a:p>
            <a:r>
              <a:rPr lang="ko-KR" altLang="en-US" dirty="0"/>
              <a:t>폴더 내 모든 작업에 전반적으로 참고하는 지침</a:t>
            </a:r>
          </a:p>
          <a:p>
            <a:r>
              <a:rPr lang="ko-KR" altLang="en-US" dirty="0"/>
              <a:t>예시</a:t>
            </a:r>
          </a:p>
          <a:p>
            <a:pPr lvl="1"/>
            <a:r>
              <a:rPr lang="ko-KR" altLang="en-US" dirty="0"/>
              <a:t>이 프로젝트에 대한 설명</a:t>
            </a:r>
            <a:endParaRPr lang="en-US" altLang="ko-KR" dirty="0"/>
          </a:p>
          <a:p>
            <a:pPr lvl="1"/>
            <a:r>
              <a:rPr lang="ko-KR" altLang="en-US" dirty="0"/>
              <a:t>어떤 자료가 어떤 폴더에 있는지</a:t>
            </a:r>
            <a:endParaRPr lang="en-US" altLang="ko-KR" dirty="0"/>
          </a:p>
          <a:p>
            <a:pPr lvl="1"/>
            <a:r>
              <a:rPr lang="ko-KR" altLang="en-US" dirty="0"/>
              <a:t>어떤 식으로 분석해야 할지</a:t>
            </a:r>
            <a:endParaRPr lang="en-US" altLang="ko-KR" dirty="0"/>
          </a:p>
          <a:p>
            <a:pPr lvl="1"/>
            <a:r>
              <a:rPr lang="ko-KR" altLang="en-US" dirty="0"/>
              <a:t>어떤 식으로 결과를 정리해야 할지</a:t>
            </a:r>
            <a:endParaRPr lang="en-US" altLang="ko-KR" dirty="0"/>
          </a:p>
          <a:p>
            <a:pPr lvl="1"/>
            <a:r>
              <a:rPr lang="ko-KR" altLang="en-US" dirty="0"/>
              <a:t>기타 반복적으로 알려줘야 하는 것들</a:t>
            </a:r>
          </a:p>
        </p:txBody>
      </p:sp>
      <p:pic>
        <p:nvPicPr>
          <p:cNvPr id="2050" name="Picture 2" descr="A mind map diagram showing the central node 'AGENTS.md' connected to 'Project / Lab Workflow' and five other categories: Audience, Priority, File rules, Do / Don't, and AI Agent (which leads to Workspace actions).">
            <a:extLst>
              <a:ext uri="{FF2B5EF4-FFF2-40B4-BE49-F238E27FC236}">
                <a16:creationId xmlns:a16="http://schemas.microsoft.com/office/drawing/2014/main" id="{ABFBB53A-2F8E-46FA-9278-63EEBA8878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6868" y="3231776"/>
            <a:ext cx="5495132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063362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F3F1C4-3F70-44CC-9FA1-02EE918DE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Skills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2FA26BC-9D15-4312-9DD9-FB78AA8C3F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반복작업을 안정적으로 만드는 재사용 가능한 일련의 명령</a:t>
            </a:r>
          </a:p>
          <a:p>
            <a:r>
              <a:rPr lang="en-US" altLang="ko-KR" dirty="0"/>
              <a:t>Agent</a:t>
            </a:r>
            <a:r>
              <a:rPr lang="ko-KR" altLang="en-US" dirty="0"/>
              <a:t>를 위한 </a:t>
            </a:r>
            <a:r>
              <a:rPr lang="en-US" altLang="ko-KR" dirty="0"/>
              <a:t>SOP </a:t>
            </a:r>
            <a:r>
              <a:rPr lang="ko-KR" altLang="en-US" dirty="0"/>
              <a:t>또는 작업 프로토콜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예시</a:t>
            </a:r>
            <a:endParaRPr lang="en-US" altLang="ko-KR" dirty="0"/>
          </a:p>
          <a:p>
            <a:pPr lvl="1"/>
            <a:r>
              <a:rPr lang="en-US" altLang="ko-KR" dirty="0"/>
              <a:t>/draw-scatterplot</a:t>
            </a:r>
          </a:p>
          <a:p>
            <a:pPr lvl="1"/>
            <a:r>
              <a:rPr lang="ko-KR" altLang="en-US" dirty="0"/>
              <a:t>정해진 규격대로 매번 같은 형식으로 </a:t>
            </a:r>
            <a:r>
              <a:rPr lang="ko-KR" altLang="en-US" dirty="0" err="1"/>
              <a:t>산점도</a:t>
            </a:r>
            <a:r>
              <a:rPr lang="ko-KR" altLang="en-US" dirty="0"/>
              <a:t> 작성</a:t>
            </a:r>
          </a:p>
          <a:p>
            <a:pPr lvl="1"/>
            <a:r>
              <a:rPr lang="en-US" altLang="ko-KR" dirty="0"/>
              <a:t>/literature-summary</a:t>
            </a:r>
          </a:p>
          <a:p>
            <a:pPr lvl="1"/>
            <a:r>
              <a:rPr lang="ko-KR" altLang="en-US" dirty="0"/>
              <a:t>정해진 형식으로 논문 내용을 요약함</a:t>
            </a:r>
          </a:p>
        </p:txBody>
      </p:sp>
    </p:spTree>
    <p:extLst>
      <p:ext uri="{BB962C8B-B14F-4D97-AF65-F5344CB8AC3E}">
        <p14:creationId xmlns:p14="http://schemas.microsoft.com/office/powerpoint/2010/main" val="85007596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5914F5-B908-4F3D-93B6-AC6994EE5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Skills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BD32191-2267-4ADC-893D-3D910624E8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625" y="1447800"/>
            <a:ext cx="5271246" cy="1981200"/>
          </a:xfrm>
        </p:spPr>
        <p:txBody>
          <a:bodyPr>
            <a:normAutofit fontScale="85000" lnSpcReduction="20000"/>
          </a:bodyPr>
          <a:lstStyle/>
          <a:p>
            <a:r>
              <a:rPr lang="en-US" altLang="ko-KR" dirty="0"/>
              <a:t>skill-creator [Built-in]</a:t>
            </a:r>
          </a:p>
          <a:p>
            <a:pPr lvl="1"/>
            <a:r>
              <a:rPr lang="en-US" altLang="ko-KR" dirty="0"/>
              <a:t>Guide for creating effective skills. This skill should be used when users want to </a:t>
            </a:r>
            <a:r>
              <a:rPr lang="en-US" altLang="ko-KR" i="1" dirty="0">
                <a:solidFill>
                  <a:srgbClr val="C00000"/>
                </a:solidFill>
              </a:rPr>
              <a:t>create a new skill (or update an existing skill)</a:t>
            </a:r>
            <a:r>
              <a:rPr lang="en-US" altLang="ko-KR" dirty="0"/>
              <a:t> that extends Gemini CLI's capabilities with specialized knowledge, workflows, or tool      integrations.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7B69AC-F59C-4B47-96DC-60B38100934F}"/>
              </a:ext>
            </a:extLst>
          </p:cNvPr>
          <p:cNvSpPr txBox="1"/>
          <p:nvPr/>
        </p:nvSpPr>
        <p:spPr>
          <a:xfrm>
            <a:off x="6571130" y="1085850"/>
            <a:ext cx="5468469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# /draw-scatterplot-standard</a:t>
            </a:r>
          </a:p>
          <a:p>
            <a:endParaRPr lang="en-US" altLang="ko-KR" sz="1400" dirty="0"/>
          </a:p>
          <a:p>
            <a:r>
              <a:rPr lang="en-US" altLang="ko-KR" sz="1400" dirty="0"/>
              <a:t>## Description</a:t>
            </a:r>
          </a:p>
          <a:p>
            <a:r>
              <a:rPr lang="en-US" altLang="ko-KR" sz="1400" dirty="0"/>
              <a:t>Create a fixed-style scatter plot with Pearson r annotation.</a:t>
            </a:r>
          </a:p>
          <a:p>
            <a:endParaRPr lang="en-US" altLang="ko-KR" sz="1400" dirty="0"/>
          </a:p>
          <a:p>
            <a:r>
              <a:rPr lang="en-US" altLang="ko-KR" sz="1400" dirty="0"/>
              <a:t>## Inputs</a:t>
            </a:r>
          </a:p>
          <a:p>
            <a:r>
              <a:rPr lang="en-US" altLang="ko-KR" sz="1400" dirty="0"/>
              <a:t>x: numeric array, y: numeric array, </a:t>
            </a:r>
            <a:r>
              <a:rPr lang="en-US" altLang="ko-KR" sz="1400" dirty="0" err="1"/>
              <a:t>xlabel</a:t>
            </a:r>
            <a:r>
              <a:rPr lang="en-US" altLang="ko-KR" sz="1400" dirty="0"/>
              <a:t>: string, </a:t>
            </a:r>
            <a:r>
              <a:rPr lang="en-US" altLang="ko-KR" sz="1400" dirty="0" err="1"/>
              <a:t>ylabel</a:t>
            </a:r>
            <a:r>
              <a:rPr lang="en-US" altLang="ko-KR" sz="1400" dirty="0"/>
              <a:t>: string</a:t>
            </a:r>
          </a:p>
          <a:p>
            <a:endParaRPr lang="en-US" altLang="ko-KR" sz="1400" dirty="0"/>
          </a:p>
          <a:p>
            <a:r>
              <a:rPr lang="en-US" altLang="ko-KR" sz="1400" dirty="0"/>
              <a:t>## Outputs</a:t>
            </a:r>
          </a:p>
          <a:p>
            <a:r>
              <a:rPr lang="en-US" altLang="ko-KR" sz="1400" dirty="0"/>
              <a:t>plot (PNG, 300 DPI), r (float)</a:t>
            </a:r>
          </a:p>
          <a:p>
            <a:endParaRPr lang="en-US" altLang="ko-KR" sz="1400" dirty="0"/>
          </a:p>
          <a:p>
            <a:r>
              <a:rPr lang="en-US" altLang="ko-KR" sz="1400" dirty="0"/>
              <a:t>## SOP</a:t>
            </a:r>
          </a:p>
          <a:p>
            <a:r>
              <a:rPr lang="en-US" altLang="ko-KR" sz="1400" dirty="0"/>
              <a:t>1. Validate </a:t>
            </a:r>
            <a:r>
              <a:rPr lang="en-US" altLang="ko-KR" sz="1400" dirty="0" err="1"/>
              <a:t>x,y</a:t>
            </a:r>
            <a:r>
              <a:rPr lang="en-US" altLang="ko-KR" sz="1400" dirty="0"/>
              <a:t> (same length, numeric, drop </a:t>
            </a:r>
            <a:r>
              <a:rPr lang="en-US" altLang="ko-KR" sz="1400" dirty="0" err="1"/>
              <a:t>NaN</a:t>
            </a:r>
            <a:r>
              <a:rPr lang="en-US" altLang="ko-KR" sz="1400" dirty="0"/>
              <a:t>)</a:t>
            </a:r>
          </a:p>
          <a:p>
            <a:r>
              <a:rPr lang="en-US" altLang="ko-KR" sz="1400" dirty="0"/>
              <a:t>2. Compute Pearson r (round to 2 decimals)</a:t>
            </a:r>
          </a:p>
          <a:p>
            <a:r>
              <a:rPr lang="en-US" altLang="ko-KR" sz="1400" dirty="0"/>
              <a:t>3. Create 6x6 inch figure, white background</a:t>
            </a:r>
          </a:p>
          <a:p>
            <a:r>
              <a:rPr lang="en-US" altLang="ko-KR" sz="1400" dirty="0"/>
              <a:t>4. Plot scatter (black, size=20, alpha=0.7)</a:t>
            </a:r>
          </a:p>
          <a:p>
            <a:r>
              <a:rPr lang="en-US" altLang="ko-KR" sz="1400" dirty="0"/>
              <a:t>5. Add regression line (red, </a:t>
            </a:r>
            <a:r>
              <a:rPr lang="en-US" altLang="ko-KR" sz="1400" dirty="0" err="1"/>
              <a:t>lw</a:t>
            </a:r>
            <a:r>
              <a:rPr lang="en-US" altLang="ko-KR" sz="1400" dirty="0"/>
              <a:t>=1.5)</a:t>
            </a:r>
          </a:p>
          <a:p>
            <a:r>
              <a:rPr lang="en-US" altLang="ko-KR" sz="1400" dirty="0"/>
              <a:t>6. Axes: left/bottom only, </a:t>
            </a:r>
            <a:r>
              <a:rPr lang="en-US" altLang="ko-KR" sz="1400" dirty="0" err="1"/>
              <a:t>lw</a:t>
            </a:r>
            <a:r>
              <a:rPr lang="en-US" altLang="ko-KR" sz="1400" dirty="0"/>
              <a:t>=1.2</a:t>
            </a:r>
          </a:p>
          <a:p>
            <a:r>
              <a:rPr lang="en-US" altLang="ko-KR" sz="1400" dirty="0"/>
              <a:t>7. Ticks: outward, Arial 10</a:t>
            </a:r>
          </a:p>
          <a:p>
            <a:r>
              <a:rPr lang="en-US" altLang="ko-KR" sz="1400" dirty="0"/>
              <a:t>8. Labels: Arial 12</a:t>
            </a:r>
          </a:p>
          <a:p>
            <a:r>
              <a:rPr lang="en-US" altLang="ko-KR" sz="1400" dirty="0"/>
              <a:t>9. No grid</a:t>
            </a:r>
          </a:p>
          <a:p>
            <a:r>
              <a:rPr lang="en-US" altLang="ko-KR" sz="1400" dirty="0"/>
              <a:t>10. Add text "r = {value}" at (0.95,0.95), top-right, Arial 11</a:t>
            </a:r>
          </a:p>
          <a:p>
            <a:r>
              <a:rPr lang="en-US" altLang="ko-KR" sz="1400" dirty="0"/>
              <a:t>11. Save PNG (300 DPI, tight layout)</a:t>
            </a:r>
          </a:p>
          <a:p>
            <a:endParaRPr lang="en-US" altLang="ko-KR" sz="1400" dirty="0"/>
          </a:p>
          <a:p>
            <a:r>
              <a:rPr lang="en-US" altLang="ko-KR" sz="1400" dirty="0"/>
              <a:t>## Constraints</a:t>
            </a:r>
          </a:p>
          <a:p>
            <a:r>
              <a:rPr lang="en-US" altLang="ko-KR" sz="1400" dirty="0"/>
              <a:t>No style changes allowed; deterministic output</a:t>
            </a:r>
            <a:endParaRPr lang="ko-KR" altLang="en-US" sz="1400" dirty="0"/>
          </a:p>
        </p:txBody>
      </p:sp>
      <p:pic>
        <p:nvPicPr>
          <p:cNvPr id="3074" name="Picture 2" descr="Flowchart showing the process of using skills for an AI agent. A 'Task' leads to a 'Skill', which then branches into 'Task knowledge', 'Checklist / steps', and 'Reference files'. These three components are fed into an 'AI Agent', which produces a 'More consistent output'.">
            <a:extLst>
              <a:ext uri="{FF2B5EF4-FFF2-40B4-BE49-F238E27FC236}">
                <a16:creationId xmlns:a16="http://schemas.microsoft.com/office/drawing/2014/main" id="{BF722ABB-3695-4911-B304-7E10C99363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090" y="3932783"/>
            <a:ext cx="5691168" cy="19422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330773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0246B0-EA22-458E-9DD8-13D322F06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MCP</a:t>
            </a:r>
            <a:r>
              <a:rPr lang="ko-KR" altLang="en-US" dirty="0"/>
              <a:t> </a:t>
            </a:r>
            <a:r>
              <a:rPr lang="en-US" altLang="ko-KR" dirty="0"/>
              <a:t>(model</a:t>
            </a:r>
            <a:r>
              <a:rPr lang="ko-KR" altLang="en-US" dirty="0"/>
              <a:t> </a:t>
            </a:r>
            <a:r>
              <a:rPr lang="en-US" altLang="ko-KR" dirty="0"/>
              <a:t>context</a:t>
            </a:r>
            <a:r>
              <a:rPr lang="ko-KR" altLang="en-US" dirty="0"/>
              <a:t> </a:t>
            </a:r>
            <a:r>
              <a:rPr lang="en-US" altLang="ko-KR" dirty="0"/>
              <a:t>protocol)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F422FF9-665B-43C9-8A6C-A72942F0FB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Agent</a:t>
            </a:r>
            <a:r>
              <a:rPr lang="ko-KR" altLang="en-US" dirty="0"/>
              <a:t>가 무엇을 실행하고</a:t>
            </a:r>
            <a:r>
              <a:rPr lang="en-US" altLang="ko-KR" dirty="0"/>
              <a:t>, </a:t>
            </a:r>
            <a:r>
              <a:rPr lang="ko-KR" altLang="en-US" dirty="0"/>
              <a:t>어떤 방식으로 상호작용할지 알려주는 공용 인터페이스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예시</a:t>
            </a:r>
            <a:endParaRPr lang="en-US" altLang="ko-KR" dirty="0"/>
          </a:p>
          <a:p>
            <a:pPr lvl="1"/>
            <a:r>
              <a:rPr lang="en-US" altLang="ko-KR" dirty="0" err="1"/>
              <a:t>search_pubmed</a:t>
            </a:r>
            <a:r>
              <a:rPr lang="en-US" altLang="ko-KR" dirty="0"/>
              <a:t>("</a:t>
            </a:r>
            <a:r>
              <a:rPr lang="ko-KR" altLang="en-US" dirty="0"/>
              <a:t>검색어</a:t>
            </a:r>
            <a:r>
              <a:rPr lang="en-US" altLang="ko-KR" dirty="0"/>
              <a:t>")</a:t>
            </a:r>
          </a:p>
          <a:p>
            <a:pPr lvl="1"/>
            <a:r>
              <a:rPr lang="en-US" altLang="ko-KR" dirty="0"/>
              <a:t>Agent</a:t>
            </a:r>
            <a:r>
              <a:rPr lang="ko-KR" altLang="en-US" dirty="0"/>
              <a:t>가 </a:t>
            </a:r>
            <a:r>
              <a:rPr lang="en-US" altLang="ko-KR" dirty="0"/>
              <a:t>MCP</a:t>
            </a:r>
            <a:r>
              <a:rPr lang="ko-KR" altLang="en-US" dirty="0"/>
              <a:t>에게 이렇게 명령을 전송하면 구체적 </a:t>
            </a:r>
            <a:r>
              <a:rPr lang="en-US" altLang="ko-KR" dirty="0"/>
              <a:t>API payload</a:t>
            </a:r>
            <a:r>
              <a:rPr lang="ko-KR" altLang="en-US" dirty="0"/>
              <a:t>를 만들어서 처리</a:t>
            </a:r>
          </a:p>
          <a:p>
            <a:pPr lvl="1"/>
            <a:r>
              <a:rPr lang="en-US" altLang="ko-KR" dirty="0"/>
              <a:t>Agent</a:t>
            </a:r>
            <a:r>
              <a:rPr lang="ko-KR" altLang="en-US" dirty="0"/>
              <a:t>가 새로운 기술을 배울 필요 없이 새 </a:t>
            </a:r>
            <a:r>
              <a:rPr lang="en-US" altLang="ko-KR" dirty="0"/>
              <a:t>MCP</a:t>
            </a:r>
            <a:r>
              <a:rPr lang="ko-KR" altLang="en-US" dirty="0"/>
              <a:t>와 연결만 시켜주면 됨</a:t>
            </a:r>
          </a:p>
        </p:txBody>
      </p:sp>
    </p:spTree>
    <p:extLst>
      <p:ext uri="{BB962C8B-B14F-4D97-AF65-F5344CB8AC3E}">
        <p14:creationId xmlns:p14="http://schemas.microsoft.com/office/powerpoint/2010/main" val="170063889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0246B0-EA22-458E-9DD8-13D322F06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MCP</a:t>
            </a:r>
            <a:r>
              <a:rPr lang="ko-KR" altLang="en-US" dirty="0"/>
              <a:t> </a:t>
            </a:r>
            <a:r>
              <a:rPr lang="en-US" altLang="ko-KR" dirty="0"/>
              <a:t>(model</a:t>
            </a:r>
            <a:r>
              <a:rPr lang="ko-KR" altLang="en-US" dirty="0"/>
              <a:t> </a:t>
            </a:r>
            <a:r>
              <a:rPr lang="en-US" altLang="ko-KR" dirty="0"/>
              <a:t>context</a:t>
            </a:r>
            <a:r>
              <a:rPr lang="ko-KR" altLang="en-US" dirty="0"/>
              <a:t> </a:t>
            </a:r>
            <a:r>
              <a:rPr lang="en-US" altLang="ko-KR" dirty="0"/>
              <a:t>protocol)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F422FF9-665B-43C9-8A6C-A72942F0FB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835" y="1447801"/>
            <a:ext cx="4491317" cy="1546412"/>
          </a:xfrm>
        </p:spPr>
        <p:txBody>
          <a:bodyPr>
            <a:normAutofit/>
          </a:bodyPr>
          <a:lstStyle/>
          <a:p>
            <a:r>
              <a:rPr lang="en-US" altLang="ko-KR" dirty="0"/>
              <a:t>Agent</a:t>
            </a:r>
            <a:r>
              <a:rPr lang="ko-KR" altLang="en-US" dirty="0"/>
              <a:t>의 손과 발</a:t>
            </a:r>
            <a:r>
              <a:rPr lang="en-US" altLang="ko-KR" dirty="0"/>
              <a:t>, action</a:t>
            </a:r>
            <a:endParaRPr lang="ko-KR" altLang="en-US" dirty="0"/>
          </a:p>
        </p:txBody>
      </p:sp>
      <p:pic>
        <p:nvPicPr>
          <p:cNvPr id="4098" name="Picture 2" descr="Diagram showing the MCP architecture. An AI Agent / Host connects to MCP, which then branches into Tools, Resources, and Prompts. Tools lead to Run actions, Resources lead to Read context, and Prompts lead to Guide interaction.">
            <a:extLst>
              <a:ext uri="{FF2B5EF4-FFF2-40B4-BE49-F238E27FC236}">
                <a16:creationId xmlns:a16="http://schemas.microsoft.com/office/drawing/2014/main" id="{41B74F3E-084F-494C-B596-7394F2054B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3429000"/>
            <a:ext cx="5154706" cy="1990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2CBB24F-DEB4-4E05-99D1-7ACB2A793C0E}"/>
              </a:ext>
            </a:extLst>
          </p:cNvPr>
          <p:cNvSpPr txBox="1"/>
          <p:nvPr/>
        </p:nvSpPr>
        <p:spPr>
          <a:xfrm>
            <a:off x="4787152" y="860612"/>
            <a:ext cx="7404847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{</a:t>
            </a:r>
          </a:p>
          <a:p>
            <a:r>
              <a:rPr lang="en-US" altLang="ko-KR" sz="1400" dirty="0"/>
              <a:t>  "tools": [</a:t>
            </a:r>
          </a:p>
          <a:p>
            <a:r>
              <a:rPr lang="en-US" altLang="ko-KR" sz="1400" dirty="0"/>
              <a:t>    {</a:t>
            </a:r>
          </a:p>
          <a:p>
            <a:r>
              <a:rPr lang="en-US" altLang="ko-KR" sz="1400" dirty="0"/>
              <a:t>      "name": "</a:t>
            </a:r>
            <a:r>
              <a:rPr lang="en-US" altLang="ko-KR" sz="1400" dirty="0" err="1"/>
              <a:t>search_pubmed</a:t>
            </a:r>
            <a:r>
              <a:rPr lang="en-US" altLang="ko-KR" sz="1400" dirty="0"/>
              <a:t>",</a:t>
            </a:r>
          </a:p>
          <a:p>
            <a:r>
              <a:rPr lang="en-US" altLang="ko-KR" sz="1400" dirty="0"/>
              <a:t>      "description": "Search PubMed for biomedical literature and return a list of PMIDs.",</a:t>
            </a:r>
          </a:p>
          <a:p>
            <a:r>
              <a:rPr lang="en-US" altLang="ko-KR" sz="1400" dirty="0"/>
              <a:t>      "</a:t>
            </a:r>
            <a:r>
              <a:rPr lang="en-US" altLang="ko-KR" sz="1400" dirty="0" err="1"/>
              <a:t>input_schema</a:t>
            </a:r>
            <a:r>
              <a:rPr lang="en-US" altLang="ko-KR" sz="1400" dirty="0"/>
              <a:t>": {</a:t>
            </a:r>
          </a:p>
          <a:p>
            <a:r>
              <a:rPr lang="en-US" altLang="ko-KR" sz="1400" dirty="0"/>
              <a:t>        "type": "object",</a:t>
            </a:r>
          </a:p>
          <a:p>
            <a:r>
              <a:rPr lang="en-US" altLang="ko-KR" sz="1400" dirty="0"/>
              <a:t>        "properties": {</a:t>
            </a:r>
          </a:p>
          <a:p>
            <a:r>
              <a:rPr lang="en-US" altLang="ko-KR" sz="1400" dirty="0"/>
              <a:t>          "query": {</a:t>
            </a:r>
          </a:p>
          <a:p>
            <a:r>
              <a:rPr lang="en-US" altLang="ko-KR" sz="1400" dirty="0"/>
              <a:t>            "type": "string",</a:t>
            </a:r>
          </a:p>
          <a:p>
            <a:r>
              <a:rPr lang="en-US" altLang="ko-KR" sz="1400" dirty="0"/>
              <a:t>            "description": "Search query (e.g., gene, disease, or keywords)"</a:t>
            </a:r>
          </a:p>
          <a:p>
            <a:r>
              <a:rPr lang="en-US" altLang="ko-KR" sz="1400" dirty="0"/>
              <a:t>          },</a:t>
            </a:r>
          </a:p>
          <a:p>
            <a:r>
              <a:rPr lang="en-US" altLang="ko-KR" sz="1400" dirty="0"/>
              <a:t>          "</a:t>
            </a:r>
            <a:r>
              <a:rPr lang="en-US" altLang="ko-KR" sz="1400" dirty="0" err="1"/>
              <a:t>max_results</a:t>
            </a:r>
            <a:r>
              <a:rPr lang="en-US" altLang="ko-KR" sz="1400" dirty="0"/>
              <a:t>": {</a:t>
            </a:r>
          </a:p>
          <a:p>
            <a:r>
              <a:rPr lang="en-US" altLang="ko-KR" sz="1400" dirty="0"/>
              <a:t>            "type": "integer",</a:t>
            </a:r>
          </a:p>
          <a:p>
            <a:r>
              <a:rPr lang="en-US" altLang="ko-KR" sz="1400" dirty="0"/>
              <a:t>            "default": 5</a:t>
            </a:r>
          </a:p>
          <a:p>
            <a:r>
              <a:rPr lang="en-US" altLang="ko-KR" sz="1400" dirty="0"/>
              <a:t>          }</a:t>
            </a:r>
          </a:p>
          <a:p>
            <a:r>
              <a:rPr lang="en-US" altLang="ko-KR" sz="1400" dirty="0"/>
              <a:t>        },</a:t>
            </a:r>
          </a:p>
          <a:p>
            <a:r>
              <a:rPr lang="en-US" altLang="ko-KR" sz="1400" dirty="0"/>
              <a:t>        "required": ["query"]</a:t>
            </a:r>
          </a:p>
          <a:p>
            <a:r>
              <a:rPr lang="en-US" altLang="ko-KR" sz="1200" dirty="0"/>
              <a:t>      }</a:t>
            </a:r>
          </a:p>
          <a:p>
            <a:r>
              <a:rPr lang="en-US" altLang="ko-KR" sz="1200" dirty="0"/>
              <a:t>    },  {</a:t>
            </a:r>
          </a:p>
          <a:p>
            <a:r>
              <a:rPr lang="en-US" altLang="ko-KR" sz="1200" dirty="0"/>
              <a:t>      "name": "</a:t>
            </a:r>
            <a:r>
              <a:rPr lang="en-US" altLang="ko-KR" sz="1200" dirty="0" err="1"/>
              <a:t>get_pubmed_abstract</a:t>
            </a:r>
            <a:r>
              <a:rPr lang="en-US" altLang="ko-KR" sz="1200" dirty="0"/>
              <a:t>",</a:t>
            </a:r>
          </a:p>
          <a:p>
            <a:r>
              <a:rPr lang="en-US" altLang="ko-KR" sz="1200" dirty="0"/>
              <a:t>      "description": "Retrieve title and abstract for a given PubMed ID (PMID).",</a:t>
            </a:r>
          </a:p>
          <a:p>
            <a:r>
              <a:rPr lang="en-US" altLang="ko-KR" sz="1200" dirty="0"/>
              <a:t>      "</a:t>
            </a:r>
            <a:r>
              <a:rPr lang="en-US" altLang="ko-KR" sz="1200" dirty="0" err="1"/>
              <a:t>input_schema</a:t>
            </a:r>
            <a:r>
              <a:rPr lang="en-US" altLang="ko-KR" sz="1200" dirty="0"/>
              <a:t>": {</a:t>
            </a:r>
          </a:p>
          <a:p>
            <a:r>
              <a:rPr lang="en-US" altLang="ko-KR" sz="1200" dirty="0"/>
              <a:t>        "type": "object",</a:t>
            </a:r>
          </a:p>
          <a:p>
            <a:r>
              <a:rPr lang="en-US" altLang="ko-KR" sz="1200" dirty="0"/>
              <a:t>        "properties": {</a:t>
            </a:r>
          </a:p>
          <a:p>
            <a:r>
              <a:rPr lang="en-US" altLang="ko-KR" sz="1200" dirty="0"/>
              <a:t>          "</a:t>
            </a:r>
            <a:r>
              <a:rPr lang="en-US" altLang="ko-KR" sz="1200" dirty="0" err="1"/>
              <a:t>pmid</a:t>
            </a:r>
            <a:r>
              <a:rPr lang="en-US" altLang="ko-KR" sz="1200" dirty="0"/>
              <a:t>": {</a:t>
            </a:r>
          </a:p>
          <a:p>
            <a:r>
              <a:rPr lang="en-US" altLang="ko-KR" sz="1200" dirty="0"/>
              <a:t>            "type": "string",</a:t>
            </a:r>
          </a:p>
          <a:p>
            <a:r>
              <a:rPr lang="en-US" altLang="ko-KR" sz="1200" dirty="0"/>
              <a:t>            "description": "PubMed ID"</a:t>
            </a:r>
          </a:p>
          <a:p>
            <a:r>
              <a:rPr lang="en-US" altLang="ko-KR" sz="1200" dirty="0"/>
              <a:t>          }</a:t>
            </a:r>
          </a:p>
        </p:txBody>
      </p:sp>
    </p:spTree>
    <p:extLst>
      <p:ext uri="{BB962C8B-B14F-4D97-AF65-F5344CB8AC3E}">
        <p14:creationId xmlns:p14="http://schemas.microsoft.com/office/powerpoint/2010/main" val="215463809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986035-9A7E-4768-95A9-F7887DFB8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실제로 직접 작성하기 보다는</a:t>
            </a:r>
            <a:r>
              <a:rPr lang="en-US" altLang="ko-KR" dirty="0"/>
              <a:t>…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F8A49F-6C8E-4F47-B92F-A8F3A4CFD3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7800"/>
            <a:ext cx="10690412" cy="4729163"/>
          </a:xfrm>
        </p:spPr>
        <p:txBody>
          <a:bodyPr/>
          <a:lstStyle/>
          <a:p>
            <a:r>
              <a:rPr lang="en-US" altLang="ko-KR" dirty="0"/>
              <a:t>“</a:t>
            </a:r>
            <a:r>
              <a:rPr lang="ko-KR" altLang="en-US" dirty="0"/>
              <a:t>오늘 작업한 내용을 정리하고 앞으로 관리하기 편하도록 폴더 구조를 만들고 운영 원칙을 세워서 </a:t>
            </a:r>
            <a:r>
              <a:rPr lang="en-US" altLang="ko-KR" dirty="0"/>
              <a:t>AGENTS.md</a:t>
            </a:r>
            <a:r>
              <a:rPr lang="ko-KR" altLang="en-US" dirty="0"/>
              <a:t>를 </a:t>
            </a:r>
            <a:r>
              <a:rPr lang="ko-KR" altLang="en-US" dirty="0" err="1"/>
              <a:t>작성하시오</a:t>
            </a:r>
            <a:r>
              <a:rPr lang="en-US" altLang="ko-KR" dirty="0"/>
              <a:t>＂</a:t>
            </a:r>
          </a:p>
          <a:p>
            <a:r>
              <a:rPr lang="en-US" altLang="ko-KR" dirty="0"/>
              <a:t>"</a:t>
            </a:r>
            <a:r>
              <a:rPr lang="ko-KR" altLang="en-US" dirty="0"/>
              <a:t>방금 작성한 그래프와 같은 형식으로 앞으로 만들 수 있도록 </a:t>
            </a:r>
            <a:r>
              <a:rPr lang="en-US" altLang="ko-KR" dirty="0"/>
              <a:t>skill</a:t>
            </a:r>
            <a:r>
              <a:rPr lang="ko-KR" altLang="en-US" dirty="0"/>
              <a:t>을 만들어주세요</a:t>
            </a:r>
            <a:r>
              <a:rPr lang="en-US" altLang="ko-KR" dirty="0"/>
              <a:t>"</a:t>
            </a:r>
          </a:p>
          <a:p>
            <a:r>
              <a:rPr lang="en-US" altLang="ko-KR" dirty="0"/>
              <a:t>"https://mcpmarket.com/tools/skills/clinvar-database-1 </a:t>
            </a:r>
            <a:r>
              <a:rPr lang="ko-KR" altLang="en-US" dirty="0"/>
              <a:t>이걸 읽고 </a:t>
            </a:r>
            <a:r>
              <a:rPr lang="en-US" altLang="ko-KR" dirty="0" err="1"/>
              <a:t>ClinVar</a:t>
            </a:r>
            <a:r>
              <a:rPr lang="ko-KR" altLang="en-US" dirty="0"/>
              <a:t>를 이용하는 </a:t>
            </a:r>
            <a:r>
              <a:rPr lang="en-US" altLang="ko-KR" dirty="0"/>
              <a:t>skill</a:t>
            </a:r>
            <a:r>
              <a:rPr lang="ko-KR" altLang="en-US" dirty="0"/>
              <a:t>을 </a:t>
            </a:r>
            <a:r>
              <a:rPr lang="ko-KR" altLang="en-US" dirty="0" err="1"/>
              <a:t>배우시오</a:t>
            </a:r>
            <a:r>
              <a:rPr lang="en-US" altLang="ko-KR" dirty="0"/>
              <a:t>"</a:t>
            </a:r>
          </a:p>
          <a:p>
            <a:r>
              <a:rPr lang="en-US" altLang="ko-KR" dirty="0"/>
              <a:t>"https://github.com/</a:t>
            </a:r>
            <a:r>
              <a:rPr lang="en-US" altLang="ko-KR" dirty="0" err="1"/>
              <a:t>SeoNaRu</a:t>
            </a:r>
            <a:r>
              <a:rPr lang="en-US" altLang="ko-KR" dirty="0"/>
              <a:t>/</a:t>
            </a:r>
            <a:r>
              <a:rPr lang="en-US" altLang="ko-KR" dirty="0" err="1"/>
              <a:t>korean</a:t>
            </a:r>
            <a:r>
              <a:rPr lang="en-US" altLang="ko-KR" dirty="0"/>
              <a:t>-law-</a:t>
            </a:r>
            <a:r>
              <a:rPr lang="en-US" altLang="ko-KR" dirty="0" err="1"/>
              <a:t>mcp</a:t>
            </a:r>
            <a:r>
              <a:rPr lang="en-US" altLang="ko-KR" dirty="0"/>
              <a:t> </a:t>
            </a:r>
            <a:r>
              <a:rPr lang="ko-KR" altLang="en-US" dirty="0"/>
              <a:t>여기에 나와있는 </a:t>
            </a:r>
            <a:r>
              <a:rPr lang="en-US" altLang="ko-KR" dirty="0"/>
              <a:t>MCP </a:t>
            </a:r>
            <a:r>
              <a:rPr lang="ko-KR" altLang="en-US" dirty="0"/>
              <a:t>서버를 이용해 관련 실험실 안전 관리 관련 법령을 </a:t>
            </a:r>
            <a:r>
              <a:rPr lang="ko-KR" altLang="en-US" dirty="0" err="1"/>
              <a:t>검색하시오</a:t>
            </a:r>
            <a:r>
              <a:rPr lang="en-US" altLang="ko-KR" dirty="0"/>
              <a:t>"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8004765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AA318D-35FE-4428-9376-6B38A8EA4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이런 것도 된다</a:t>
            </a:r>
            <a:r>
              <a:rPr lang="en-US" altLang="ko-KR" dirty="0"/>
              <a:t>…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A2B3A4-0ADC-4C52-AD0F-3EA256C856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47800"/>
            <a:ext cx="10887635" cy="4729163"/>
          </a:xfrm>
        </p:spPr>
        <p:txBody>
          <a:bodyPr>
            <a:normAutofit fontScale="92500"/>
          </a:bodyPr>
          <a:lstStyle/>
          <a:p>
            <a:r>
              <a:rPr lang="ko-KR" altLang="en-US" dirty="0"/>
              <a:t>다른 형식으로 정리된 엑셀 파일 </a:t>
            </a:r>
            <a:r>
              <a:rPr lang="en-US" altLang="ko-KR" dirty="0"/>
              <a:t>10</a:t>
            </a:r>
            <a:r>
              <a:rPr lang="ko-KR" altLang="en-US" dirty="0"/>
              <a:t>개를 하나로 통합해주세요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이거 얼굴 모르는 선배가 남겨놓고 간 </a:t>
            </a:r>
            <a:r>
              <a:rPr lang="ko-KR" altLang="en-US" dirty="0" err="1"/>
              <a:t>압축파일인데</a:t>
            </a:r>
            <a:r>
              <a:rPr lang="en-US" altLang="ko-KR" dirty="0"/>
              <a:t>, </a:t>
            </a:r>
            <a:r>
              <a:rPr lang="ko-KR" altLang="en-US" dirty="0"/>
              <a:t>어떤 데이터가 얼마나 있고 어떤 추가실험이 필요할지 정리해서 보고서로 작성하세요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IHC </a:t>
            </a:r>
            <a:r>
              <a:rPr lang="ko-KR" altLang="en-US" dirty="0"/>
              <a:t>사진 </a:t>
            </a:r>
            <a:r>
              <a:rPr lang="en-US" altLang="ko-KR" dirty="0"/>
              <a:t>100</a:t>
            </a:r>
            <a:r>
              <a:rPr lang="ko-KR" altLang="en-US" dirty="0"/>
              <a:t>장을 순차적으로 </a:t>
            </a:r>
            <a:r>
              <a:rPr lang="ko-KR" altLang="en-US" dirty="0" err="1"/>
              <a:t>로딩해</a:t>
            </a:r>
            <a:r>
              <a:rPr lang="ko-KR" altLang="en-US" dirty="0"/>
              <a:t> 클릭해서 </a:t>
            </a:r>
            <a:r>
              <a:rPr lang="en-US" altLang="ko-KR" dirty="0"/>
              <a:t>Cell counting</a:t>
            </a:r>
            <a:r>
              <a:rPr lang="ko-KR" altLang="en-US" dirty="0"/>
              <a:t>할 수 있는 </a:t>
            </a:r>
            <a:r>
              <a:rPr lang="en-US" altLang="ko-KR" dirty="0"/>
              <a:t>1</a:t>
            </a:r>
            <a:r>
              <a:rPr lang="ko-KR" altLang="en-US" dirty="0"/>
              <a:t>회용 앱을 만들어주세요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reference </a:t>
            </a:r>
            <a:r>
              <a:rPr lang="ko-KR" altLang="en-US" dirty="0"/>
              <a:t>폴더 안의 </a:t>
            </a:r>
            <a:r>
              <a:rPr lang="en-US" altLang="ko-KR" dirty="0"/>
              <a:t>PDF </a:t>
            </a:r>
            <a:r>
              <a:rPr lang="ko-KR" altLang="en-US" dirty="0"/>
              <a:t>파일 </a:t>
            </a:r>
            <a:r>
              <a:rPr lang="en-US" altLang="ko-KR" dirty="0"/>
              <a:t>50</a:t>
            </a:r>
            <a:r>
              <a:rPr lang="ko-KR" altLang="en-US" dirty="0"/>
              <a:t>개에서 </a:t>
            </a:r>
            <a:r>
              <a:rPr lang="ko-KR" altLang="en-US" dirty="0" err="1"/>
              <a:t>생존률</a:t>
            </a:r>
            <a:r>
              <a:rPr lang="ko-KR" altLang="en-US" dirty="0"/>
              <a:t> 정보만 </a:t>
            </a:r>
            <a:r>
              <a:rPr lang="en-US" altLang="ko-KR" dirty="0"/>
              <a:t>csv</a:t>
            </a:r>
            <a:r>
              <a:rPr lang="ko-KR" altLang="en-US" dirty="0"/>
              <a:t>로 정리해주세요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X</a:t>
            </a:r>
            <a:r>
              <a:rPr lang="ko-KR" altLang="en-US" dirty="0"/>
              <a:t>파일을 </a:t>
            </a:r>
            <a:r>
              <a:rPr lang="en-US" altLang="ko-KR" dirty="0"/>
              <a:t>Y</a:t>
            </a:r>
            <a:r>
              <a:rPr lang="ko-KR" altLang="en-US" dirty="0"/>
              <a:t>파일로 변환하는 프로그램을 만들어서 일괄 변환해주세요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연구 진척현황 대시보드를 만들어서 팀원들에게 메일로 보내주세요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6466952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BFC64A-300F-4B12-ACE9-D60C96570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 i="0" dirty="0">
                <a:solidFill>
                  <a:srgbClr val="374151"/>
                </a:solidFill>
                <a:effectLst/>
                <a:latin typeface="Manrope"/>
              </a:rPr>
              <a:t>"Vibe Research"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B957259-EE3F-4D9B-9501-DBA0881560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7800"/>
            <a:ext cx="11228294" cy="4729163"/>
          </a:xfrm>
        </p:spPr>
        <p:txBody>
          <a:bodyPr>
            <a:normAutofit/>
          </a:bodyPr>
          <a:lstStyle/>
          <a:p>
            <a:r>
              <a:rPr lang="en-US" altLang="ko-KR" dirty="0"/>
              <a:t>Vibe Coding</a:t>
            </a:r>
            <a:r>
              <a:rPr lang="ko-KR" altLang="en-US" dirty="0"/>
              <a:t>에서 파생된 개념</a:t>
            </a:r>
          </a:p>
          <a:p>
            <a:r>
              <a:rPr lang="ko-KR" altLang="en-US" dirty="0"/>
              <a:t>연구자가 직접 코드를 작성하고 파일을 열어보는 것을 최소화하고</a:t>
            </a:r>
          </a:p>
          <a:p>
            <a:r>
              <a:rPr lang="en-US" altLang="ko-KR" dirty="0"/>
              <a:t>AI Agent</a:t>
            </a:r>
            <a:r>
              <a:rPr lang="ko-KR" altLang="en-US" dirty="0"/>
              <a:t>에게 자연어로 지시하여 데이터 분석을 수행하는 방식</a:t>
            </a:r>
          </a:p>
          <a:p>
            <a:endParaRPr lang="ko-KR" altLang="en-US" dirty="0"/>
          </a:p>
          <a:p>
            <a:r>
              <a:rPr lang="ko-KR" altLang="en-US" dirty="0"/>
              <a:t>내 컴퓨터의 폴더를 </a:t>
            </a:r>
            <a:r>
              <a:rPr lang="en-US" altLang="ko-KR" dirty="0"/>
              <a:t>workspace</a:t>
            </a:r>
            <a:r>
              <a:rPr lang="ko-KR" altLang="en-US" dirty="0"/>
              <a:t>로 지정하고</a:t>
            </a:r>
          </a:p>
          <a:p>
            <a:r>
              <a:rPr lang="en-US" altLang="ko-KR" dirty="0"/>
              <a:t>AI</a:t>
            </a:r>
            <a:r>
              <a:rPr lang="ko-KR" altLang="en-US" dirty="0"/>
              <a:t>가 직접 파일을 읽기</a:t>
            </a:r>
            <a:r>
              <a:rPr lang="en-US" altLang="ko-KR" dirty="0"/>
              <a:t>/</a:t>
            </a:r>
            <a:r>
              <a:rPr lang="ko-KR" altLang="en-US" dirty="0"/>
              <a:t>쓰기</a:t>
            </a:r>
          </a:p>
          <a:p>
            <a:r>
              <a:rPr lang="ko-KR" altLang="en-US" dirty="0"/>
              <a:t>코드 작성 및 실행</a:t>
            </a:r>
          </a:p>
          <a:p>
            <a:r>
              <a:rPr lang="ko-KR" altLang="en-US" dirty="0"/>
              <a:t>결과 정리 및 보고서 작성</a:t>
            </a:r>
          </a:p>
        </p:txBody>
      </p:sp>
    </p:spTree>
    <p:extLst>
      <p:ext uri="{BB962C8B-B14F-4D97-AF65-F5344CB8AC3E}">
        <p14:creationId xmlns:p14="http://schemas.microsoft.com/office/powerpoint/2010/main" val="234995575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97C28F-AD3C-4C99-B873-F6CA32A68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Vibe Research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6F539A5-1C13-4FA0-9590-300C8A2370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7800"/>
            <a:ext cx="11246224" cy="1089211"/>
          </a:xfrm>
        </p:spPr>
        <p:txBody>
          <a:bodyPr>
            <a:normAutofit fontScale="92500"/>
          </a:bodyPr>
          <a:lstStyle/>
          <a:p>
            <a:r>
              <a:rPr lang="en-US" altLang="ko-KR" dirty="0"/>
              <a:t>Workflow – </a:t>
            </a:r>
            <a:r>
              <a:rPr lang="ko-KR" altLang="en-US" dirty="0"/>
              <a:t>발산만하고 수렴하지 않으면</a:t>
            </a:r>
            <a:r>
              <a:rPr lang="en-US" altLang="ko-KR" dirty="0"/>
              <a:t>, </a:t>
            </a:r>
            <a:r>
              <a:rPr lang="ko-KR" altLang="en-US" dirty="0"/>
              <a:t>큰 규모 연구는 불가능 해진다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Human-in-the-loop </a:t>
            </a:r>
            <a:r>
              <a:rPr lang="ko-KR" altLang="en-US" dirty="0"/>
              <a:t>개입 필요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F9E2484-6E46-4C1D-8DEF-E421038592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77102"/>
            <a:ext cx="12192000" cy="4398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51458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740906-25C1-4B1E-9ED4-1862E50C9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 i="0" dirty="0">
                <a:solidFill>
                  <a:srgbClr val="374151"/>
                </a:solidFill>
                <a:effectLst/>
                <a:latin typeface="Manrope"/>
              </a:rPr>
              <a:t>AI Agent</a:t>
            </a:r>
            <a:r>
              <a:rPr lang="ko-KR" altLang="en-US" b="1" i="0" dirty="0">
                <a:solidFill>
                  <a:srgbClr val="374151"/>
                </a:solidFill>
                <a:effectLst/>
                <a:latin typeface="Manrope"/>
              </a:rPr>
              <a:t>가 잘 하는 것과 못 하는 것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B136824-DA7E-4268-8C98-0D55266E1D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47800"/>
            <a:ext cx="5114365" cy="4729163"/>
          </a:xfrm>
        </p:spPr>
        <p:txBody>
          <a:bodyPr/>
          <a:lstStyle/>
          <a:p>
            <a:r>
              <a:rPr lang="ko-KR" altLang="en-US" dirty="0"/>
              <a:t>잘하는 것</a:t>
            </a:r>
            <a:endParaRPr lang="en-US" altLang="ko-KR" dirty="0"/>
          </a:p>
          <a:p>
            <a:pPr lvl="1"/>
            <a:r>
              <a:rPr lang="ko-KR" altLang="en-US" dirty="0"/>
              <a:t>지치지 않는 반복 시도와 전진 본능</a:t>
            </a:r>
            <a:endParaRPr lang="en-US" altLang="ko-KR" dirty="0"/>
          </a:p>
          <a:p>
            <a:pPr lvl="1"/>
            <a:r>
              <a:rPr lang="ko-KR" altLang="en-US" dirty="0"/>
              <a:t>넓게 퍼진 데이터 통합 </a:t>
            </a:r>
            <a:r>
              <a:rPr lang="en-US" altLang="ko-KR" dirty="0"/>
              <a:t>(tabular + </a:t>
            </a:r>
            <a:r>
              <a:rPr lang="ko-KR" altLang="en-US" dirty="0"/>
              <a:t>조각난 문서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구멍 많은 데이터에서 일관된 스토리 구성</a:t>
            </a:r>
          </a:p>
          <a:p>
            <a:pPr lvl="1"/>
            <a:r>
              <a:rPr lang="ko-KR" altLang="en-US" dirty="0"/>
              <a:t>다음 단계 아이디어 생성</a:t>
            </a:r>
          </a:p>
          <a:p>
            <a:pPr lvl="1"/>
            <a:r>
              <a:rPr lang="en-US" altLang="ko-KR" dirty="0"/>
              <a:t>API </a:t>
            </a:r>
            <a:r>
              <a:rPr lang="ko-KR" altLang="en-US" dirty="0"/>
              <a:t>작업 </a:t>
            </a:r>
            <a:r>
              <a:rPr lang="en-US" altLang="ko-KR" dirty="0"/>
              <a:t>(rate limiting </a:t>
            </a:r>
            <a:r>
              <a:rPr lang="ko-KR" altLang="en-US" dirty="0"/>
              <a:t>극복</a:t>
            </a:r>
            <a:r>
              <a:rPr lang="en-US" altLang="ko-KR" dirty="0"/>
              <a:t>, </a:t>
            </a:r>
            <a:r>
              <a:rPr lang="ko-KR" altLang="en-US" dirty="0"/>
              <a:t>자동 재시도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정보 통합과 맥락 읽기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1D2B1129-858F-4FE3-91CF-505F3A8DA9C3}"/>
              </a:ext>
            </a:extLst>
          </p:cNvPr>
          <p:cNvSpPr txBox="1">
            <a:spLocks/>
          </p:cNvSpPr>
          <p:nvPr/>
        </p:nvSpPr>
        <p:spPr>
          <a:xfrm>
            <a:off x="6400800" y="1447800"/>
            <a:ext cx="5114365" cy="4729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503020000020004" pitchFamily="50" charset="-127"/>
              <a:buChar char="-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잘 못하는 것</a:t>
            </a:r>
            <a:endParaRPr lang="en-US" altLang="ko-KR" dirty="0"/>
          </a:p>
          <a:p>
            <a:pPr lvl="1"/>
            <a:r>
              <a:rPr lang="ko-KR" altLang="en-US" dirty="0"/>
              <a:t>전진 본능을 억제하고 가능한 모든 옵션을 제자리에서 탐색</a:t>
            </a:r>
          </a:p>
          <a:p>
            <a:pPr lvl="1"/>
            <a:r>
              <a:rPr lang="ko-KR" altLang="en-US" dirty="0"/>
              <a:t>하나씩 엄밀하게 검증 </a:t>
            </a:r>
            <a:r>
              <a:rPr lang="en-US" altLang="ko-KR" dirty="0"/>
              <a:t>   (prerequisite, </a:t>
            </a:r>
            <a:r>
              <a:rPr lang="ko-KR" altLang="en-US" dirty="0"/>
              <a:t>완결성</a:t>
            </a:r>
            <a:r>
              <a:rPr lang="en-US" altLang="ko-KR" dirty="0"/>
              <a:t>, </a:t>
            </a:r>
            <a:r>
              <a:rPr lang="ko-KR" altLang="en-US" dirty="0"/>
              <a:t>과학적 검증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“</a:t>
            </a:r>
            <a:r>
              <a:rPr lang="ko-KR" altLang="en-US" dirty="0"/>
              <a:t>뭔가 잘못 </a:t>
            </a:r>
            <a:r>
              <a:rPr lang="ko-KR" altLang="en-US" dirty="0" err="1"/>
              <a:t>되가고</a:t>
            </a:r>
            <a:r>
              <a:rPr lang="ko-KR" altLang="en-US" dirty="0"/>
              <a:t> 있음</a:t>
            </a:r>
            <a:r>
              <a:rPr lang="en-US" altLang="ko-KR" dirty="0"/>
              <a:t>"</a:t>
            </a:r>
            <a:r>
              <a:rPr lang="ko-KR" altLang="en-US" dirty="0"/>
              <a:t>을 감지하고 작업을 원점에서</a:t>
            </a:r>
            <a:r>
              <a:rPr lang="en-US" altLang="ko-KR" dirty="0"/>
              <a:t> </a:t>
            </a:r>
            <a:r>
              <a:rPr lang="ko-KR" altLang="en-US" dirty="0"/>
              <a:t>재검토하는 능력</a:t>
            </a:r>
          </a:p>
        </p:txBody>
      </p:sp>
    </p:spTree>
    <p:extLst>
      <p:ext uri="{BB962C8B-B14F-4D97-AF65-F5344CB8AC3E}">
        <p14:creationId xmlns:p14="http://schemas.microsoft.com/office/powerpoint/2010/main" val="367909528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96F074-ECDB-4373-885E-86906E63D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Agent</a:t>
            </a:r>
            <a:r>
              <a:rPr lang="ko-KR" altLang="en-US" dirty="0"/>
              <a:t>의 실패 실수들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C284FB-A325-4447-A9F5-CDB0763406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7801"/>
            <a:ext cx="10842812" cy="3554506"/>
          </a:xfrm>
        </p:spPr>
        <p:txBody>
          <a:bodyPr/>
          <a:lstStyle/>
          <a:p>
            <a:r>
              <a:rPr lang="ko-KR" altLang="en-US" dirty="0" err="1"/>
              <a:t>필드명</a:t>
            </a:r>
            <a:r>
              <a:rPr lang="ko-KR" altLang="en-US" dirty="0"/>
              <a:t> 혼동</a:t>
            </a:r>
            <a:r>
              <a:rPr lang="en-US" altLang="ko-KR" dirty="0"/>
              <a:t>: </a:t>
            </a:r>
            <a:r>
              <a:rPr lang="ko-KR" altLang="en-US" dirty="0"/>
              <a:t>여러 파일에 </a:t>
            </a:r>
            <a:r>
              <a:rPr lang="en-US" altLang="ko-KR" dirty="0"/>
              <a:t>field </a:t>
            </a:r>
            <a:r>
              <a:rPr lang="ko-KR" altLang="en-US" dirty="0"/>
              <a:t>이름을 다르게 쓴 경우 잦은 오류</a:t>
            </a:r>
          </a:p>
          <a:p>
            <a:r>
              <a:rPr lang="en-US" altLang="ko-KR" dirty="0"/>
              <a:t>Context </a:t>
            </a:r>
            <a:r>
              <a:rPr lang="ko-KR" altLang="en-US" dirty="0"/>
              <a:t>오류</a:t>
            </a:r>
            <a:r>
              <a:rPr lang="en-US" altLang="ko-KR" dirty="0"/>
              <a:t>: </a:t>
            </a:r>
            <a:r>
              <a:rPr lang="ko-KR" altLang="en-US" dirty="0"/>
              <a:t>다른 스크립트에서 만든 함수를 정의 없이 호출</a:t>
            </a:r>
          </a:p>
          <a:p>
            <a:r>
              <a:rPr lang="ko-KR" altLang="en-US" dirty="0" err="1"/>
              <a:t>구버전</a:t>
            </a:r>
            <a:r>
              <a:rPr lang="ko-KR" altLang="en-US" dirty="0"/>
              <a:t> 문법</a:t>
            </a:r>
            <a:r>
              <a:rPr lang="en-US" altLang="ko-KR" dirty="0"/>
              <a:t>: </a:t>
            </a:r>
            <a:r>
              <a:rPr lang="ko-KR" altLang="en-US" dirty="0"/>
              <a:t>라이브러리 옛 문법으로 </a:t>
            </a:r>
            <a:r>
              <a:rPr lang="en-US" altLang="ko-KR" dirty="0"/>
              <a:t>null</a:t>
            </a:r>
            <a:r>
              <a:rPr lang="ko-KR" altLang="en-US" dirty="0"/>
              <a:t>결과 생성</a:t>
            </a:r>
          </a:p>
          <a:p>
            <a:r>
              <a:rPr lang="ko-KR" altLang="en-US" dirty="0"/>
              <a:t>암묵적 가정</a:t>
            </a:r>
            <a:r>
              <a:rPr lang="en-US" altLang="ko-KR" dirty="0"/>
              <a:t>: </a:t>
            </a:r>
            <a:r>
              <a:rPr lang="ko-KR" altLang="en-US" dirty="0"/>
              <a:t>단위</a:t>
            </a:r>
            <a:r>
              <a:rPr lang="en-US" altLang="ko-KR" dirty="0"/>
              <a:t>, </a:t>
            </a:r>
            <a:r>
              <a:rPr lang="ko-KR" altLang="en-US" dirty="0"/>
              <a:t>데이터 형태</a:t>
            </a:r>
            <a:r>
              <a:rPr lang="en-US" altLang="ko-KR" dirty="0"/>
              <a:t>, </a:t>
            </a:r>
            <a:r>
              <a:rPr lang="ko-KR" altLang="en-US" dirty="0"/>
              <a:t>표준화 방식을 학계의 관례에 따르지 않고 창의적으로 정의하고 확인 없이 진행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111160-E032-4D0C-A8E8-544FC5A937F0}"/>
              </a:ext>
            </a:extLst>
          </p:cNvPr>
          <p:cNvSpPr txBox="1"/>
          <p:nvPr/>
        </p:nvSpPr>
        <p:spPr>
          <a:xfrm>
            <a:off x="1604682" y="5782235"/>
            <a:ext cx="89557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Vibe debugging: </a:t>
            </a:r>
            <a:r>
              <a:rPr lang="ko-KR" altLang="en-US" dirty="0"/>
              <a:t>코드를 직접 읽지 않고</a:t>
            </a:r>
            <a:r>
              <a:rPr lang="en-US" altLang="ko-KR" dirty="0"/>
              <a:t>, </a:t>
            </a:r>
            <a:r>
              <a:rPr lang="ko-KR" altLang="en-US" dirty="0"/>
              <a:t>결과와 </a:t>
            </a:r>
            <a:r>
              <a:rPr lang="en-US" altLang="ko-KR" dirty="0"/>
              <a:t>reasoning trace</a:t>
            </a:r>
            <a:r>
              <a:rPr lang="ko-KR" altLang="en-US" dirty="0"/>
              <a:t>를 보고 이상을 감지하여 </a:t>
            </a:r>
            <a:r>
              <a:rPr lang="en-US" altLang="ko-KR" dirty="0"/>
              <a:t>"</a:t>
            </a:r>
            <a:r>
              <a:rPr lang="ko-KR" altLang="en-US" dirty="0"/>
              <a:t>감으로</a:t>
            </a:r>
            <a:r>
              <a:rPr lang="en-US" altLang="ko-KR" dirty="0"/>
              <a:t>" </a:t>
            </a:r>
            <a:r>
              <a:rPr lang="ko-KR" altLang="en-US" dirty="0"/>
              <a:t>문제를 찾는 방식</a:t>
            </a:r>
          </a:p>
        </p:txBody>
      </p:sp>
    </p:spTree>
    <p:extLst>
      <p:ext uri="{BB962C8B-B14F-4D97-AF65-F5344CB8AC3E}">
        <p14:creationId xmlns:p14="http://schemas.microsoft.com/office/powerpoint/2010/main" val="31567770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1D49F2-C247-48A4-BAD2-668274BF7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인간의 역할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50DBA6-694E-4770-AF18-6440A854C6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7800"/>
            <a:ext cx="10515600" cy="4872318"/>
          </a:xfrm>
        </p:spPr>
        <p:txBody>
          <a:bodyPr>
            <a:normAutofit/>
          </a:bodyPr>
          <a:lstStyle/>
          <a:p>
            <a:r>
              <a:rPr lang="en-US" altLang="ko-KR" dirty="0"/>
              <a:t>Agent</a:t>
            </a:r>
            <a:r>
              <a:rPr lang="ko-KR" altLang="en-US" dirty="0"/>
              <a:t>는 강력한 </a:t>
            </a:r>
            <a:r>
              <a:rPr lang="en-US" altLang="ko-KR" dirty="0"/>
              <a:t>"</a:t>
            </a:r>
            <a:r>
              <a:rPr lang="ko-KR" altLang="en-US" dirty="0"/>
              <a:t>전진 본능</a:t>
            </a:r>
            <a:r>
              <a:rPr lang="en-US" altLang="ko-KR" dirty="0"/>
              <a:t>"</a:t>
            </a:r>
            <a:r>
              <a:rPr lang="ko-KR" altLang="en-US" dirty="0"/>
              <a:t>을 가지고 있음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가속페달이 기본으로 눌러 있고</a:t>
            </a:r>
            <a:r>
              <a:rPr lang="en-US" altLang="ko-KR" dirty="0"/>
              <a:t>, </a:t>
            </a:r>
            <a:r>
              <a:rPr lang="ko-KR" altLang="en-US" dirty="0"/>
              <a:t>인간 연구자는 계기판을 들여다보며 브레이크를 적절하게 잡아주는 역할을 해야 함</a:t>
            </a:r>
            <a:r>
              <a:rPr lang="en-US" altLang="ko-KR" dirty="0"/>
              <a:t>!</a:t>
            </a:r>
            <a:endParaRPr lang="ko-KR" altLang="en-US" dirty="0"/>
          </a:p>
          <a:p>
            <a:r>
              <a:rPr lang="ko-KR" altLang="en-US" dirty="0"/>
              <a:t>데이터 변환이 </a:t>
            </a:r>
            <a:r>
              <a:rPr lang="en-US" altLang="ko-KR" dirty="0"/>
              <a:t>99% </a:t>
            </a:r>
            <a:r>
              <a:rPr lang="ko-KR" altLang="en-US" dirty="0"/>
              <a:t>되었는데 </a:t>
            </a:r>
            <a:r>
              <a:rPr lang="en-US" altLang="ko-KR" dirty="0"/>
              <a:t>accept</a:t>
            </a:r>
            <a:r>
              <a:rPr lang="ko-KR" altLang="en-US" dirty="0"/>
              <a:t>하니 다음 단계로 성급히</a:t>
            </a:r>
            <a:r>
              <a:rPr lang="en-US" altLang="ko-KR" dirty="0"/>
              <a:t>..</a:t>
            </a:r>
            <a:endParaRPr lang="ko-KR" altLang="en-US" dirty="0"/>
          </a:p>
          <a:p>
            <a:pPr marL="0" indent="0">
              <a:buNone/>
            </a:pPr>
            <a:r>
              <a:rPr lang="ko-KR" altLang="en-US" dirty="0"/>
              <a:t> → </a:t>
            </a:r>
            <a:r>
              <a:rPr lang="en-US" altLang="ko-KR" dirty="0"/>
              <a:t>1%</a:t>
            </a:r>
            <a:r>
              <a:rPr lang="ko-KR" altLang="en-US" dirty="0"/>
              <a:t>를 왜 그냥 놔둬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Validation score</a:t>
            </a:r>
            <a:r>
              <a:rPr lang="ko-KR" altLang="en-US" dirty="0"/>
              <a:t>가 </a:t>
            </a:r>
            <a:r>
              <a:rPr lang="en-US" altLang="ko-KR" dirty="0"/>
              <a:t>1.00</a:t>
            </a:r>
            <a:r>
              <a:rPr lang="ko-KR" altLang="en-US" dirty="0"/>
              <a:t>으로 아주 훌륭하게 나왔다고</a:t>
            </a:r>
            <a:r>
              <a:rPr lang="en-US" altLang="ko-KR" dirty="0"/>
              <a:t>, </a:t>
            </a:r>
            <a:r>
              <a:rPr lang="ko-KR" altLang="en-US" dirty="0"/>
              <a:t>아무런 의심없이 다음 단계로 이동</a:t>
            </a:r>
          </a:p>
          <a:p>
            <a:pPr marL="0" indent="0">
              <a:buNone/>
            </a:pPr>
            <a:r>
              <a:rPr lang="ko-KR" altLang="en-US" dirty="0"/>
              <a:t> → 상식적으로 </a:t>
            </a:r>
            <a:r>
              <a:rPr lang="en-US" altLang="ko-KR" dirty="0"/>
              <a:t>100%</a:t>
            </a:r>
            <a:r>
              <a:rPr lang="ko-KR" altLang="en-US" dirty="0"/>
              <a:t>가 말이 돼</a:t>
            </a:r>
            <a:r>
              <a:rPr lang="en-US" altLang="ko-KR" dirty="0"/>
              <a:t>? </a:t>
            </a:r>
            <a:r>
              <a:rPr lang="ko-KR" altLang="en-US" dirty="0"/>
              <a:t>뭔가 실수했겠지</a:t>
            </a:r>
          </a:p>
          <a:p>
            <a:r>
              <a:rPr lang="en-US" altLang="ko-KR" dirty="0"/>
              <a:t>10</a:t>
            </a:r>
            <a:r>
              <a:rPr lang="ko-KR" altLang="en-US" dirty="0"/>
              <a:t>가지 옵션 중 </a:t>
            </a:r>
            <a:r>
              <a:rPr lang="en-US" altLang="ko-KR" dirty="0"/>
              <a:t>3</a:t>
            </a:r>
            <a:r>
              <a:rPr lang="ko-KR" altLang="en-US" dirty="0"/>
              <a:t>개를 했지만</a:t>
            </a:r>
            <a:r>
              <a:rPr lang="en-US" altLang="ko-KR" dirty="0"/>
              <a:t>,</a:t>
            </a:r>
            <a:r>
              <a:rPr lang="ko-KR" altLang="en-US" dirty="0"/>
              <a:t> 이 정도면 훌륭하니 다음 단계로</a:t>
            </a:r>
          </a:p>
          <a:p>
            <a:pPr marL="0" indent="0">
              <a:buNone/>
            </a:pPr>
            <a:r>
              <a:rPr lang="ko-KR" altLang="en-US" dirty="0"/>
              <a:t> → 분명히 </a:t>
            </a:r>
            <a:r>
              <a:rPr lang="en-US" altLang="ko-KR" dirty="0"/>
              <a:t>exhaustive search</a:t>
            </a:r>
            <a:r>
              <a:rPr lang="ko-KR" altLang="en-US" dirty="0"/>
              <a:t>를 하라고 시켰는데</a:t>
            </a:r>
            <a:r>
              <a:rPr lang="en-US" altLang="ko-KR" dirty="0"/>
              <a:t>...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1114377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EAEB6A1-01D5-4660-83B2-B9155B200D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1942" y="0"/>
            <a:ext cx="6700058" cy="6858000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D6D66F67-A40D-4D71-B59C-E566F8DF828C}"/>
              </a:ext>
            </a:extLst>
          </p:cNvPr>
          <p:cNvSpPr txBox="1">
            <a:spLocks/>
          </p:cNvSpPr>
          <p:nvPr/>
        </p:nvSpPr>
        <p:spPr>
          <a:xfrm>
            <a:off x="386542" y="365125"/>
            <a:ext cx="5105400" cy="72072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b="1" dirty="0">
                <a:solidFill>
                  <a:srgbClr val="374151"/>
                </a:solidFill>
                <a:latin typeface="Manrope"/>
              </a:rPr>
              <a:t>3</a:t>
            </a:r>
            <a:r>
              <a:rPr lang="ko-KR" altLang="en-US" b="1" dirty="0">
                <a:solidFill>
                  <a:srgbClr val="374151"/>
                </a:solidFill>
                <a:latin typeface="Manrope"/>
              </a:rPr>
              <a:t>계층</a:t>
            </a:r>
            <a:r>
              <a:rPr lang="en-US" altLang="ko-KR" b="1" dirty="0">
                <a:solidFill>
                  <a:srgbClr val="374151"/>
                </a:solidFill>
                <a:latin typeface="Manrope"/>
              </a:rPr>
              <a:t> Agent</a:t>
            </a:r>
            <a:r>
              <a:rPr lang="ko-KR" altLang="en-US" b="1" dirty="0">
                <a:solidFill>
                  <a:srgbClr val="374151"/>
                </a:solidFill>
                <a:latin typeface="Manrope"/>
              </a:rPr>
              <a:t> 활용법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9174336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28E219-173D-48E3-B7C1-53179D0A59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문서</a:t>
            </a:r>
            <a:r>
              <a:rPr lang="en-US" altLang="ko-KR" dirty="0"/>
              <a:t> </a:t>
            </a:r>
            <a:r>
              <a:rPr lang="ko-KR" altLang="en-US" dirty="0"/>
              <a:t>기반 고객 센터</a:t>
            </a:r>
            <a:br>
              <a:rPr lang="en-US" altLang="ko-KR" dirty="0"/>
            </a:br>
            <a:r>
              <a:rPr lang="en-US" altLang="ko-KR" dirty="0"/>
              <a:t>RAG Agent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8525B8D-01CE-4B0D-B2C1-55A446B0D8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86518"/>
            <a:ext cx="9144000" cy="1071282"/>
          </a:xfrm>
        </p:spPr>
        <p:txBody>
          <a:bodyPr>
            <a:normAutofit fontScale="92500" lnSpcReduction="20000"/>
          </a:bodyPr>
          <a:lstStyle/>
          <a:p>
            <a:pPr marL="342900" indent="-342900">
              <a:buFontTx/>
              <a:buChar char="-"/>
            </a:pPr>
            <a:r>
              <a:rPr lang="en-US" altLang="ko-KR" dirty="0" err="1"/>
              <a:t>Langchain</a:t>
            </a:r>
            <a:r>
              <a:rPr lang="en-US" altLang="ko-KR" dirty="0"/>
              <a:t>, </a:t>
            </a:r>
            <a:r>
              <a:rPr lang="en-US" altLang="ko-KR" dirty="0" err="1"/>
              <a:t>Llamaindex</a:t>
            </a:r>
            <a:endParaRPr lang="en-US" altLang="ko-KR" dirty="0"/>
          </a:p>
          <a:p>
            <a:pPr marL="342900" indent="-342900">
              <a:buFontTx/>
              <a:buChar char="-"/>
            </a:pPr>
            <a:r>
              <a:rPr lang="en-US" altLang="ko-KR" dirty="0" err="1"/>
              <a:t>LightRAG</a:t>
            </a:r>
            <a:r>
              <a:rPr lang="en-US" altLang="ko-KR" dirty="0"/>
              <a:t> (</a:t>
            </a:r>
            <a:r>
              <a:rPr lang="en-US" altLang="ko-KR" dirty="0" err="1"/>
              <a:t>postgresql</a:t>
            </a:r>
            <a:r>
              <a:rPr lang="en-US" altLang="ko-KR" dirty="0"/>
              <a:t> based)</a:t>
            </a:r>
          </a:p>
          <a:p>
            <a:pPr marL="342900" indent="-342900">
              <a:buFontTx/>
              <a:buChar char="-"/>
            </a:pPr>
            <a:r>
              <a:rPr lang="en-US" altLang="ko-KR" dirty="0" err="1"/>
              <a:t>OpenDataLoader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 err="1"/>
              <a:t>Markitdown</a:t>
            </a:r>
            <a:r>
              <a:rPr lang="en-US" altLang="ko-KR" dirty="0"/>
              <a:t>, </a:t>
            </a:r>
            <a:r>
              <a:rPr lang="en-US" altLang="ko-KR" dirty="0" err="1"/>
              <a:t>datalab’s</a:t>
            </a:r>
            <a:r>
              <a:rPr lang="en-US" altLang="ko-KR" dirty="0"/>
              <a:t> Marker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9F25F5-FC3E-4F34-8642-C4A79AD81E44}"/>
              </a:ext>
            </a:extLst>
          </p:cNvPr>
          <p:cNvSpPr txBox="1"/>
          <p:nvPr/>
        </p:nvSpPr>
        <p:spPr>
          <a:xfrm rot="19983873">
            <a:off x="7602489" y="3136612"/>
            <a:ext cx="31012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 err="1">
                <a:solidFill>
                  <a:srgbClr val="00B0F0"/>
                </a:solidFill>
              </a:rPr>
              <a:t>작성중입니다</a:t>
            </a:r>
            <a:r>
              <a:rPr lang="en-US" altLang="ko-KR" sz="3200" dirty="0">
                <a:solidFill>
                  <a:srgbClr val="00B0F0"/>
                </a:solidFill>
              </a:rPr>
              <a:t>.</a:t>
            </a:r>
            <a:endParaRPr lang="ko-KR" altLang="en-US" sz="32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282497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51E3C2-DF7A-4D32-83D1-D30A1D298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RAG</a:t>
            </a:r>
            <a:r>
              <a:rPr lang="ko-KR" altLang="en-US" dirty="0"/>
              <a:t> 관련 자료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2E98BAE-B292-4196-A071-40BFB7BC99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47800"/>
            <a:ext cx="11031071" cy="5410200"/>
          </a:xfrm>
        </p:spPr>
        <p:txBody>
          <a:bodyPr>
            <a:normAutofit fontScale="92500" lnSpcReduction="10000"/>
          </a:bodyPr>
          <a:lstStyle/>
          <a:p>
            <a:r>
              <a:rPr lang="ko-KR" altLang="en-US" dirty="0"/>
              <a:t>회사 </a:t>
            </a:r>
            <a:r>
              <a:rPr lang="en-US" altLang="ko-KR" dirty="0"/>
              <a:t>PDF</a:t>
            </a:r>
            <a:r>
              <a:rPr lang="ko-KR" altLang="en-US" dirty="0"/>
              <a:t>로 만드는 </a:t>
            </a:r>
            <a:r>
              <a:rPr lang="en-US" altLang="ko-KR" dirty="0"/>
              <a:t>RAG </a:t>
            </a:r>
            <a:r>
              <a:rPr lang="ko-KR" altLang="en-US" dirty="0"/>
              <a:t>시스템 이론부터 실습까지</a:t>
            </a:r>
            <a:r>
              <a:rPr lang="en-US" altLang="ko-KR" dirty="0"/>
              <a:t> (</a:t>
            </a:r>
            <a:r>
              <a:rPr lang="ko-KR" altLang="en-US" dirty="0"/>
              <a:t>메타코드</a:t>
            </a:r>
            <a:r>
              <a:rPr lang="en-US" altLang="ko-KR" dirty="0"/>
              <a:t>M)</a:t>
            </a:r>
          </a:p>
          <a:p>
            <a:pPr lvl="1"/>
            <a:r>
              <a:rPr lang="en-US" altLang="ko-KR" dirty="0">
                <a:hlinkClick r:id="rId3"/>
              </a:rPr>
              <a:t>https://youtu.be/xGbwrPPE0Tg?si=Ps5eYZvVGWn5AbLV</a:t>
            </a:r>
            <a:endParaRPr lang="en-US" altLang="ko-KR" dirty="0"/>
          </a:p>
          <a:p>
            <a:pPr lvl="1"/>
            <a:endParaRPr lang="en-US" altLang="ko-KR" sz="1300" dirty="0"/>
          </a:p>
          <a:p>
            <a:r>
              <a:rPr lang="en-US" altLang="ko-KR" i="0" dirty="0">
                <a:solidFill>
                  <a:srgbClr val="0F0F0F"/>
                </a:solidFill>
                <a:effectLst/>
                <a:latin typeface="Roboto" panose="02000000000000000000" pitchFamily="2" charset="0"/>
              </a:rPr>
              <a:t>Build </a:t>
            </a:r>
            <a:r>
              <a:rPr lang="en-US" altLang="ko-KR" i="0" dirty="0" err="1">
                <a:solidFill>
                  <a:srgbClr val="0F0F0F"/>
                </a:solidFill>
                <a:effectLst/>
                <a:latin typeface="Roboto" panose="02000000000000000000" pitchFamily="2" charset="0"/>
              </a:rPr>
              <a:t>Karpathy’s</a:t>
            </a:r>
            <a:r>
              <a:rPr lang="en-US" altLang="ko-KR" i="0" dirty="0">
                <a:solidFill>
                  <a:srgbClr val="0F0F0F"/>
                </a:solidFill>
                <a:effectLst/>
                <a:latin typeface="Roboto" panose="02000000000000000000" pitchFamily="2" charset="0"/>
              </a:rPr>
              <a:t> LLM Wiki using </a:t>
            </a:r>
            <a:r>
              <a:rPr lang="en-US" altLang="ko-KR" i="0" dirty="0" err="1">
                <a:solidFill>
                  <a:srgbClr val="0F0F0F"/>
                </a:solidFill>
                <a:effectLst/>
                <a:latin typeface="Roboto" panose="02000000000000000000" pitchFamily="2" charset="0"/>
              </a:rPr>
              <a:t>Ollama</a:t>
            </a:r>
            <a:r>
              <a:rPr lang="en-US" altLang="ko-KR" i="0" dirty="0">
                <a:solidFill>
                  <a:srgbClr val="0F0F0F"/>
                </a:solidFill>
                <a:effectLst/>
                <a:latin typeface="Roboto" panose="02000000000000000000" pitchFamily="2" charset="0"/>
              </a:rPr>
              <a:t>, </a:t>
            </a:r>
            <a:r>
              <a:rPr lang="en-US" altLang="ko-KR" i="0" dirty="0" err="1">
                <a:solidFill>
                  <a:srgbClr val="0F0F0F"/>
                </a:solidFill>
                <a:effectLst/>
                <a:latin typeface="Roboto" panose="02000000000000000000" pitchFamily="2" charset="0"/>
              </a:rPr>
              <a:t>Langchain</a:t>
            </a:r>
            <a:r>
              <a:rPr lang="en-US" altLang="ko-KR" i="0" dirty="0">
                <a:solidFill>
                  <a:srgbClr val="0F0F0F"/>
                </a:solidFill>
                <a:effectLst/>
                <a:latin typeface="Roboto" panose="02000000000000000000" pitchFamily="2" charset="0"/>
              </a:rPr>
              <a:t> and Obsidian</a:t>
            </a:r>
          </a:p>
          <a:p>
            <a:pPr lvl="1"/>
            <a:r>
              <a:rPr lang="en-US" altLang="ko-KR" dirty="0">
                <a:hlinkClick r:id="rId4"/>
              </a:rPr>
              <a:t>https://youtu.be/l4EzuMKmeA0?si=85zq7Zu02aiRd_NK</a:t>
            </a:r>
            <a:endParaRPr lang="en-US" altLang="ko-KR" dirty="0"/>
          </a:p>
          <a:p>
            <a:pPr lvl="1"/>
            <a:r>
              <a:rPr lang="en-US" altLang="ko-KR" dirty="0">
                <a:hlinkClick r:id="rId5"/>
              </a:rPr>
              <a:t>https://github.com/NarimanN2/ollama-playground</a:t>
            </a:r>
            <a:endParaRPr lang="en-US" altLang="ko-KR" dirty="0"/>
          </a:p>
          <a:p>
            <a:pPr lvl="1"/>
            <a:r>
              <a:rPr lang="en-US" altLang="ko-KR" b="1" i="0" dirty="0">
                <a:solidFill>
                  <a:srgbClr val="1F2328"/>
                </a:solidFill>
                <a:effectLst/>
                <a:latin typeface="Mona Sans VF"/>
              </a:rPr>
              <a:t>Retrieval-Augmented Generation (RAG)</a:t>
            </a:r>
          </a:p>
          <a:p>
            <a:pPr lvl="2"/>
            <a:r>
              <a:rPr lang="en-US" altLang="ko-KR" b="0" i="0" u="sng" dirty="0">
                <a:solidFill>
                  <a:srgbClr val="0969DA"/>
                </a:solidFill>
                <a:effectLst/>
                <a:latin typeface="Mona Sans VF"/>
                <a:hlinkClick r:id="rId6"/>
              </a:rPr>
              <a:t>Chat with PDFs</a:t>
            </a:r>
            <a:endParaRPr lang="en-US" altLang="ko-KR" b="0" i="0" dirty="0">
              <a:solidFill>
                <a:srgbClr val="1F2328"/>
              </a:solidFill>
              <a:effectLst/>
              <a:latin typeface="Mona Sans VF"/>
            </a:endParaRPr>
          </a:p>
          <a:p>
            <a:pPr lvl="2"/>
            <a:r>
              <a:rPr lang="en-US" altLang="ko-KR" b="0" i="0" u="sng" dirty="0">
                <a:solidFill>
                  <a:srgbClr val="0969DA"/>
                </a:solidFill>
                <a:effectLst/>
                <a:latin typeface="Mona Sans VF"/>
                <a:hlinkClick r:id="rId7"/>
              </a:rPr>
              <a:t>Hybrid RAG for PDFs</a:t>
            </a:r>
            <a:endParaRPr lang="en-US" altLang="ko-KR" b="0" i="0" dirty="0">
              <a:solidFill>
                <a:srgbClr val="1F2328"/>
              </a:solidFill>
              <a:effectLst/>
              <a:latin typeface="Mona Sans VF"/>
            </a:endParaRPr>
          </a:p>
          <a:p>
            <a:pPr lvl="2"/>
            <a:r>
              <a:rPr lang="en-US" altLang="ko-KR" b="0" i="0" u="sng" dirty="0">
                <a:solidFill>
                  <a:srgbClr val="0969DA"/>
                </a:solidFill>
                <a:effectLst/>
                <a:latin typeface="Mona Sans VF"/>
                <a:hlinkClick r:id="rId8"/>
              </a:rPr>
              <a:t>Multimodal RAG for PDFs</a:t>
            </a:r>
            <a:endParaRPr lang="en-US" altLang="ko-KR" b="0" i="0" dirty="0">
              <a:solidFill>
                <a:srgbClr val="1F2328"/>
              </a:solidFill>
              <a:effectLst/>
              <a:latin typeface="Mona Sans VF"/>
            </a:endParaRPr>
          </a:p>
          <a:p>
            <a:pPr lvl="2"/>
            <a:r>
              <a:rPr lang="en-US" altLang="ko-KR" b="0" i="0" u="sng" dirty="0">
                <a:solidFill>
                  <a:srgbClr val="0969DA"/>
                </a:solidFill>
                <a:effectLst/>
                <a:latin typeface="Mona Sans VF"/>
                <a:hlinkClick r:id="rId9"/>
              </a:rPr>
              <a:t>Voice RAG</a:t>
            </a:r>
            <a:endParaRPr lang="en-US" altLang="ko-KR" b="0" i="0" dirty="0">
              <a:solidFill>
                <a:srgbClr val="1F2328"/>
              </a:solidFill>
              <a:effectLst/>
              <a:latin typeface="Mona Sans VF"/>
            </a:endParaRPr>
          </a:p>
          <a:p>
            <a:pPr lvl="1"/>
            <a:r>
              <a:rPr lang="en-US" altLang="ko-KR" b="1" i="0" dirty="0">
                <a:solidFill>
                  <a:srgbClr val="1F2328"/>
                </a:solidFill>
                <a:effectLst/>
                <a:latin typeface="Mona Sans VF"/>
              </a:rPr>
              <a:t>Agent Tooling &amp; Protocols</a:t>
            </a:r>
          </a:p>
          <a:p>
            <a:pPr lvl="2"/>
            <a:r>
              <a:rPr lang="en-US" altLang="ko-KR" b="0" i="0" u="sng" dirty="0">
                <a:solidFill>
                  <a:srgbClr val="0969DA"/>
                </a:solidFill>
                <a:effectLst/>
                <a:latin typeface="Mona Sans VF"/>
                <a:hlinkClick r:id="rId10"/>
              </a:rPr>
              <a:t>Agent with Memory</a:t>
            </a:r>
            <a:endParaRPr lang="en-US" altLang="ko-KR" b="0" i="0" dirty="0">
              <a:solidFill>
                <a:srgbClr val="1F2328"/>
              </a:solidFill>
              <a:effectLst/>
              <a:latin typeface="Mona Sans VF"/>
            </a:endParaRPr>
          </a:p>
          <a:p>
            <a:pPr lvl="2"/>
            <a:r>
              <a:rPr lang="en-US" altLang="ko-KR" b="0" i="0" u="sng" dirty="0">
                <a:solidFill>
                  <a:srgbClr val="0969DA"/>
                </a:solidFill>
                <a:effectLst/>
                <a:latin typeface="Mona Sans VF"/>
                <a:hlinkClick r:id="rId11"/>
              </a:rPr>
              <a:t>MCP-Based Agent (GPT-OSS)</a:t>
            </a:r>
            <a:endParaRPr lang="en-US" altLang="ko-KR" b="0" i="0" dirty="0">
              <a:solidFill>
                <a:srgbClr val="1F2328"/>
              </a:solidFill>
              <a:effectLst/>
              <a:latin typeface="Mona Sans VF"/>
            </a:endParaRPr>
          </a:p>
          <a:p>
            <a:pPr lvl="2"/>
            <a:r>
              <a:rPr lang="en-US" altLang="ko-KR" b="0" i="0" u="sng" dirty="0">
                <a:solidFill>
                  <a:srgbClr val="0969DA"/>
                </a:solidFill>
                <a:effectLst/>
                <a:latin typeface="Mona Sans VF"/>
                <a:hlinkClick r:id="rId12"/>
              </a:rPr>
              <a:t>ACP-Based Agents</a:t>
            </a:r>
            <a:endParaRPr lang="en-US" altLang="ko-KR" b="0" i="0" dirty="0">
              <a:solidFill>
                <a:srgbClr val="1F2328"/>
              </a:solidFill>
              <a:effectLst/>
              <a:latin typeface="Mona Sans VF"/>
            </a:endParaRPr>
          </a:p>
          <a:p>
            <a:pPr lvl="2"/>
            <a:r>
              <a:rPr lang="en-US" altLang="ko-KR" b="0" i="0" u="sng" dirty="0" err="1">
                <a:solidFill>
                  <a:srgbClr val="0969DA"/>
                </a:solidFill>
                <a:effectLst/>
                <a:latin typeface="Mona Sans VF"/>
                <a:hlinkClick r:id="rId13"/>
              </a:rPr>
              <a:t>Karpathy's</a:t>
            </a:r>
            <a:r>
              <a:rPr lang="en-US" altLang="ko-KR" b="0" i="0" u="sng" dirty="0">
                <a:solidFill>
                  <a:srgbClr val="0969DA"/>
                </a:solidFill>
                <a:effectLst/>
                <a:latin typeface="Mona Sans VF"/>
                <a:hlinkClick r:id="rId13"/>
              </a:rPr>
              <a:t> LLM Wiki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화살표: 왼쪽 3">
            <a:extLst>
              <a:ext uri="{FF2B5EF4-FFF2-40B4-BE49-F238E27FC236}">
                <a16:creationId xmlns:a16="http://schemas.microsoft.com/office/drawing/2014/main" id="{4E68624F-75D9-49D4-B0BF-9BBA648A5352}"/>
              </a:ext>
            </a:extLst>
          </p:cNvPr>
          <p:cNvSpPr/>
          <p:nvPr/>
        </p:nvSpPr>
        <p:spPr>
          <a:xfrm rot="19870239">
            <a:off x="4606148" y="6058190"/>
            <a:ext cx="686816" cy="28687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644889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51E3C2-DF7A-4D32-83D1-D30A1D298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RAG</a:t>
            </a:r>
            <a:r>
              <a:rPr lang="ko-KR" altLang="en-US" dirty="0"/>
              <a:t> 관련 자료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2E98BAE-B292-4196-A071-40BFB7BC99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47801"/>
            <a:ext cx="7552766" cy="720726"/>
          </a:xfrm>
        </p:spPr>
        <p:txBody>
          <a:bodyPr>
            <a:normAutofit/>
          </a:bodyPr>
          <a:lstStyle/>
          <a:p>
            <a:r>
              <a:rPr lang="ko-KR" altLang="en-US" b="1" i="0" dirty="0" err="1">
                <a:solidFill>
                  <a:srgbClr val="666666"/>
                </a:solidFill>
                <a:effectLst/>
                <a:latin typeface="ng"/>
              </a:rPr>
              <a:t>테디노트의</a:t>
            </a:r>
            <a:r>
              <a:rPr lang="ko-KR" altLang="en-US" b="1" i="0" dirty="0">
                <a:solidFill>
                  <a:srgbClr val="666666"/>
                </a:solidFill>
                <a:effectLst/>
                <a:latin typeface="ng"/>
              </a:rPr>
              <a:t> </a:t>
            </a:r>
            <a:r>
              <a:rPr lang="ko-KR" altLang="en-US" b="1" i="0" dirty="0" err="1">
                <a:solidFill>
                  <a:srgbClr val="666666"/>
                </a:solidFill>
                <a:effectLst/>
                <a:latin typeface="ng"/>
              </a:rPr>
              <a:t>랭체인을</a:t>
            </a:r>
            <a:r>
              <a:rPr lang="ko-KR" altLang="en-US" b="1" i="0" dirty="0">
                <a:solidFill>
                  <a:srgbClr val="666666"/>
                </a:solidFill>
                <a:effectLst/>
                <a:latin typeface="ng"/>
              </a:rPr>
              <a:t> 활용한 </a:t>
            </a:r>
            <a:r>
              <a:rPr lang="en-US" altLang="ko-KR" b="1" i="0" dirty="0">
                <a:solidFill>
                  <a:srgbClr val="666666"/>
                </a:solidFill>
                <a:effectLst/>
                <a:latin typeface="ng"/>
              </a:rPr>
              <a:t>RAG </a:t>
            </a:r>
            <a:r>
              <a:rPr lang="ko-KR" altLang="en-US" b="1" i="0" dirty="0">
                <a:solidFill>
                  <a:srgbClr val="666666"/>
                </a:solidFill>
                <a:effectLst/>
                <a:latin typeface="ng"/>
              </a:rPr>
              <a:t>비법노트</a:t>
            </a:r>
            <a:endParaRPr lang="ko-KR" altLang="en-US" dirty="0"/>
          </a:p>
        </p:txBody>
      </p:sp>
      <p:pic>
        <p:nvPicPr>
          <p:cNvPr id="3074" name="Picture 2" descr="테디노트의 랭체인을 활용한 RAG 비법노트  : RAG성능을 극대화하는 리랭커, 에이전트, 평가, 배포까지 완전 정복, 심화편">
            <a:extLst>
              <a:ext uri="{FF2B5EF4-FFF2-40B4-BE49-F238E27FC236}">
                <a16:creationId xmlns:a16="http://schemas.microsoft.com/office/drawing/2014/main" id="{0C518790-7B2A-4D77-BC18-B8524DC087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20299" y="365125"/>
            <a:ext cx="1905000" cy="2609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테디노트의 랭체인을 활용한 RAG 비법노트 : 8단계 RAG 파이프라인으로 LLM 성능을 끌어올리는 RAG 기본부터 실제 챗봇 제작까지 , 기본편">
            <a:extLst>
              <a:ext uri="{FF2B5EF4-FFF2-40B4-BE49-F238E27FC236}">
                <a16:creationId xmlns:a16="http://schemas.microsoft.com/office/drawing/2014/main" id="{BD26CA07-8AD6-49C8-B7AB-23C9A80A2D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2546" y="365125"/>
            <a:ext cx="1905000" cy="2609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(컨텍스트 엔지니어링으로 완성하는) AI 에이전트  : 랭체인, RAG, CoT, ReAct, LLMOps로 구현하는 AI 서비스 실전 가이드">
            <a:extLst>
              <a:ext uri="{FF2B5EF4-FFF2-40B4-BE49-F238E27FC236}">
                <a16:creationId xmlns:a16="http://schemas.microsoft.com/office/drawing/2014/main" id="{1688921A-D6E6-44BE-B00B-D1894CEC11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7546" y="3550771"/>
            <a:ext cx="1905000" cy="2447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889519CF-BF31-4D74-A066-F4C5F08FFA8E}"/>
              </a:ext>
            </a:extLst>
          </p:cNvPr>
          <p:cNvSpPr txBox="1">
            <a:spLocks/>
          </p:cNvSpPr>
          <p:nvPr/>
        </p:nvSpPr>
        <p:spPr>
          <a:xfrm>
            <a:off x="838199" y="4253754"/>
            <a:ext cx="9031942" cy="17449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503020000020004" pitchFamily="50" charset="-127"/>
              <a:buChar char="-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b="1" dirty="0">
                <a:solidFill>
                  <a:srgbClr val="666666"/>
                </a:solidFill>
                <a:latin typeface="ng"/>
              </a:rPr>
              <a:t>(</a:t>
            </a:r>
            <a:r>
              <a:rPr lang="ko-KR" altLang="en-US" b="1" dirty="0">
                <a:solidFill>
                  <a:srgbClr val="666666"/>
                </a:solidFill>
                <a:latin typeface="ng"/>
              </a:rPr>
              <a:t>컨텍스트 엔지니어링으로 완성하는</a:t>
            </a:r>
            <a:r>
              <a:rPr lang="en-US" altLang="ko-KR" b="1" dirty="0">
                <a:solidFill>
                  <a:srgbClr val="666666"/>
                </a:solidFill>
                <a:latin typeface="ng"/>
              </a:rPr>
              <a:t>) AI </a:t>
            </a:r>
            <a:r>
              <a:rPr lang="ko-KR" altLang="en-US" b="1" dirty="0">
                <a:solidFill>
                  <a:srgbClr val="666666"/>
                </a:solidFill>
                <a:latin typeface="ng"/>
              </a:rPr>
              <a:t>에이전트 </a:t>
            </a:r>
            <a:r>
              <a:rPr lang="en-US" altLang="ko-KR" b="1" dirty="0">
                <a:solidFill>
                  <a:srgbClr val="666666"/>
                </a:solidFill>
                <a:latin typeface="ng"/>
              </a:rPr>
              <a:t>: </a:t>
            </a:r>
            <a:r>
              <a:rPr lang="ko-KR" altLang="en-US" sz="2400" b="1" dirty="0" err="1">
                <a:solidFill>
                  <a:srgbClr val="666666"/>
                </a:solidFill>
                <a:latin typeface="ng"/>
              </a:rPr>
              <a:t>랭체인</a:t>
            </a:r>
            <a:r>
              <a:rPr lang="en-US" altLang="ko-KR" sz="2400" b="1" dirty="0">
                <a:solidFill>
                  <a:srgbClr val="666666"/>
                </a:solidFill>
                <a:latin typeface="ng"/>
              </a:rPr>
              <a:t>, RAG, </a:t>
            </a:r>
            <a:r>
              <a:rPr lang="en-US" altLang="ko-KR" sz="2400" b="1" dirty="0" err="1">
                <a:solidFill>
                  <a:srgbClr val="666666"/>
                </a:solidFill>
                <a:latin typeface="ng"/>
              </a:rPr>
              <a:t>CoT</a:t>
            </a:r>
            <a:r>
              <a:rPr lang="en-US" altLang="ko-KR" sz="2400" b="1" dirty="0">
                <a:solidFill>
                  <a:srgbClr val="666666"/>
                </a:solidFill>
                <a:latin typeface="ng"/>
              </a:rPr>
              <a:t>, </a:t>
            </a:r>
            <a:r>
              <a:rPr lang="en-US" altLang="ko-KR" sz="2400" b="1" dirty="0" err="1">
                <a:solidFill>
                  <a:srgbClr val="666666"/>
                </a:solidFill>
                <a:latin typeface="ng"/>
              </a:rPr>
              <a:t>ReAct</a:t>
            </a:r>
            <a:r>
              <a:rPr lang="en-US" altLang="ko-KR" sz="2400" b="1" dirty="0">
                <a:solidFill>
                  <a:srgbClr val="666666"/>
                </a:solidFill>
                <a:latin typeface="ng"/>
              </a:rPr>
              <a:t>, </a:t>
            </a:r>
            <a:r>
              <a:rPr lang="en-US" altLang="ko-KR" sz="2400" b="1" dirty="0" err="1">
                <a:solidFill>
                  <a:srgbClr val="666666"/>
                </a:solidFill>
                <a:latin typeface="ng"/>
              </a:rPr>
              <a:t>LLMOps</a:t>
            </a:r>
            <a:r>
              <a:rPr lang="ko-KR" altLang="en-US" sz="2400" b="1" dirty="0">
                <a:solidFill>
                  <a:srgbClr val="666666"/>
                </a:solidFill>
                <a:latin typeface="ng"/>
              </a:rPr>
              <a:t>로 구현하는 </a:t>
            </a:r>
            <a:r>
              <a:rPr lang="en-US" altLang="ko-KR" sz="2400" b="1" dirty="0">
                <a:solidFill>
                  <a:srgbClr val="666666"/>
                </a:solidFill>
                <a:latin typeface="ng"/>
              </a:rPr>
              <a:t>AI </a:t>
            </a:r>
            <a:r>
              <a:rPr lang="ko-KR" altLang="en-US" sz="2400" b="1" dirty="0">
                <a:solidFill>
                  <a:srgbClr val="666666"/>
                </a:solidFill>
                <a:latin typeface="ng"/>
              </a:rPr>
              <a:t>서비스 실전 가이드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8122403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29CA2B-9219-43D0-A1AB-8651FC841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온라인 고객센터 </a:t>
            </a:r>
            <a:r>
              <a:rPr lang="en-US" altLang="ko-KR" dirty="0"/>
              <a:t>RAG, </a:t>
            </a:r>
            <a:r>
              <a:rPr lang="ko-KR" altLang="en-US" sz="4000" dirty="0"/>
              <a:t>어떻게 만들어가야 할까</a:t>
            </a:r>
            <a:r>
              <a:rPr lang="en-US" altLang="ko-KR" sz="4000" dirty="0"/>
              <a:t>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7BAFBFD-E1FC-4320-AEA2-505874FA57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7800"/>
            <a:ext cx="11022106" cy="5045075"/>
          </a:xfrm>
        </p:spPr>
        <p:txBody>
          <a:bodyPr>
            <a:normAutofit fontScale="92500" lnSpcReduction="10000"/>
          </a:bodyPr>
          <a:lstStyle/>
          <a:p>
            <a:r>
              <a:rPr lang="ko-KR" altLang="en-US" dirty="0"/>
              <a:t>타깃 </a:t>
            </a:r>
            <a:r>
              <a:rPr lang="en-US" altLang="ko-KR" dirty="0"/>
              <a:t>User</a:t>
            </a:r>
          </a:p>
          <a:p>
            <a:pPr lvl="1"/>
            <a:r>
              <a:rPr lang="ko-KR" altLang="en-US" dirty="0" err="1"/>
              <a:t>컴공</a:t>
            </a:r>
            <a:r>
              <a:rPr lang="ko-KR" altLang="en-US" dirty="0"/>
              <a:t> </a:t>
            </a:r>
            <a:r>
              <a:rPr lang="ko-KR" altLang="en-US" dirty="0" err="1"/>
              <a:t>캡스톤</a:t>
            </a:r>
            <a:r>
              <a:rPr lang="ko-KR" altLang="en-US" dirty="0"/>
              <a:t> 수강 학생들</a:t>
            </a:r>
            <a:endParaRPr lang="en-US" altLang="ko-KR" dirty="0"/>
          </a:p>
          <a:p>
            <a:r>
              <a:rPr lang="ko-KR" altLang="en-US" dirty="0" err="1"/>
              <a:t>유즈</a:t>
            </a:r>
            <a:r>
              <a:rPr lang="ko-KR" altLang="en-US" dirty="0"/>
              <a:t> 케이스</a:t>
            </a:r>
            <a:endParaRPr lang="en-US" altLang="ko-KR" dirty="0"/>
          </a:p>
          <a:p>
            <a:pPr lvl="1"/>
            <a:r>
              <a:rPr lang="en-US" altLang="ko-KR" dirty="0"/>
              <a:t>2025</a:t>
            </a:r>
            <a:r>
              <a:rPr lang="ko-KR" altLang="en-US" dirty="0"/>
              <a:t>년 오픈소스 실용프로젝트 분야 및 창의융합 경진대회 참가 팀 과제 조회</a:t>
            </a:r>
            <a:endParaRPr lang="en-US" altLang="ko-KR" dirty="0"/>
          </a:p>
          <a:p>
            <a:pPr lvl="1"/>
            <a:r>
              <a:rPr lang="ko-KR" altLang="en-US" dirty="0"/>
              <a:t>팀 과제 아이디어를 정리하고</a:t>
            </a:r>
            <a:r>
              <a:rPr lang="en-US" altLang="ko-KR" dirty="0"/>
              <a:t>, </a:t>
            </a:r>
            <a:r>
              <a:rPr lang="ko-KR" altLang="en-US" dirty="0"/>
              <a:t>진행 과정 </a:t>
            </a:r>
            <a:r>
              <a:rPr lang="en-US" altLang="ko-KR" dirty="0"/>
              <a:t>report </a:t>
            </a:r>
            <a:r>
              <a:rPr lang="ko-KR" altLang="en-US" dirty="0"/>
              <a:t>생성 방법은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구조 설계</a:t>
            </a:r>
            <a:endParaRPr lang="en-US" altLang="ko-KR" dirty="0"/>
          </a:p>
          <a:p>
            <a:pPr lvl="1"/>
            <a:r>
              <a:rPr lang="ko-KR" altLang="en-US" dirty="0"/>
              <a:t>데이터베이스는 무엇을 써야 할까</a:t>
            </a:r>
            <a:r>
              <a:rPr lang="en-US" altLang="ko-KR" dirty="0"/>
              <a:t>? </a:t>
            </a:r>
            <a:r>
              <a:rPr lang="en-US" altLang="ko-KR" dirty="0" err="1"/>
              <a:t>Postgresql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단계별 개발 방법</a:t>
            </a:r>
            <a:endParaRPr lang="en-US" altLang="ko-KR" dirty="0"/>
          </a:p>
          <a:p>
            <a:pPr lvl="1"/>
            <a:r>
              <a:rPr lang="en-US" altLang="ko-KR" dirty="0"/>
              <a:t>..</a:t>
            </a:r>
          </a:p>
          <a:p>
            <a:pPr lvl="1"/>
            <a:r>
              <a:rPr lang="en-US" altLang="ko-KR" dirty="0"/>
              <a:t>..</a:t>
            </a:r>
          </a:p>
          <a:p>
            <a:pPr lvl="1"/>
            <a:r>
              <a:rPr lang="en-US" altLang="ko-KR" dirty="0"/>
              <a:t>..</a:t>
            </a:r>
          </a:p>
          <a:p>
            <a:pPr lvl="1"/>
            <a:r>
              <a:rPr lang="en-US" altLang="ko-KR" dirty="0"/>
              <a:t>..</a:t>
            </a:r>
          </a:p>
          <a:p>
            <a:pPr lvl="1"/>
            <a:r>
              <a:rPr lang="en-US" altLang="ko-KR" dirty="0"/>
              <a:t>..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9550749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2BDD22-1238-4ED8-B7C6-DFE014F9EC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3627437"/>
          </a:xfrm>
        </p:spPr>
        <p:txBody>
          <a:bodyPr>
            <a:normAutofit/>
          </a:bodyPr>
          <a:lstStyle/>
          <a:p>
            <a:r>
              <a:rPr lang="en-US" altLang="ko-KR" dirty="0"/>
              <a:t>GPU Cluster</a:t>
            </a:r>
            <a:r>
              <a:rPr lang="ko-KR" altLang="en-US" dirty="0"/>
              <a:t>에서</a:t>
            </a:r>
            <a:br>
              <a:rPr lang="en-US" altLang="ko-KR" dirty="0"/>
            </a:br>
            <a:r>
              <a:rPr lang="en-US" altLang="ko-KR" dirty="0"/>
              <a:t>LLM</a:t>
            </a:r>
            <a:r>
              <a:rPr lang="ko-KR" altLang="en-US" dirty="0"/>
              <a:t>을 </a:t>
            </a:r>
            <a:r>
              <a:rPr lang="ko-KR" altLang="en-US" dirty="0" err="1"/>
              <a:t>서빙하려면</a:t>
            </a:r>
            <a:r>
              <a:rPr lang="en-US" altLang="ko-KR" dirty="0"/>
              <a:t>?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b="1" dirty="0"/>
              <a:t>추론</a:t>
            </a:r>
            <a:r>
              <a:rPr lang="en-US" altLang="ko-KR" b="1" dirty="0"/>
              <a:t> </a:t>
            </a:r>
            <a:r>
              <a:rPr lang="ko-KR" altLang="en-US" b="1" dirty="0"/>
              <a:t>인프라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059704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0CF5D32-05E0-469B-9F74-754C4CBFD1D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985084" y="8829388"/>
            <a:ext cx="277369" cy="202684"/>
          </a:xfrm>
        </p:spPr>
        <p:txBody>
          <a:bodyPr/>
          <a:lstStyle/>
          <a:p>
            <a:fld id="{00000000-1234-1234-1234-123412341234}" type="slidenum">
              <a:rPr lang="en" smtClean="0"/>
              <a:pPr/>
              <a:t>52</a:t>
            </a:fld>
            <a:endParaRPr lang="en" sz="667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E88BB33-FD6B-480F-A5DE-E1CA7C50FB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2572"/>
            <a:ext cx="12192000" cy="6650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6057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17240436-B1BF-4AAD-838C-1BC185335B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2835" y="844677"/>
            <a:ext cx="9526329" cy="5744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18896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1A3FF822-D43D-4E82-AD0B-AE86FA71EB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33" y="1989872"/>
            <a:ext cx="11879333" cy="463932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F29508B0-D9B4-40E6-9626-C96B68AB18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010" y="818133"/>
            <a:ext cx="9278645" cy="1171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89071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0874EEF9-574D-42B7-9022-993DC28B64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386" y="1151095"/>
            <a:ext cx="11841227" cy="5334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80337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B440E3CC-4D42-41A0-8737-EAF5A8954A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09683"/>
            <a:ext cx="12192000" cy="5438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36953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843EFFFA-111A-4015-B134-049F1475C3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439" y="909286"/>
            <a:ext cx="10717121" cy="5039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01829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FEA018C3-5BCD-4E8A-AE5A-FDCE2305C7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465" y="942083"/>
            <a:ext cx="11603069" cy="521090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F6036F7-9904-48C9-BA4B-326054218919}"/>
              </a:ext>
            </a:extLst>
          </p:cNvPr>
          <p:cNvSpPr txBox="1"/>
          <p:nvPr/>
        </p:nvSpPr>
        <p:spPr>
          <a:xfrm>
            <a:off x="683932" y="6152985"/>
            <a:ext cx="11508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https://lfaidata.foundation/communityblog/2025/11/25/demo-to-production-an-open-source-architecture-for-reliable-ai-agents/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9970684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982</TotalTime>
  <Words>3810</Words>
  <Application>Microsoft Office PowerPoint</Application>
  <PresentationFormat>와이드스크린</PresentationFormat>
  <Paragraphs>419</Paragraphs>
  <Slides>58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58</vt:i4>
      </vt:variant>
    </vt:vector>
  </HeadingPairs>
  <TitlesOfParts>
    <vt:vector size="67" baseType="lpstr">
      <vt:lpstr>Manrope</vt:lpstr>
      <vt:lpstr>Mona Sans VF</vt:lpstr>
      <vt:lpstr>ng</vt:lpstr>
      <vt:lpstr>quote-cjk-patch</vt:lpstr>
      <vt:lpstr>맑은 고딕</vt:lpstr>
      <vt:lpstr>Arial</vt:lpstr>
      <vt:lpstr>Roboto</vt:lpstr>
      <vt:lpstr>Wingdings</vt:lpstr>
      <vt:lpstr>Office 테마</vt:lpstr>
      <vt:lpstr>Agent 활용 (기업, 개인 연구자)</vt:lpstr>
      <vt:lpstr>AI Ready, Agent Readiness</vt:lpstr>
      <vt:lpstr>‘AI Ready’ 정의와 중요성</vt:lpstr>
      <vt:lpstr>'AI Ready' 전환 사례 (1)</vt:lpstr>
      <vt:lpstr>'AI Ready' 전환 사례 (2)</vt:lpstr>
      <vt:lpstr>Agent 시대, 'AI Ready'가 중요한 이유</vt:lpstr>
      <vt:lpstr>결론</vt:lpstr>
      <vt:lpstr>LLM 그 속이 궁금하다?</vt:lpstr>
      <vt:lpstr>LLM의 “추론 능력”은 어디에 있는가?</vt:lpstr>
      <vt:lpstr>PowerPoint 프레젠테이션</vt:lpstr>
      <vt:lpstr>Semantic Latent Space inside LLM</vt:lpstr>
      <vt:lpstr>Weights (LLM 파라미터)</vt:lpstr>
      <vt:lpstr>Activation: “실제 사고가 일어나는 공간”</vt:lpstr>
      <vt:lpstr>Context: “문제를 정의하는 입력 + 작업 메모리 확장”</vt:lpstr>
      <vt:lpstr>기업들의 Agent 도입</vt:lpstr>
      <vt:lpstr>PowerPoint 프레젠테이션</vt:lpstr>
      <vt:lpstr>AI Agent를 기업에서 도입할 때</vt:lpstr>
      <vt:lpstr>AI Agent를 기업에서 도입할 때</vt:lpstr>
      <vt:lpstr>AI Agent - Small Start 과제 선정 기준</vt:lpstr>
      <vt:lpstr>Agent 활용 분야(1) - 지식검색/문서탐색/RAG</vt:lpstr>
      <vt:lpstr>Agent 활용 분야 (2) 문서 초안 작성/보고서 요약/계약 · 규정 검토</vt:lpstr>
      <vt:lpstr>Agent 활용 분야(3) - 고객·직원 문의 대응 자동화</vt:lpstr>
      <vt:lpstr>Agent 활용 분야 (4) - 운영·설비·품질·유지보수 영역</vt:lpstr>
      <vt:lpstr>연구자를 위한 Research Agent</vt:lpstr>
      <vt:lpstr>(연구자의) 기존의 AI 사용법</vt:lpstr>
      <vt:lpstr>Agent란?</vt:lpstr>
      <vt:lpstr>ChatGPT vs Agent</vt:lpstr>
      <vt:lpstr>PowerPoint 프레젠테이션</vt:lpstr>
      <vt:lpstr>PowerPoint 프레젠테이션</vt:lpstr>
      <vt:lpstr>PowerPoint 프레젠테이션</vt:lpstr>
      <vt:lpstr>AI-driven Autonomous Lab</vt:lpstr>
      <vt:lpstr>AI Agent 종류</vt:lpstr>
      <vt:lpstr>AI Agent에서 실용적인 설정들</vt:lpstr>
      <vt:lpstr>AGENTS.md</vt:lpstr>
      <vt:lpstr>Skills</vt:lpstr>
      <vt:lpstr>Skills</vt:lpstr>
      <vt:lpstr>MCP (model context protocol)</vt:lpstr>
      <vt:lpstr>MCP (model context protocol)</vt:lpstr>
      <vt:lpstr>실제로 직접 작성하기 보다는…</vt:lpstr>
      <vt:lpstr>이런 것도 된다…</vt:lpstr>
      <vt:lpstr>"Vibe Research"</vt:lpstr>
      <vt:lpstr>Vibe Research</vt:lpstr>
      <vt:lpstr>AI Agent가 잘 하는 것과 못 하는 것</vt:lpstr>
      <vt:lpstr>Agent의 실패 실수들</vt:lpstr>
      <vt:lpstr>인간의 역할</vt:lpstr>
      <vt:lpstr>PowerPoint 프레젠테이션</vt:lpstr>
      <vt:lpstr>문서 기반 고객 센터 RAG Agent</vt:lpstr>
      <vt:lpstr>RAG 관련 자료</vt:lpstr>
      <vt:lpstr>RAG 관련 자료</vt:lpstr>
      <vt:lpstr>온라인 고객센터 RAG, 어떻게 만들어가야 할까?</vt:lpstr>
      <vt:lpstr>GPU Cluster에서 LLM을 서빙하려면? (추론 인프라)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연구자를 위한 Research Agent</dc:title>
  <dc:creator>Taewony Kim</dc:creator>
  <cp:lastModifiedBy>Taewony Kim</cp:lastModifiedBy>
  <cp:revision>75</cp:revision>
  <dcterms:created xsi:type="dcterms:W3CDTF">2026-04-23T02:18:28Z</dcterms:created>
  <dcterms:modified xsi:type="dcterms:W3CDTF">2026-05-11T10:32:44Z</dcterms:modified>
</cp:coreProperties>
</file>